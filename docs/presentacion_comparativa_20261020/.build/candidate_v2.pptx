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314d82629642a9" /><Relationship Type="http://schemas.openxmlformats.org/officeDocument/2006/relationships/extended-properties" Target="/docProps/app.xml" Id="R2f2a553be9a74c20" /><Relationship Type="http://schemas.openxmlformats.org/officeDocument/2006/relationships/officeDocument" Target="/ppt/presentation.xml" Id="R128abf7fcb464052" /></Relationships>
</file>

<file path=ppt/presentation.xml><?xml version="1.0" encoding="utf-8"?>
<p:presentation xmlns:p="http://schemas.openxmlformats.org/presentationml/2006/main">
  <p:sldMasterIdLst>
    <p:sldMasterId xmlns:r="http://schemas.openxmlformats.org/officeDocument/2006/relationships" id="2147483648" r:id="R00c1d9c889c14daa"/>
  </p:sldMasterIdLst>
  <p:notesMasterIdLst>
    <p:notesMasterId xmlns:r="http://schemas.openxmlformats.org/officeDocument/2006/relationships" r:id="Re64d5b22e51a475b"/>
  </p:notesMasterIdLst>
  <p:sldIdLst>
    <p:sldId xmlns:r="http://schemas.openxmlformats.org/officeDocument/2006/relationships" id="256" r:id="Rc2f60bcf9afa457e"/>
    <p:sldId xmlns:r="http://schemas.openxmlformats.org/officeDocument/2006/relationships" id="257" r:id="R1a8485c9f8294de0"/>
    <p:sldId xmlns:r="http://schemas.openxmlformats.org/officeDocument/2006/relationships" id="258" r:id="Rac1fa664649a4f4f"/>
    <p:sldId xmlns:r="http://schemas.openxmlformats.org/officeDocument/2006/relationships" id="259" r:id="R7291ce062e504076"/>
    <p:sldId xmlns:r="http://schemas.openxmlformats.org/officeDocument/2006/relationships" id="260" r:id="R3e934b9d51ff4c85"/>
    <p:sldId xmlns:r="http://schemas.openxmlformats.org/officeDocument/2006/relationships" id="261" r:id="R408949175c8e4a19"/>
    <p:sldId xmlns:r="http://schemas.openxmlformats.org/officeDocument/2006/relationships" id="262" r:id="Rc2ba1b4a24fd4c7c"/>
    <p:sldId xmlns:r="http://schemas.openxmlformats.org/officeDocument/2006/relationships" id="263" r:id="Re802c281fb8f48ef"/>
    <p:sldId xmlns:r="http://schemas.openxmlformats.org/officeDocument/2006/relationships" id="264" r:id="R39f242e9597443d4"/>
    <p:sldId xmlns:r="http://schemas.openxmlformats.org/officeDocument/2006/relationships" id="265" r:id="R8047bd70055141da"/>
    <p:sldId xmlns:r="http://schemas.openxmlformats.org/officeDocument/2006/relationships" id="266" r:id="R2331203ecbaa4299"/>
    <p:sldId xmlns:r="http://schemas.openxmlformats.org/officeDocument/2006/relationships" id="267" r:id="R423767f351aa4c86"/>
    <p:sldId xmlns:r="http://schemas.openxmlformats.org/officeDocument/2006/relationships" id="268" r:id="R37ca10b9541649c9"/>
    <p:sldId xmlns:r="http://schemas.openxmlformats.org/officeDocument/2006/relationships" id="269" r:id="Rb4b1ad39644344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90750865aa445f" /><Relationship Type="http://schemas.openxmlformats.org/officeDocument/2006/relationships/slideMaster" Target="/ppt/slideMasters/slideMaster1.xml" Id="R00c1d9c889c14daa" /><Relationship Type="http://schemas.openxmlformats.org/officeDocument/2006/relationships/notesMaster" Target="/ppt/notesMasters/notesMaster1.xml" Id="Re64d5b22e51a475b" /><Relationship Type="http://schemas.openxmlformats.org/officeDocument/2006/relationships/presProps" Target="/ppt/presProps.xml" Id="R8df953e8bdb94968" /><Relationship Type="http://schemas.openxmlformats.org/officeDocument/2006/relationships/tableStyles" Target="/ppt/tableStyles.xml" Id="R5418fc56441344db" /><Relationship Type="http://schemas.openxmlformats.org/officeDocument/2006/relationships/slide" Target="/ppt/slides/slide1.xml" Id="Rc2f60bcf9afa457e" /><Relationship Type="http://schemas.openxmlformats.org/officeDocument/2006/relationships/slide" Target="/ppt/slides/slide2.xml" Id="R1a8485c9f8294de0" /><Relationship Type="http://schemas.openxmlformats.org/officeDocument/2006/relationships/slide" Target="/ppt/slides/slide3.xml" Id="Rac1fa664649a4f4f" /><Relationship Type="http://schemas.openxmlformats.org/officeDocument/2006/relationships/slide" Target="/ppt/slides/slide4.xml" Id="R7291ce062e504076" /><Relationship Type="http://schemas.openxmlformats.org/officeDocument/2006/relationships/slide" Target="/ppt/slides/slide5.xml" Id="R3e934b9d51ff4c85" /><Relationship Type="http://schemas.openxmlformats.org/officeDocument/2006/relationships/slide" Target="/ppt/slides/slide6.xml" Id="R408949175c8e4a19" /><Relationship Type="http://schemas.openxmlformats.org/officeDocument/2006/relationships/slide" Target="/ppt/slides/slide7.xml" Id="Rc2ba1b4a24fd4c7c" /><Relationship Type="http://schemas.openxmlformats.org/officeDocument/2006/relationships/slide" Target="/ppt/slides/slide8.xml" Id="Re802c281fb8f48ef" /><Relationship Type="http://schemas.openxmlformats.org/officeDocument/2006/relationships/slide" Target="/ppt/slides/slide9.xml" Id="R39f242e9597443d4" /><Relationship Type="http://schemas.openxmlformats.org/officeDocument/2006/relationships/slide" Target="/ppt/slides/slide10.xml" Id="R8047bd70055141da" /><Relationship Type="http://schemas.openxmlformats.org/officeDocument/2006/relationships/slide" Target="/ppt/slides/slide11.xml" Id="R2331203ecbaa4299" /><Relationship Type="http://schemas.openxmlformats.org/officeDocument/2006/relationships/slide" Target="/ppt/slides/slide12.xml" Id="R423767f351aa4c86" /><Relationship Type="http://schemas.openxmlformats.org/officeDocument/2006/relationships/slide" Target="/ppt/slides/slide13.xml" Id="R37ca10b9541649c9" /><Relationship Type="http://schemas.openxmlformats.org/officeDocument/2006/relationships/slide" Target="/ppt/slides/slide14.xml" Id="Rb4b1ad39644344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8616821e664d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90e6c8bf8140c4" /><Relationship Type="http://schemas.openxmlformats.org/officeDocument/2006/relationships/notesMaster" Target="/ppt/notesMasters/notesMaster1.xml" Id="Rdac800d9e21e4b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340508d9d24ea6" /><Relationship Type="http://schemas.openxmlformats.org/officeDocument/2006/relationships/notesMaster" Target="/ppt/notesMasters/notesMaster1.xml" Id="Rccd8772d4c1440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8ce29bcbb04f91" /><Relationship Type="http://schemas.openxmlformats.org/officeDocument/2006/relationships/notesMaster" Target="/ppt/notesMasters/notesMaster1.xml" Id="R8d9252d2b69f47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18d584ec9d4a67" /><Relationship Type="http://schemas.openxmlformats.org/officeDocument/2006/relationships/notesMaster" Target="/ppt/notesMasters/notesMaster1.xml" Id="R51004a9ec6f041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a2b2d001d541e8" /><Relationship Type="http://schemas.openxmlformats.org/officeDocument/2006/relationships/notesMaster" Target="/ppt/notesMasters/notesMaster1.xml" Id="Raeba580ef4d440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3295540d2c48d0" /><Relationship Type="http://schemas.openxmlformats.org/officeDocument/2006/relationships/notesMaster" Target="/ppt/notesMasters/notesMaster1.xml" Id="R782997c7a11042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65dd4d943b4893" /><Relationship Type="http://schemas.openxmlformats.org/officeDocument/2006/relationships/notesMaster" Target="/ppt/notesMasters/notesMaster1.xml" Id="R605ecf07749449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600a09d4554a68" /><Relationship Type="http://schemas.openxmlformats.org/officeDocument/2006/relationships/notesMaster" Target="/ppt/notesMasters/notesMaster1.xml" Id="Red03ad5e706a4e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7dab2035984149" /><Relationship Type="http://schemas.openxmlformats.org/officeDocument/2006/relationships/notesMaster" Target="/ppt/notesMasters/notesMaster1.xml" Id="R88eda8e73c094d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6e3e49ef6d4e5f" /><Relationship Type="http://schemas.openxmlformats.org/officeDocument/2006/relationships/notesMaster" Target="/ppt/notesMasters/notesMaster1.xml" Id="Rcb53562470604c3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1f80aea4ba4515" /><Relationship Type="http://schemas.openxmlformats.org/officeDocument/2006/relationships/notesMaster" Target="/ppt/notesMasters/notesMaster1.xml" Id="R9b8029a7df584d4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5aded1640844f0" /><Relationship Type="http://schemas.openxmlformats.org/officeDocument/2006/relationships/notesMaster" Target="/ppt/notesMasters/notesMaster1.xml" Id="Rc9a3d7f432394ea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515fba8e63d48a9" /><Relationship Type="http://schemas.openxmlformats.org/officeDocument/2006/relationships/notesMaster" Target="/ppt/notesMasters/notesMaster1.xml" Id="Rdd36874c4dd643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0e91c382f1344d4" /><Relationship Type="http://schemas.openxmlformats.org/officeDocument/2006/relationships/notesMaster" Target="/ppt/notesMasters/notesMaster1.xml" Id="R2a557b5a7d654a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Comparación determinista con registros reales independientes y carga eólica prescrita. Complementa la presentación modal del 14 de octubre; no reemplaza sus resultados Morris.</a:t>
            </a:r>
          </a:p>
          <a:p xmlns:a="http://schemas.openxmlformats.org/drawingml/2006/main">
            <a:r>
              <a:t/>
            </a:r>
          </a:p>
          <a:p xmlns:a="http://schemas.openxmlformats.org/drawingml/2006/main">
            <a:r>
              <a:t>Fuentes:</a:t>
            </a:r>
          </a:p>
          <a:p xmlns:a="http://schemas.openxmlformats.org/drawingml/2006/main">
            <a:r>
              <a:t>/Users/nuseche/Desktop/Tesis_codigos/docs/entradas_reales_20261020/analysis_summary.json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autor autorizó registros independientes y empuje medio como parámetro. El modelo conserva 12 rpm, azimut fijo, base fija y valores heredados de amortiguamiento/conexiones. El viento no se extrapola físicamente de 70 m al buje: su historia se utiliza como proxy uniforme autorizado. Los operadores se recalculan por factor mecánico, alrededor del equilibrio heredado, sin actualizarlo por empuje finito.</a:t>
            </a:r>
          </a:p>
          <a:p xmlns:a="http://schemas.openxmlformats.org/drawingml/2006/main">
            <a:r>
              <a:t/>
            </a:r>
          </a:p>
          <a:p xmlns:a="http://schemas.openxmlformats.org/drawingml/2006/main">
            <a:r>
              <a:t>Fuentes:</a:t>
            </a:r>
          </a:p>
          <a:p xmlns:a="http://schemas.openxmlformats.org/drawingml/2006/main">
            <a:r>
              <a:t>/Users/nuseche/Desktop/Tesis_codigos/config_default.m</a:t>
            </a:r>
          </a:p>
          <a:p xmlns:a="http://schemas.openxmlformats.org/drawingml/2006/main">
            <a:r>
              <a:t>/Users/nuseche/Desktop/Tesis_codigos/docs/entradas_reales_20261020/scripts/snapshot_input_case.m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Wang et al. publican datos del caso sismo-viento, pero el viento es sintético Davenport y los archivos se distribuyen en Origin OPJU. No se atribuyen sus entradas al caso real DTU. Meng et al. fundamentan la importancia del amortiguamiento aerodinámico, no reproducido aquí. DTU proporciona mediciones de campo; OpenSees distribuye registros PEER procesados.</a:t>
            </a:r>
          </a:p>
          <a:p xmlns:a="http://schemas.openxmlformats.org/drawingml/2006/main">
            <a:r>
              <a:t/>
            </a:r>
          </a:p>
          <a:p xmlns:a="http://schemas.openxmlformats.org/drawingml/2006/main">
            <a:r>
              <a:t>Fuentes:</a:t>
            </a:r>
          </a:p>
          <a:p xmlns:a="http://schemas.openxmlformats.org/drawingml/2006/main">
            <a:r>
              <a:t>https://doi.org/10.1080/13632469.2026.2671807</a:t>
            </a:r>
          </a:p>
          <a:p xmlns:a="http://schemas.openxmlformats.org/drawingml/2006/main">
            <a:r>
              <a:t>https://doi.org/10.5281/zenodo.19347779</a:t>
            </a:r>
          </a:p>
          <a:p xmlns:a="http://schemas.openxmlformats.org/drawingml/2006/main">
            <a:r>
              <a:t>https://doi.org/10.1016/j.renene.2020.05.181</a:t>
            </a:r>
          </a:p>
          <a:p xmlns:a="http://schemas.openxmlformats.org/drawingml/2006/main">
            <a:r>
              <a:t>https://doi.org/10.11583/DTU.16743739</a:t>
            </a:r>
          </a:p>
          <a:p xmlns:a="http://schemas.openxmlformats.org/drawingml/2006/main">
            <a:r>
              <a:t>/Users/nuseche/Desktop/Tesis_codigos/docs/entradas_reales_20261020/sources/earthquake_provenance.json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viento corresponde al canal sónico longitudinal s70u a 70 m, 2005-11-19 00:00 según cabecera, zona horaria no indicada. Primer archivo en orden lexicográfico. No se seleccionó por respuesta favorable. Los tres registros sísmicos pertenecen a dos terremotos, uno de ellos en dos estaciones.</a:t>
            </a:r>
          </a:p>
          <a:p xmlns:a="http://schemas.openxmlformats.org/drawingml/2006/main">
            <a:r>
              <a:t/>
            </a:r>
          </a:p>
          <a:p xmlns:a="http://schemas.openxmlformats.org/drawingml/2006/main">
            <a:r>
              <a:t>Fuentes:</a:t>
            </a:r>
          </a:p>
          <a:p xmlns:a="http://schemas.openxmlformats.org/drawingml/2006/main">
            <a:r>
              <a:t>/Users/nuseche/Desktop/Tesis_codigos/docs/entradas_reales_20261020/tables/wind_catalog.json</a:t>
            </a:r>
          </a:p>
          <a:p xmlns:a="http://schemas.openxmlformats.org/drawingml/2006/main">
            <a:r>
              <a:t>/Users/nuseche/Desktop/Tesis_codigos/docs/entradas_reales_20261020/tables/earthquake_catalog.json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Media cuadrática calculada con las 15000 muestras originales. Se interpola linealmente U²/&lt;U²&gt;, no se cuadran las velocidades después de interpolar. La condición inicial es el equilibrio lineal del empuje medio con los mismos operadores congelados. Las fuerzas se aplican en el maestro 130 y se proyectan mediante Tc transpuesta. No hay coeficiente de empuje calibrado ni fuerza medida aplicada.</a:t>
            </a:r>
          </a:p>
          <a:p xmlns:a="http://schemas.openxmlformats.org/drawingml/2006/main">
            <a:r>
              <a:t/>
            </a:r>
          </a:p>
          <a:p xmlns:a="http://schemas.openxmlformats.org/drawingml/2006/main">
            <a:r>
              <a:t>Fuentes:</a:t>
            </a:r>
          </a:p>
          <a:p xmlns:a="http://schemas.openxmlformats.org/drawingml/2006/main">
            <a:r>
              <a:t>/Users/nuseche/Desktop/Tesis_codigos/docs/entradas_reales_20261020/scripts/snapshot_input_case.m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PSD Welch de la fluctuación del empuje y de la aceleración del suelo, ambas normalizadas por la integral de su PSD. Ventanas de 20 s y solape 50 %. Las amplitudes no representan fuerzas iguales ni energías iguales. Los estimadores tienen diferente número de segmentos. Líneas verticales: frecuencias nominales de los grupos 3, 6+7 y 10+11.</a:t>
            </a:r>
          </a:p>
          <a:p xmlns:a="http://schemas.openxmlformats.org/drawingml/2006/main">
            <a:r>
              <a:t/>
            </a:r>
          </a:p>
          <a:p xmlns:a="http://schemas.openxmlformats.org/drawingml/2006/main">
            <a:r>
              <a:t>Fuentes:</a:t>
            </a:r>
          </a:p>
          <a:p xmlns:a="http://schemas.openxmlformats.org/drawingml/2006/main">
            <a:r>
              <a:t>/Users/nuseche/Desktop/Tesis_codigos/docs/entradas_reales_20261020/tables/spectral_summary.json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componente horizontal por vez; gráfico en global X. Se conservan amplitudes y duraciones originales. Tres estaciones/registros de dos terremotos; no es una muestra de peligro sísmico de un emplazamiento. El máximo no puede ordenarse únicamente por PGA.</a:t>
            </a:r>
          </a:p>
          <a:p xmlns:a="http://schemas.openxmlformats.org/drawingml/2006/main">
            <a:r>
              <a:t/>
            </a:r>
          </a:p>
          <a:p xmlns:a="http://schemas.openxmlformats.org/drawingml/2006/main">
            <a:r>
              <a:t>Fuentes:</a:t>
            </a:r>
          </a:p>
          <a:p xmlns:a="http://schemas.openxmlformats.org/drawingml/2006/main">
            <a:r>
              <a:t>/Users/nuseche/Desktop/Tesis_codigos/docs/entradas_reales_20261020/tables/nominal_earthquakes.csv</a:t>
            </a:r>
          </a:p>
          <a:p xmlns:a="http://schemas.openxmlformats.org/drawingml/2006/main">
            <a:r>
              <a:t>/Users/nuseche/Desktop/Tesis_codigos/docs/entradas_reales_20261020/tables/earthquake_intensities.csv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Recuperación optimizada contrastada con la rutina sísmica existente; cambios de chunk y pasos temporales. Los filtros de sensibilidad son por respuesta. La convergencia de góndola no certifica automáticamente aceleraciones de puntas. No se realizó convergencia espacial con rotor girando.</a:t>
            </a:r>
          </a:p>
          <a:p xmlns:a="http://schemas.openxmlformats.org/drawingml/2006/main">
            <a:r>
              <a:t/>
            </a:r>
          </a:p>
          <a:p xmlns:a="http://schemas.openxmlformats.org/drawingml/2006/main">
            <a:r>
              <a:t>Fuentes:</a:t>
            </a:r>
          </a:p>
          <a:p xmlns:a="http://schemas.openxmlformats.org/drawingml/2006/main">
            <a:r>
              <a:t>/Users/nuseche/Desktop/Tesis_codigos/docs/entradas_reales_20261020/tables/time_convergence.csv</a:t>
            </a:r>
          </a:p>
          <a:p xmlns:a="http://schemas.openxmlformats.org/drawingml/2006/main">
            <a:r>
              <a:t>/Users/nuseche/Desktop/Tesis_codigos/docs/entradas_reales_20261020/tables/case_audit.csv</a:t>
            </a:r>
          </a:p>
          <a:p xmlns:a="http://schemas.openxmlformats.org/drawingml/2006/main">
            <a:r>
              <a:t>/Users/nuseche/Desktop/Tesis_codigos/docs/entradas_reales_20261020/analysis_summary.json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tangente heredada no resolvió las pendientes al refinar h de 1 % a 0,125 %. La tabla final contrasta h=0,25 % y 0,5 %, Newmark 0,0025 y 0,005 s y pasos internos de Hessiana multiplicados por 20 y 40. Se conserva el equilibrio original y la energía física; solo se refina numéricamente la Hessiana dinámica. Gráfico RMS, que incluye la media eólica. Viento por unidad de empuje medio, sin equilibrio operativo aeroelástico.</a:t>
            </a:r>
          </a:p>
          <a:p xmlns:a="http://schemas.openxmlformats.org/drawingml/2006/main">
            <a:r>
              <a:t/>
            </a:r>
          </a:p>
          <a:p xmlns:a="http://schemas.openxmlformats.org/drawingml/2006/main">
            <a:r>
              <a:t>Fuentes:</a:t>
            </a:r>
          </a:p>
          <a:p xmlns:a="http://schemas.openxmlformats.org/drawingml/2006/main">
            <a:r>
              <a:t>/Users/nuseche/Desktop/Tesis_codigos/docs/entradas_reales_20261020/tables/refined_local_sensitivities.csv</a:t>
            </a:r>
          </a:p>
          <a:p xmlns:a="http://schemas.openxmlformats.org/drawingml/2006/main">
            <a:r>
              <a:t>/Users/nuseche/Desktop/Tesis_codigos/docs/entradas_reales_20261020/refined_tangent_summary.json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Comparación de un mismo acelerograma aplicado en X y en Y. La dirección del rotor y el viento está documentada en analysis_summary.json. Los registros no se presentan como dos componentes simultáneas ni como su orientación geográfica real en el emplazamiento.</a:t>
            </a:r>
          </a:p>
          <a:p xmlns:a="http://schemas.openxmlformats.org/drawingml/2006/main">
            <a:r>
              <a:t/>
            </a:r>
          </a:p>
          <a:p xmlns:a="http://schemas.openxmlformats.org/drawingml/2006/main">
            <a:r>
              <a:t>Fuentes:</a:t>
            </a:r>
          </a:p>
          <a:p xmlns:a="http://schemas.openxmlformats.org/drawingml/2006/main">
            <a:r>
              <a:t>/Users/nuseche/Desktop/Tesis_codigos/docs/entradas_reales_20261020/tables/direction_comparison.csv</a:t>
            </a:r>
          </a:p>
          <a:p xmlns:a="http://schemas.openxmlformats.org/drawingml/2006/main">
            <a:r>
              <a:t>/Users/nuseche/Desktop/Tesis_codigos/docs/entradas_reales_20261020/analysis_summary.json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superponen historias temporales completas con los mismos operadores lineales. El viento ya existe al llegar el sismo. Se evalúan 29 llegadas: 0, 20, ..., 540 y 559,98 s; el último instante evita extrapolar las muestras medidas. Cada máximo usa la misma ventana sísmica de 39,98 s. La franja mínimo-máximo no es un intervalo probabilístico. Los resultados dependen de F̄, que permanece libre.</a:t>
            </a:r>
          </a:p>
          <a:p xmlns:a="http://schemas.openxmlformats.org/drawingml/2006/main">
            <a:r>
              <a:t/>
            </a:r>
          </a:p>
          <a:p xmlns:a="http://schemas.openxmlformats.org/drawingml/2006/main">
            <a:r>
              <a:t>Fuentes:</a:t>
            </a:r>
          </a:p>
          <a:p xmlns:a="http://schemas.openxmlformats.org/drawingml/2006/main">
            <a:r>
              <a:t>/Users/nuseche/Desktop/Tesis_codigos/docs/entradas_reales_20261020/tables/arrival_phase_comparison.csv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Sismo alineado y llegada en t=0. Eje horizontal: empuje medio dividido por Fref. Se modifican las amplitudes de las entradas con los mismos operadores; no se reconstruye la Hessiana. Se diferencia el máximo combinado mediante perturbaciones de amplitud de 0,5 % y 1 %. La normalización del empuje no está definida en cero. No son porcentajes probabilísticos de contribución.</a:t>
            </a:r>
          </a:p>
          <a:p xmlns:a="http://schemas.openxmlformats.org/drawingml/2006/main">
            <a:r>
              <a:t/>
            </a:r>
          </a:p>
          <a:p xmlns:a="http://schemas.openxmlformats.org/drawingml/2006/main">
            <a:r>
              <a:t>Fuentes:</a:t>
            </a:r>
          </a:p>
          <a:p xmlns:a="http://schemas.openxmlformats.org/drawingml/2006/main">
            <a:r>
              <a:t>/Users/nuseche/Desktop/Tesis_codigos/docs/entradas_reales_20261020/tables/input_amplitude_sensitivities.csv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Conclusiones restringidas al modelo y entradas seleccionadas. Fref es una normalización calculada y no un umbral de seguridad, un empuje calibrado o una estimación de viento extremo. Las propiedades del modelo y su amortiguamiento siguen sin calibración experimental.</a:t>
            </a:r>
          </a:p>
          <a:p xmlns:a="http://schemas.openxmlformats.org/drawingml/2006/main">
            <a:r>
              <a:t/>
            </a:r>
          </a:p>
          <a:p xmlns:a="http://schemas.openxmlformats.org/drawingml/2006/main">
            <a:r>
              <a:t>Fuentes:</a:t>
            </a:r>
          </a:p>
          <a:p xmlns:a="http://schemas.openxmlformats.org/drawingml/2006/main">
            <a:r>
              <a:t>/Users/nuseche/Desktop/Tesis_codigos/docs/entradas_reales_20261020/report_values.json</a:t>
            </a:r>
          </a:p>
          <a:p xmlns:a="http://schemas.openxmlformats.org/drawingml/2006/main">
            <a:r>
              <a:t>/Users/nuseche/Desktop/Tesis_codigos/docs/entradas_reales_20261020/analysis_summary.json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cierra la comparación estructural determinista con empuje medio parametrizado. El siguiente cierre físico exige el coeficiente de empuje o un modelo aerodinámico específico, y evolución de operadores si se pretende una simulación de operación durante toda la historia. Las figuras nuevas fueron generadas en MATLAB con el estilo monocromático autorizado; las históricas de Tecplot se mantienen en sus entregables.</a:t>
            </a:r>
          </a:p>
          <a:p xmlns:a="http://schemas.openxmlformats.org/drawingml/2006/main">
            <a:r>
              <a:t/>
            </a:r>
          </a:p>
          <a:p xmlns:a="http://schemas.openxmlformats.org/drawingml/2006/main">
            <a:r>
              <a:t>Fuentes:</a:t>
            </a:r>
          </a:p>
          <a:p xmlns:a="http://schemas.openxmlformats.org/drawingml/2006/main">
            <a:r>
              <a:t>/Users/nuseche/Desktop/Tesis_codigos/docs/entradas_reales_20261020/LEEME.md</a:t>
            </a:r>
          </a:p>
          <a:p xmlns:a="http://schemas.openxmlformats.org/drawingml/2006/main">
            <a:r>
              <a:t>https://doi.org/10.11583/DTU.16743739</a:t>
            </a:r>
          </a:p>
          <a:p xmlns:a="http://schemas.openxmlformats.org/drawingml/2006/main">
            <a:r>
              <a:t>https://doi.org/10.1080/13632469.2026.2671807</a:t>
            </a:r>
          </a:p>
          <a:p xmlns:a="http://schemas.openxmlformats.org/drawingml/2006/main">
            <a:r>
              <a:t>https://doi.org/10.1016/j.renene.2020.05.181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9a2b2127a342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e8debad457e4db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1c6cb6b6324ee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3f449a4776a49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c622dcf88974b6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79c68b2b234f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EB6203-D155-4B92-B2A2-5CCD4A041FF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37C0512-1415-4845-86C1-EAEA9783AC3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6E6C275-F036-4FE8-A777-CA5E27FAE00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E6C8F3-D24F-4923-9C32-86F29C6238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3006DD-7B78-4C99-BC20-D866FE65D6A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A3FB11B-919B-474D-A4F7-4502BCE64F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9D5536-0287-4F04-894C-8AF10A7360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0F7ED58-AB12-4FA6-B5CF-52E9B9974E8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66B85A-D13B-450A-AFB5-DE77B44C82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324051-11FB-4B9E-B214-832BBAD4666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a9ebd1933e4b6e" /><Relationship Type="http://schemas.openxmlformats.org/officeDocument/2006/relationships/slideLayout" Target="/ppt/slideLayouts/slideLayout1.xml" Id="R44753d9b80be49e2" /><Relationship Type="http://schemas.openxmlformats.org/officeDocument/2006/relationships/slideLayout" Target="/ppt/slideLayouts/slideLayout2.xml" Id="Rec3ab4c55d65410b" /><Relationship Type="http://schemas.openxmlformats.org/officeDocument/2006/relationships/slideLayout" Target="/ppt/slideLayouts/slideLayout3.xml" Id="Ra2eff46fcb224e9a" /><Relationship Type="http://schemas.openxmlformats.org/officeDocument/2006/relationships/slideLayout" Target="/ppt/slideLayouts/slideLayout4.xml" Id="R79429d6caa414245" /><Relationship Type="http://schemas.openxmlformats.org/officeDocument/2006/relationships/slideLayout" Target="/ppt/slideLayouts/slideLayout5.xml" Id="Ra384dbe9fa974127" /><Relationship Type="http://schemas.openxmlformats.org/officeDocument/2006/relationships/slideLayout" Target="/ppt/slideLayouts/slideLayout6.xml" Id="R4faba5fa2d5141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753d9b80be49e2"/>
    <p:sldLayoutId xmlns:r="http://schemas.openxmlformats.org/officeDocument/2006/relationships" id="2147483650" r:id="Rec3ab4c55d65410b"/>
    <p:sldLayoutId xmlns:r="http://schemas.openxmlformats.org/officeDocument/2006/relationships" id="2147483651" r:id="Ra2eff46fcb224e9a"/>
    <p:sldLayoutId xmlns:r="http://schemas.openxmlformats.org/officeDocument/2006/relationships" id="2147483652" r:id="R79429d6caa414245"/>
    <p:sldLayoutId xmlns:r="http://schemas.openxmlformats.org/officeDocument/2006/relationships" id="2147483653" r:id="Ra384dbe9fa974127"/>
    <p:sldLayoutId xmlns:r="http://schemas.openxmlformats.org/officeDocument/2006/relationships" id="2147483654" r:id="R4faba5fa2d5141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4e9ddcbbcbb4678" /><Relationship Type="http://schemas.openxmlformats.org/officeDocument/2006/relationships/notesSlide" Target="/ppt/notesSlides/notesSlide1.xml" Id="R7cf32a87871340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5fde1807f5f4e46" /><Relationship Type="http://schemas.openxmlformats.org/officeDocument/2006/relationships/notesSlide" Target="/ppt/notesSlides/notesSlide2.xml" Id="R3c0a271ea9fa40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2ab67f1977a4f31" /><Relationship Type="http://schemas.openxmlformats.org/officeDocument/2006/relationships/notesSlide" Target="/ppt/notesSlides/notesSlide3.xml" Id="R89b46b07e39642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1a2587e09674281" /><Relationship Type="http://schemas.openxmlformats.org/officeDocument/2006/relationships/image" Target="/ppt/media/image.png" Id="Re038ace0005345c6" /><Relationship Type="http://schemas.openxmlformats.org/officeDocument/2006/relationships/notesSlide" Target="/ppt/notesSlides/notesSlide4.xml" Id="R48b43f7480a142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820f2a2fea749b7" /><Relationship Type="http://schemas.openxmlformats.org/officeDocument/2006/relationships/notesSlide" Target="/ppt/notesSlides/notesSlide5.xml" Id="Rf7d6601bff6c45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9c8bc7d0cc24f09" /><Relationship Type="http://schemas.openxmlformats.org/officeDocument/2006/relationships/image" Target="/ppt/media/image2.png" Id="Rd6ba1574a9e84a80" /><Relationship Type="http://schemas.openxmlformats.org/officeDocument/2006/relationships/notesSlide" Target="/ppt/notesSlides/notesSlide6.xml" Id="R037454b480bc48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f312624ffcb48f3" /><Relationship Type="http://schemas.openxmlformats.org/officeDocument/2006/relationships/image" Target="/ppt/media/image3.png" Id="R7fd83f400b994f35" /><Relationship Type="http://schemas.openxmlformats.org/officeDocument/2006/relationships/notesSlide" Target="/ppt/notesSlides/notesSlide7.xml" Id="R5eb228ec62df45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1ef865a6aaa4882" /><Relationship Type="http://schemas.openxmlformats.org/officeDocument/2006/relationships/notesSlide" Target="/ppt/notesSlides/notesSlide8.xml" Id="Rd631fd5d48654a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3b4204f983b44f6" /><Relationship Type="http://schemas.openxmlformats.org/officeDocument/2006/relationships/image" Target="/ppt/media/image4.png" Id="R4a8a49df7e074cbc" /><Relationship Type="http://schemas.openxmlformats.org/officeDocument/2006/relationships/notesSlide" Target="/ppt/notesSlides/notesSlide9.xml" Id="R3d4074a2f67642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9da40dcefd24c2a" /><Relationship Type="http://schemas.openxmlformats.org/officeDocument/2006/relationships/image" Target="/ppt/media/image5.png" Id="Rd7e8177720684939" /><Relationship Type="http://schemas.openxmlformats.org/officeDocument/2006/relationships/notesSlide" Target="/ppt/notesSlides/notesSlide10.xml" Id="R962c71b4848c43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0e8bd58a28e4502" /><Relationship Type="http://schemas.openxmlformats.org/officeDocument/2006/relationships/image" Target="/ppt/media/image6.png" Id="Re65c9e173b0c4c60" /><Relationship Type="http://schemas.openxmlformats.org/officeDocument/2006/relationships/notesSlide" Target="/ppt/notesSlides/notesSlide11.xml" Id="R32f8e95642e648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1fc3fd932ee439e" /><Relationship Type="http://schemas.openxmlformats.org/officeDocument/2006/relationships/image" Target="/ppt/media/image7.png" Id="R81ca99cdea2c4258" /><Relationship Type="http://schemas.openxmlformats.org/officeDocument/2006/relationships/notesSlide" Target="/ppt/notesSlides/notesSlide12.xml" Id="R3ba8c0d1053546a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e1d7e853d134911" /><Relationship Type="http://schemas.openxmlformats.org/officeDocument/2006/relationships/notesSlide" Target="/ppt/notesSlides/notesSlide13.xml" Id="Rded869ff93c84d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62e76a98cd54043" /><Relationship Type="http://schemas.openxmlformats.org/officeDocument/2006/relationships/notesSlide" Target="/ppt/notesSlides/notesSlide14.xml" Id="R5bdbb6f88fb64e8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5D18536-3C71-43C5-B6DB-2170DC877A9E}"/>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Sismo, viento y sensibilidad</a:t>
            </a:r>
          </a:p>
        </p:txBody>
      </p:sp>
      <p:sp>
        <p:nvSpPr>
          <p:cNvPr id="2" name="">
            <a:extLst xmlns:a="http://schemas.openxmlformats.org/drawingml/2006/main">
              <a:ext uri="{FF2B5EF4-FFF2-40B4-BE49-F238E27FC236}">
                <a16:creationId xmlns:a16="http://schemas.microsoft.com/office/drawing/2014/main" id="{A1EC096B-42B7-4986-89F2-0556BCEA1257}"/>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FDF3961-FAE0-46B8-B2FD-10877F377C59}"/>
              </a:ext>
            </a:extLst>
          </p:cNvPr>
          <p:cNvSpPr>
            <a:spLocks xmlns:a="http://schemas.openxmlformats.org/drawingml/2006/main" noGrp="1"/>
          </p:cNvSpPr>
          <p:nvPr/>
        </p:nvSpPr>
        <p:spPr>
          <a:xfrm xmlns:a="http://schemas.openxmlformats.org/drawingml/2006/main">
            <a:off x="704850" y="1714500"/>
            <a:ext cx="104775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vl1pPr>
              <a:defRPr sz="3300" b="1">
                <a:solidFill>
                  <a:srgbClr val="151515"/>
                </a:solidFill>
                <a:latin typeface="Arial"/>
                <a:ea typeface="Arial"/>
                <a:cs typeface="Arial"/>
              </a:defRPr>
            </a:lvl1pPr>
            <a:lvl2pPr>
              <a:defRPr sz="3300" b="1">
                <a:solidFill>
                  <a:srgbClr val="151515"/>
                </a:solidFill>
                <a:latin typeface="Arial"/>
                <a:ea typeface="Arial"/>
                <a:cs typeface="Arial"/>
              </a:defRPr>
            </a:lvl2pPr>
            <a:lvl3pPr>
              <a:defRPr sz="3300" b="1">
                <a:solidFill>
                  <a:srgbClr val="151515"/>
                </a:solidFill>
                <a:latin typeface="Arial"/>
                <a:ea typeface="Arial"/>
                <a:cs typeface="Arial"/>
              </a:defRPr>
            </a:lvl3pPr>
            <a:lvl4pPr>
              <a:defRPr sz="3300" b="1">
                <a:solidFill>
                  <a:srgbClr val="151515"/>
                </a:solidFill>
                <a:latin typeface="Arial"/>
                <a:ea typeface="Arial"/>
                <a:cs typeface="Arial"/>
              </a:defRPr>
            </a:lvl4pPr>
            <a:lvl5pPr>
              <a:defRPr sz="3300" b="1">
                <a:solidFill>
                  <a:srgbClr val="151515"/>
                </a:solidFill>
                <a:latin typeface="Arial"/>
                <a:ea typeface="Arial"/>
                <a:cs typeface="Arial"/>
              </a:defRPr>
            </a:lvl5pPr>
            <a:lvl6pPr>
              <a:defRPr sz="3300" b="1">
                <a:solidFill>
                  <a:srgbClr val="151515"/>
                </a:solidFill>
                <a:latin typeface="Arial"/>
                <a:ea typeface="Arial"/>
                <a:cs typeface="Arial"/>
              </a:defRPr>
            </a:lvl6pPr>
            <a:lvl7pPr>
              <a:defRPr sz="3300" b="1">
                <a:solidFill>
                  <a:srgbClr val="151515"/>
                </a:solidFill>
                <a:latin typeface="Arial"/>
                <a:ea typeface="Arial"/>
                <a:cs typeface="Arial"/>
              </a:defRPr>
            </a:lvl7pPr>
            <a:lvl8pPr>
              <a:defRPr sz="3300" b="1">
                <a:solidFill>
                  <a:srgbClr val="151515"/>
                </a:solidFill>
                <a:latin typeface="Arial"/>
                <a:ea typeface="Arial"/>
                <a:cs typeface="Arial"/>
              </a:defRPr>
            </a:lvl8pPr>
            <a:lvl9pPr>
              <a:defRPr sz="3300" b="1">
                <a:solidFill>
                  <a:srgbClr val="151515"/>
                </a:solidFill>
                <a:latin typeface="Arial"/>
                <a:ea typeface="Arial"/>
                <a:cs typeface="Arial"/>
              </a:defRPr>
            </a:lvl9pPr>
          </a:lstStyle>
          <a:p xmlns:a="http://schemas.openxmlformats.org/drawingml/2006/main">
            <a:pPr>
              <a:lnSpc>
                <a:spcPct val="110000"/>
              </a:lnSpc>
              <a:buNone/>
              <a:defRPr sz="3300" b="1">
                <a:solidFill>
                  <a:srgbClr val="151515"/>
                </a:solidFill>
                <a:latin typeface="Arial"/>
                <a:ea typeface="Arial"/>
                <a:cs typeface="Arial"/>
              </a:defRPr>
            </a:pPr>
            <a:r>
              <a:rPr sz="3300" b="1">
                <a:solidFill>
                  <a:srgbClr val="151515"/>
                </a:solidFill>
                <a:latin typeface="Arial"/>
                <a:ea typeface="Arial"/>
                <a:cs typeface="Arial"/>
              </a:rPr>
              <a:t>Comparación de entradas medidas</a:t>
            </a:r>
          </a:p>
          <a:p xmlns:a="http://schemas.openxmlformats.org/drawingml/2006/main">
            <a:pPr>
              <a:lnSpc>
                <a:spcPct val="110000"/>
              </a:lnSpc>
              <a:buNone/>
              <a:defRPr sz="3300" b="1">
                <a:solidFill>
                  <a:srgbClr val="151515"/>
                </a:solidFill>
                <a:latin typeface="Arial"/>
                <a:ea typeface="Arial"/>
                <a:cs typeface="Arial"/>
              </a:defRPr>
            </a:pPr>
            <a:r>
              <a:rPr sz="3300" b="1">
                <a:solidFill>
                  <a:srgbClr val="151515"/>
                </a:solidFill>
                <a:latin typeface="Arial"/>
                <a:ea typeface="Arial"/>
                <a:cs typeface="Arial"/>
              </a:rPr>
              <a:t>y respuesta del modelo existente</a:t>
            </a:r>
          </a:p>
        </p:txBody>
      </p:sp>
      <p:sp>
        <p:nvSpPr>
          <p:cNvPr id="4" name="">
            <a:extLst xmlns:a="http://schemas.openxmlformats.org/drawingml/2006/main">
              <a:ext uri="{FF2B5EF4-FFF2-40B4-BE49-F238E27FC236}">
                <a16:creationId xmlns:a16="http://schemas.microsoft.com/office/drawing/2014/main" id="{1EEE7CF6-AA53-4215-B3F2-F5A1A6A1D9E6}"/>
              </a:ext>
            </a:extLst>
          </p:cNvPr>
          <p:cNvSpPr>
            <a:spLocks xmlns:a="http://schemas.openxmlformats.org/drawingml/2006/main" noGrp="1"/>
          </p:cNvSpPr>
          <p:nvPr/>
        </p:nvSpPr>
        <p:spPr>
          <a:xfrm xmlns:a="http://schemas.openxmlformats.org/drawingml/2006/main">
            <a:off x="723900" y="41910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vl1pPr>
              <a:defRPr sz="2250" b="0">
                <a:solidFill>
                  <a:srgbClr val="151515"/>
                </a:solidFill>
                <a:latin typeface="Arial"/>
                <a:ea typeface="Arial"/>
                <a:cs typeface="Arial"/>
              </a:defRPr>
            </a:lvl1pPr>
            <a:lvl2pPr>
              <a:defRPr sz="2250" b="0">
                <a:solidFill>
                  <a:srgbClr val="151515"/>
                </a:solidFill>
                <a:latin typeface="Arial"/>
                <a:ea typeface="Arial"/>
                <a:cs typeface="Arial"/>
              </a:defRPr>
            </a:lvl2pPr>
            <a:lvl3pPr>
              <a:defRPr sz="2250" b="0">
                <a:solidFill>
                  <a:srgbClr val="151515"/>
                </a:solidFill>
                <a:latin typeface="Arial"/>
                <a:ea typeface="Arial"/>
                <a:cs typeface="Arial"/>
              </a:defRPr>
            </a:lvl3pPr>
            <a:lvl4pPr>
              <a:defRPr sz="2250" b="0">
                <a:solidFill>
                  <a:srgbClr val="151515"/>
                </a:solidFill>
                <a:latin typeface="Arial"/>
                <a:ea typeface="Arial"/>
                <a:cs typeface="Arial"/>
              </a:defRPr>
            </a:lvl4pPr>
            <a:lvl5pPr>
              <a:defRPr sz="2250" b="0">
                <a:solidFill>
                  <a:srgbClr val="151515"/>
                </a:solidFill>
                <a:latin typeface="Arial"/>
                <a:ea typeface="Arial"/>
                <a:cs typeface="Arial"/>
              </a:defRPr>
            </a:lvl5pPr>
            <a:lvl6pPr>
              <a:defRPr sz="2250" b="0">
                <a:solidFill>
                  <a:srgbClr val="151515"/>
                </a:solidFill>
                <a:latin typeface="Arial"/>
                <a:ea typeface="Arial"/>
                <a:cs typeface="Arial"/>
              </a:defRPr>
            </a:lvl6pPr>
            <a:lvl7pPr>
              <a:defRPr sz="2250" b="0">
                <a:solidFill>
                  <a:srgbClr val="151515"/>
                </a:solidFill>
                <a:latin typeface="Arial"/>
                <a:ea typeface="Arial"/>
                <a:cs typeface="Arial"/>
              </a:defRPr>
            </a:lvl7pPr>
            <a:lvl8pPr>
              <a:defRPr sz="2250" b="0">
                <a:solidFill>
                  <a:srgbClr val="151515"/>
                </a:solidFill>
                <a:latin typeface="Arial"/>
                <a:ea typeface="Arial"/>
                <a:cs typeface="Arial"/>
              </a:defRPr>
            </a:lvl8pPr>
            <a:lvl9pPr>
              <a:defRPr sz="2250" b="0">
                <a:solidFill>
                  <a:srgbClr val="151515"/>
                </a:solidFill>
                <a:latin typeface="Arial"/>
                <a:ea typeface="Arial"/>
                <a:cs typeface="Arial"/>
              </a:defRPr>
            </a:lvl9pPr>
          </a:lstStyle>
          <a:p xmlns:a="http://schemas.openxmlformats.org/drawingml/2006/main">
            <a:pPr>
              <a:lnSpc>
                <a:spcPct val="110000"/>
              </a:lnSpc>
              <a:buNone/>
              <a:defRPr sz="2250" b="0">
                <a:solidFill>
                  <a:srgbClr val="151515"/>
                </a:solidFill>
                <a:latin typeface="Arial"/>
                <a:ea typeface="Arial"/>
                <a:cs typeface="Arial"/>
              </a:defRPr>
            </a:pPr>
            <a:r>
              <a:rPr sz="2250" b="0">
                <a:solidFill>
                  <a:srgbClr val="151515"/>
                </a:solidFill>
                <a:latin typeface="Arial"/>
                <a:ea typeface="Arial"/>
                <a:cs typeface="Arial"/>
              </a:rPr>
              <a:t>Nicolás Andrés Useche Castillo</a:t>
            </a:r>
          </a:p>
        </p:txBody>
      </p:sp>
      <p:sp>
        <p:nvSpPr>
          <p:cNvPr id="5" name="">
            <a:extLst xmlns:a="http://schemas.openxmlformats.org/drawingml/2006/main">
              <a:ext uri="{FF2B5EF4-FFF2-40B4-BE49-F238E27FC236}">
                <a16:creationId xmlns:a16="http://schemas.microsoft.com/office/drawing/2014/main" id="{DCB98EB4-C337-4501-A3B5-299B07D746AB}"/>
              </a:ext>
            </a:extLst>
          </p:cNvPr>
          <p:cNvSpPr>
            <a:spLocks xmlns:a="http://schemas.openxmlformats.org/drawingml/2006/main" noGrp="1"/>
          </p:cNvSpPr>
          <p:nvPr/>
        </p:nvSpPr>
        <p:spPr>
          <a:xfrm xmlns:a="http://schemas.openxmlformats.org/drawingml/2006/main">
            <a:off x="723900" y="49149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55555"/>
                </a:solidFill>
                <a:latin typeface="Arial"/>
                <a:ea typeface="Arial"/>
                <a:cs typeface="Arial"/>
              </a:defRPr>
            </a:defPPr>
            <a:lvl1pPr>
              <a:defRPr sz="2100" b="0">
                <a:solidFill>
                  <a:srgbClr val="555555"/>
                </a:solidFill>
                <a:latin typeface="Arial"/>
                <a:ea typeface="Arial"/>
                <a:cs typeface="Arial"/>
              </a:defRPr>
            </a:lvl1pPr>
            <a:lvl2pPr>
              <a:defRPr sz="2100" b="0">
                <a:solidFill>
                  <a:srgbClr val="555555"/>
                </a:solidFill>
                <a:latin typeface="Arial"/>
                <a:ea typeface="Arial"/>
                <a:cs typeface="Arial"/>
              </a:defRPr>
            </a:lvl2pPr>
            <a:lvl3pPr>
              <a:defRPr sz="2100" b="0">
                <a:solidFill>
                  <a:srgbClr val="555555"/>
                </a:solidFill>
                <a:latin typeface="Arial"/>
                <a:ea typeface="Arial"/>
                <a:cs typeface="Arial"/>
              </a:defRPr>
            </a:lvl3pPr>
            <a:lvl4pPr>
              <a:defRPr sz="2100" b="0">
                <a:solidFill>
                  <a:srgbClr val="555555"/>
                </a:solidFill>
                <a:latin typeface="Arial"/>
                <a:ea typeface="Arial"/>
                <a:cs typeface="Arial"/>
              </a:defRPr>
            </a:lvl4pPr>
            <a:lvl5pPr>
              <a:defRPr sz="2100" b="0">
                <a:solidFill>
                  <a:srgbClr val="555555"/>
                </a:solidFill>
                <a:latin typeface="Arial"/>
                <a:ea typeface="Arial"/>
                <a:cs typeface="Arial"/>
              </a:defRPr>
            </a:lvl5pPr>
            <a:lvl6pPr>
              <a:defRPr sz="2100" b="0">
                <a:solidFill>
                  <a:srgbClr val="555555"/>
                </a:solidFill>
                <a:latin typeface="Arial"/>
                <a:ea typeface="Arial"/>
                <a:cs typeface="Arial"/>
              </a:defRPr>
            </a:lvl6pPr>
            <a:lvl7pPr>
              <a:defRPr sz="2100" b="0">
                <a:solidFill>
                  <a:srgbClr val="555555"/>
                </a:solidFill>
                <a:latin typeface="Arial"/>
                <a:ea typeface="Arial"/>
                <a:cs typeface="Arial"/>
              </a:defRPr>
            </a:lvl7pPr>
            <a:lvl8pPr>
              <a:defRPr sz="2100" b="0">
                <a:solidFill>
                  <a:srgbClr val="555555"/>
                </a:solidFill>
                <a:latin typeface="Arial"/>
                <a:ea typeface="Arial"/>
                <a:cs typeface="Arial"/>
              </a:defRPr>
            </a:lvl8pPr>
            <a:lvl9pPr>
              <a:defRPr sz="2100" b="0">
                <a:solidFill>
                  <a:srgbClr val="555555"/>
                </a:solidFill>
                <a:latin typeface="Arial"/>
                <a:ea typeface="Arial"/>
                <a:cs typeface="Arial"/>
              </a:defRPr>
            </a:lvl9pPr>
          </a:lstStyle>
          <a:p xmlns:a="http://schemas.openxmlformats.org/drawingml/2006/main">
            <a:pPr>
              <a:lnSpc>
                <a:spcPct val="110000"/>
              </a:lnSpc>
              <a:buNone/>
              <a:defRPr sz="2100" b="0">
                <a:solidFill>
                  <a:srgbClr val="555555"/>
                </a:solidFill>
                <a:latin typeface="Arial"/>
                <a:ea typeface="Arial"/>
                <a:cs typeface="Arial"/>
              </a:defRPr>
            </a:pPr>
            <a:r>
              <a:rPr sz="2100" b="0">
                <a:solidFill>
                  <a:srgbClr val="555555"/>
                </a:solidFill>
                <a:latin typeface="Arial"/>
                <a:ea typeface="Arial"/>
                <a:cs typeface="Arial"/>
              </a:rPr>
              <a:t>Actualización del 20 de octubre de 2026</a:t>
            </a:r>
          </a:p>
        </p:txBody>
      </p:sp>
    </p:spTree>
    <p:extLst>
      <p:ext uri="{BB962C8B-B14F-4D97-AF65-F5344CB8AC3E}">
        <p14:creationId xmlns:p14="http://schemas.microsoft.com/office/powerpoint/2010/main" val="5804187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6AC3FA-B92A-4EE2-B908-19DB2E0215BA}"/>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Alcance de la comparación</a:t>
            </a:r>
          </a:p>
        </p:txBody>
      </p:sp>
      <p:sp>
        <p:nvSpPr>
          <p:cNvPr id="2" name="">
            <a:extLst xmlns:a="http://schemas.openxmlformats.org/drawingml/2006/main">
              <a:ext uri="{FF2B5EF4-FFF2-40B4-BE49-F238E27FC236}">
                <a16:creationId xmlns:a16="http://schemas.microsoft.com/office/drawing/2014/main" id="{9CB6CAC0-AF86-459B-BA34-8D6A6F891EAD}"/>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2C16C298-B6BC-4282-B8F8-199A06DA76BD}"/>
              </a:ext>
            </a:extLst>
          </p:cNvPr>
          <p:cNvSpPr>
            <a:spLocks xmlns:a="http://schemas.openxmlformats.org/drawingml/2006/main" noGrp="1"/>
          </p:cNvSpPr>
          <p:nvPr/>
        </p:nvSpPr>
        <p:spPr>
          <a:xfrm xmlns:a="http://schemas.openxmlformats.org/drawingml/2006/main">
            <a:off x="685800" y="15049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Registros reales de fuentes independientes; sin simultaneidad observada</a:t>
            </a:r>
          </a:p>
        </p:txBody>
      </p:sp>
      <p:sp>
        <p:nvSpPr>
          <p:cNvPr id="4" name="">
            <a:extLst xmlns:a="http://schemas.openxmlformats.org/drawingml/2006/main">
              <a:ext uri="{FF2B5EF4-FFF2-40B4-BE49-F238E27FC236}">
                <a16:creationId xmlns:a16="http://schemas.microsoft.com/office/drawing/2014/main" id="{8FA3742D-6DB4-47FF-847C-2B15161F6350}"/>
              </a:ext>
            </a:extLst>
          </p:cNvPr>
          <p:cNvSpPr>
            <a:spLocks xmlns:a="http://schemas.openxmlformats.org/drawingml/2006/main" noGrp="1"/>
          </p:cNvSpPr>
          <p:nvPr/>
        </p:nvSpPr>
        <p:spPr>
          <a:xfrm xmlns:a="http://schemas.openxmlformats.org/drawingml/2006/main">
            <a:off x="685800" y="256222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Viento convertido a empuje axial prescrito con valor medio libre</a:t>
            </a:r>
          </a:p>
        </p:txBody>
      </p:sp>
      <p:sp>
        <p:nvSpPr>
          <p:cNvPr id="5" name="">
            <a:extLst xmlns:a="http://schemas.openxmlformats.org/drawingml/2006/main">
              <a:ext uri="{FF2B5EF4-FFF2-40B4-BE49-F238E27FC236}">
                <a16:creationId xmlns:a16="http://schemas.microsoft.com/office/drawing/2014/main" id="{C0F1B28F-FCCA-4DF2-B66A-A5524529EB35}"/>
              </a:ext>
            </a:extLst>
          </p:cNvPr>
          <p:cNvSpPr>
            <a:spLocks xmlns:a="http://schemas.openxmlformats.org/drawingml/2006/main" noGrp="1"/>
          </p:cNvSpPr>
          <p:nvPr/>
        </p:nvSpPr>
        <p:spPr>
          <a:xfrm xmlns:a="http://schemas.openxmlformats.org/drawingml/2006/main">
            <a:off x="685800" y="36195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Operadores congelados: comparación estructural exploratoria</a:t>
            </a:r>
          </a:p>
        </p:txBody>
      </p:sp>
      <p:sp>
        <p:nvSpPr>
          <p:cNvPr id="6" name="">
            <a:extLst xmlns:a="http://schemas.openxmlformats.org/drawingml/2006/main">
              <a:ext uri="{FF2B5EF4-FFF2-40B4-BE49-F238E27FC236}">
                <a16:creationId xmlns:a16="http://schemas.microsoft.com/office/drawing/2014/main" id="{47B7B414-7CC4-47A5-8451-9C71A6CA8932}"/>
              </a:ext>
            </a:extLst>
          </p:cNvPr>
          <p:cNvSpPr>
            <a:spLocks xmlns:a="http://schemas.openxmlformats.org/drawingml/2006/main" noGrp="1"/>
          </p:cNvSpPr>
          <p:nvPr/>
        </p:nvSpPr>
        <p:spPr>
          <a:xfrm xmlns:a="http://schemas.openxmlformats.org/drawingml/2006/main">
            <a:off x="685800" y="467677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La respuesta no incluye retroalimentación aerodinámica</a:t>
            </a:r>
          </a:p>
        </p:txBody>
      </p:sp>
    </p:spTree>
    <p:extLst>
      <p:ext uri="{BB962C8B-B14F-4D97-AF65-F5344CB8AC3E}">
        <p14:creationId xmlns:p14="http://schemas.microsoft.com/office/powerpoint/2010/main" val="19226106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43ED729-5B39-44A1-81A5-A2CAEE6D216A}"/>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Literatura y disponibilidad de datos</a:t>
            </a:r>
          </a:p>
        </p:txBody>
      </p:sp>
      <p:sp>
        <p:nvSpPr>
          <p:cNvPr id="2" name="">
            <a:extLst xmlns:a="http://schemas.openxmlformats.org/drawingml/2006/main">
              <a:ext uri="{FF2B5EF4-FFF2-40B4-BE49-F238E27FC236}">
                <a16:creationId xmlns:a16="http://schemas.microsoft.com/office/drawing/2014/main" id="{3B75588A-A78F-45E7-ADFD-AEE4B4BEABC1}"/>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4DDF828E-9A4C-4CFA-AC43-7491365C37A5}"/>
              </a:ext>
            </a:extLst>
          </p:cNvPr>
          <p:cNvGraphicFramePr/>
          <p:nvPr/>
        </p:nvGraphicFramePr>
        <p:xfrm>
          <a:off xmlns:a="http://schemas.openxmlformats.org/drawingml/2006/main" x="609600" y="1504950"/>
          <a:ext xmlns:a="http://schemas.openxmlformats.org/drawingml/2006/main" cx="10972800" cy="3829050"/>
        </p:xfrm>
        <a:graphic xmlns:a="http://schemas.openxmlformats.org/drawingml/2006/main">
          <a:graphicData uri="http://schemas.openxmlformats.org/drawingml/2006/table">
            <a:tbl>
              <a:tblPr/>
              <a:tblGrid>
                <a:gridCol w="2809875"/>
                <a:gridCol w="4238625"/>
                <a:gridCol w="3924300"/>
              </a:tblGrid>
              <a:tr h="765810">
                <a:tc>
                  <a:txBody>
                    <a:bodyPr>
                      <a:noAutofit/>
                    </a:bodyPr>
                    <a:lstStyle/>
                    <a:p>
                      <a:r>
                        <a:rPr sz="1950" b="1">
                          <a:solidFill>
                            <a:srgbClr val="151515"/>
                          </a:solidFill>
                          <a:latin typeface="Arial"/>
                          <a:ea typeface="Arial"/>
                          <a:cs typeface="Arial"/>
                        </a:rPr>
                        <a:t>Referencia</a:t>
                      </a:r>
                    </a:p>
                  </a:txBody>
                  <a:tcPr marL="91440" marR="91440" marT="45720" marB="45720" anchor="ctr">
                    <a:lnL w="7620">
                      <a:solidFill>
                        <a:srgbClr val="D2D2D2"/>
                      </a:solidFill>
                      <a:prstDash val="solid"/>
                    </a:lnL>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c>
                  <a:txBody>
                    <a:bodyPr>
                      <a:noAutofit/>
                    </a:bodyPr>
                    <a:lstStyle/>
                    <a:p>
                      <a:r>
                        <a:rPr sz="1950" b="1">
                          <a:solidFill>
                            <a:srgbClr val="151515"/>
                          </a:solidFill>
                          <a:latin typeface="Arial"/>
                          <a:ea typeface="Arial"/>
                          <a:cs typeface="Arial"/>
                        </a:rPr>
                        <a:t>Entradas disponibles</a:t>
                      </a:r>
                    </a:p>
                  </a:txBody>
                  <a:tcPr marL="91440" marR="91440" marT="45720" marB="45720" anchor="ctr">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c>
                  <a:txBody>
                    <a:bodyPr>
                      <a:noAutofit/>
                    </a:bodyPr>
                    <a:lstStyle/>
                    <a:p>
                      <a:r>
                        <a:rPr sz="1950" b="1">
                          <a:solidFill>
                            <a:srgbClr val="151515"/>
                          </a:solidFill>
                          <a:latin typeface="Arial"/>
                          <a:ea typeface="Arial"/>
                          <a:cs typeface="Arial"/>
                        </a:rPr>
                        <a:t>Uso en el estudio</a:t>
                      </a:r>
                    </a:p>
                  </a:txBody>
                  <a:tcPr marL="91440" marR="91440" marT="45720" marB="45720" anchor="ctr">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r>
              <a:tr h="765810">
                <a:tc>
                  <a:txBody>
                    <a:bodyPr>
                      <a:noAutofit/>
                    </a:bodyPr>
                    <a:lstStyle/>
                    <a:p>
                      <a:r>
                        <a:rPr sz="1950" b="0">
                          <a:solidFill>
                            <a:srgbClr val="151515"/>
                          </a:solidFill>
                          <a:latin typeface="Arial"/>
                          <a:ea typeface="Arial"/>
                          <a:cs typeface="Arial"/>
                        </a:rPr>
                        <a:t>Wang et al., 2026</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Sismo PEER + viento sintético</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Referencia reproducible; archivo OPJU</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765810">
                <a:tc>
                  <a:txBody>
                    <a:bodyPr>
                      <a:noAutofit/>
                    </a:bodyPr>
                    <a:lstStyle/>
                    <a:p>
                      <a:r>
                        <a:rPr sz="1950" b="0">
                          <a:solidFill>
                            <a:srgbClr val="151515"/>
                          </a:solidFill>
                          <a:latin typeface="Arial"/>
                          <a:ea typeface="Arial"/>
                          <a:cs typeface="Arial"/>
                        </a:rPr>
                        <a:t>Meng et al., 2020</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Mesa sísmica + viento de laboratorio</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Importancia del amortiguamiento aero.</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765810">
                <a:tc>
                  <a:txBody>
                    <a:bodyPr>
                      <a:noAutofit/>
                    </a:bodyPr>
                    <a:lstStyle/>
                    <a:p>
                      <a:r>
                        <a:rPr sz="1950" b="0">
                          <a:solidFill>
                            <a:srgbClr val="151515"/>
                          </a:solidFill>
                          <a:latin typeface="Arial"/>
                          <a:ea typeface="Arial"/>
                          <a:cs typeface="Arial"/>
                        </a:rPr>
                        <a:t>DTU, NM92</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Viento medido a 25 Hz</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Historia de viento utilizada</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765810">
                <a:tc>
                  <a:txBody>
                    <a:bodyPr>
                      <a:noAutofit/>
                    </a:bodyPr>
                    <a:lstStyle/>
                    <a:p>
                      <a:r>
                        <a:rPr sz="1950" b="0">
                          <a:solidFill>
                            <a:srgbClr val="151515"/>
                          </a:solidFill>
                          <a:latin typeface="Arial"/>
                          <a:ea typeface="Arial"/>
                          <a:cs typeface="Arial"/>
                        </a:rPr>
                        <a:t>OpenSees / PEER</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Acelerogramas procesados</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Entradas sísmicas sin escalar</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bl>
          </a:graphicData>
        </a:graphic>
      </p:graphicFrame>
    </p:spTree>
    <p:extLst>
      <p:ext uri="{BB962C8B-B14F-4D97-AF65-F5344CB8AC3E}">
        <p14:creationId xmlns:p14="http://schemas.microsoft.com/office/powerpoint/2010/main" val="20163607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EEDD1D-1CC4-4368-8269-1CA88C89D133}"/>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Registros utilizados</a:t>
            </a:r>
          </a:p>
        </p:txBody>
      </p:sp>
      <p:sp>
        <p:nvSpPr>
          <p:cNvPr id="2" name="">
            <a:extLst xmlns:a="http://schemas.openxmlformats.org/drawingml/2006/main">
              <a:ext uri="{FF2B5EF4-FFF2-40B4-BE49-F238E27FC236}">
                <a16:creationId xmlns:a16="http://schemas.microsoft.com/office/drawing/2014/main" id="{A8A80C5D-F646-4011-985D-6F9BC9742DDE}"/>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00DA2117-8B11-44EE-83B1-F379B8F73C8E}"/>
              </a:ext>
            </a:extLst>
          </p:cNvPr>
          <p:cNvPicPr>
            <a:picLocks xmlns:a="http://schemas.openxmlformats.org/drawingml/2006/main" noChangeAspect="1"/>
          </p:cNvPicPr>
          <p:nvPr/>
        </p:nvPicPr>
        <p:blipFill>
          <a:blip xmlns:r="http://schemas.openxmlformats.org/officeDocument/2006/relationships" xmlns:a="http://schemas.openxmlformats.org/drawingml/2006/main" r:embed="Re038ace0005345c6"/>
          <a:stretch xmlns:a="http://schemas.openxmlformats.org/drawingml/2006/main"/>
        </p:blipFill>
        <p:spPr>
          <a:xfrm xmlns:a="http://schemas.openxmlformats.org/drawingml/2006/main">
            <a:off x="740502" y="1333500"/>
            <a:ext cx="10710997"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C957A7B-9A97-482B-ACEB-F71188E90DB2}"/>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DTU: media 6,134 m/s; turbulencia longitudinal 4,25 %. Arleta: PGA 0,308 g</a:t>
            </a:r>
          </a:p>
        </p:txBody>
      </p:sp>
    </p:spTree>
    <p:extLst>
      <p:ext uri="{BB962C8B-B14F-4D97-AF65-F5344CB8AC3E}">
        <p14:creationId xmlns:p14="http://schemas.microsoft.com/office/powerpoint/2010/main" val="5239053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B39C8E-6C84-4A5C-B208-160128E243A5}"/>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Del viento medido al empuje parametrizado</a:t>
            </a:r>
          </a:p>
        </p:txBody>
      </p:sp>
      <p:sp>
        <p:nvSpPr>
          <p:cNvPr id="2" name="">
            <a:extLst xmlns:a="http://schemas.openxmlformats.org/drawingml/2006/main">
              <a:ext uri="{FF2B5EF4-FFF2-40B4-BE49-F238E27FC236}">
                <a16:creationId xmlns:a16="http://schemas.microsoft.com/office/drawing/2014/main" id="{A4032A1E-5A64-454F-9F07-87E7D73B2D26}"/>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02069B0C-75DD-4E47-9E47-A995DC3D5DB4}"/>
              </a:ext>
            </a:extLst>
          </p:cNvPr>
          <p:cNvSpPr>
            <a:spLocks xmlns:a="http://schemas.openxmlformats.org/drawingml/2006/main" noGrp="1"/>
          </p:cNvSpPr>
          <p:nvPr/>
        </p:nvSpPr>
        <p:spPr>
          <a:xfrm xmlns:a="http://schemas.openxmlformats.org/drawingml/2006/main">
            <a:off x="742950" y="17145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vl1pPr>
              <a:defRPr sz="3300" b="1">
                <a:solidFill>
                  <a:srgbClr val="151515"/>
                </a:solidFill>
                <a:latin typeface="Arial"/>
                <a:ea typeface="Arial"/>
                <a:cs typeface="Arial"/>
              </a:defRPr>
            </a:lvl1pPr>
            <a:lvl2pPr>
              <a:defRPr sz="3300" b="1">
                <a:solidFill>
                  <a:srgbClr val="151515"/>
                </a:solidFill>
                <a:latin typeface="Arial"/>
                <a:ea typeface="Arial"/>
                <a:cs typeface="Arial"/>
              </a:defRPr>
            </a:lvl2pPr>
            <a:lvl3pPr>
              <a:defRPr sz="3300" b="1">
                <a:solidFill>
                  <a:srgbClr val="151515"/>
                </a:solidFill>
                <a:latin typeface="Arial"/>
                <a:ea typeface="Arial"/>
                <a:cs typeface="Arial"/>
              </a:defRPr>
            </a:lvl3pPr>
            <a:lvl4pPr>
              <a:defRPr sz="3300" b="1">
                <a:solidFill>
                  <a:srgbClr val="151515"/>
                </a:solidFill>
                <a:latin typeface="Arial"/>
                <a:ea typeface="Arial"/>
                <a:cs typeface="Arial"/>
              </a:defRPr>
            </a:lvl4pPr>
            <a:lvl5pPr>
              <a:defRPr sz="3300" b="1">
                <a:solidFill>
                  <a:srgbClr val="151515"/>
                </a:solidFill>
                <a:latin typeface="Arial"/>
                <a:ea typeface="Arial"/>
                <a:cs typeface="Arial"/>
              </a:defRPr>
            </a:lvl5pPr>
            <a:lvl6pPr>
              <a:defRPr sz="3300" b="1">
                <a:solidFill>
                  <a:srgbClr val="151515"/>
                </a:solidFill>
                <a:latin typeface="Arial"/>
                <a:ea typeface="Arial"/>
                <a:cs typeface="Arial"/>
              </a:defRPr>
            </a:lvl6pPr>
            <a:lvl7pPr>
              <a:defRPr sz="3300" b="1">
                <a:solidFill>
                  <a:srgbClr val="151515"/>
                </a:solidFill>
                <a:latin typeface="Arial"/>
                <a:ea typeface="Arial"/>
                <a:cs typeface="Arial"/>
              </a:defRPr>
            </a:lvl7pPr>
            <a:lvl8pPr>
              <a:defRPr sz="3300" b="1">
                <a:solidFill>
                  <a:srgbClr val="151515"/>
                </a:solidFill>
                <a:latin typeface="Arial"/>
                <a:ea typeface="Arial"/>
                <a:cs typeface="Arial"/>
              </a:defRPr>
            </a:lvl8pPr>
            <a:lvl9pPr>
              <a:defRPr sz="3300" b="1">
                <a:solidFill>
                  <a:srgbClr val="151515"/>
                </a:solidFill>
                <a:latin typeface="Arial"/>
                <a:ea typeface="Arial"/>
                <a:cs typeface="Arial"/>
              </a:defRPr>
            </a:lvl9pPr>
          </a:lstStyle>
          <a:p xmlns:a="http://schemas.openxmlformats.org/drawingml/2006/main">
            <a:pPr>
              <a:lnSpc>
                <a:spcPct val="110000"/>
              </a:lnSpc>
              <a:buNone/>
              <a:defRPr sz="3300" b="1">
                <a:solidFill>
                  <a:srgbClr val="151515"/>
                </a:solidFill>
                <a:latin typeface="Arial"/>
                <a:ea typeface="Arial"/>
                <a:cs typeface="Arial"/>
              </a:defRPr>
            </a:pPr>
            <a:r>
              <a:rPr sz="3300" b="1">
                <a:solidFill>
                  <a:srgbClr val="151515"/>
                </a:solidFill>
                <a:latin typeface="Arial"/>
                <a:ea typeface="Arial"/>
                <a:cs typeface="Arial"/>
              </a:rPr>
              <a:t>F(t) = F̄ · U(t)² / ⟨U²⟩</a:t>
            </a:r>
          </a:p>
        </p:txBody>
      </p:sp>
      <p:sp>
        <p:nvSpPr>
          <p:cNvPr id="4" name="">
            <a:extLst xmlns:a="http://schemas.openxmlformats.org/drawingml/2006/main">
              <a:ext uri="{FF2B5EF4-FFF2-40B4-BE49-F238E27FC236}">
                <a16:creationId xmlns:a16="http://schemas.microsoft.com/office/drawing/2014/main" id="{E0CC51A3-61ED-44F5-B163-51BC5F81F984}"/>
              </a:ext>
            </a:extLst>
          </p:cNvPr>
          <p:cNvSpPr>
            <a:spLocks xmlns:a="http://schemas.openxmlformats.org/drawingml/2006/main" noGrp="1"/>
          </p:cNvSpPr>
          <p:nvPr/>
        </p:nvSpPr>
        <p:spPr>
          <a:xfrm xmlns:a="http://schemas.openxmlformats.org/drawingml/2006/main">
            <a:off x="685800" y="280035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F̄ permanece como parámetro; la respuesta se entrega por 1 kN medio</a:t>
            </a:r>
          </a:p>
        </p:txBody>
      </p:sp>
      <p:sp>
        <p:nvSpPr>
          <p:cNvPr id="5" name="">
            <a:extLst xmlns:a="http://schemas.openxmlformats.org/drawingml/2006/main">
              <a:ext uri="{FF2B5EF4-FFF2-40B4-BE49-F238E27FC236}">
                <a16:creationId xmlns:a16="http://schemas.microsoft.com/office/drawing/2014/main" id="{D17038AB-C330-4F37-B28C-0AB95412DBE0}"/>
              </a:ext>
            </a:extLst>
          </p:cNvPr>
          <p:cNvSpPr>
            <a:spLocks xmlns:a="http://schemas.openxmlformats.org/drawingml/2006/main" noGrp="1"/>
          </p:cNvSpPr>
          <p:nvPr/>
        </p:nvSpPr>
        <p:spPr>
          <a:xfrm xmlns:a="http://schemas.openxmlformats.org/drawingml/2006/main">
            <a:off x="685800" y="377190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Carga axial en el buje, según el eje 129–130 del modelo</a:t>
            </a:r>
          </a:p>
        </p:txBody>
      </p:sp>
      <p:sp>
        <p:nvSpPr>
          <p:cNvPr id="6" name="">
            <a:extLst xmlns:a="http://schemas.openxmlformats.org/drawingml/2006/main">
              <a:ext uri="{FF2B5EF4-FFF2-40B4-BE49-F238E27FC236}">
                <a16:creationId xmlns:a16="http://schemas.microsoft.com/office/drawing/2014/main" id="{50940EE4-65FE-4DD8-99B7-23232D6F4CCF}"/>
              </a:ext>
            </a:extLst>
          </p:cNvPr>
          <p:cNvSpPr>
            <a:spLocks xmlns:a="http://schemas.openxmlformats.org/drawingml/2006/main" noGrp="1"/>
          </p:cNvSpPr>
          <p:nvPr/>
        </p:nvSpPr>
        <p:spPr>
          <a:xfrm xmlns:a="http://schemas.openxmlformats.org/drawingml/2006/main">
            <a:off x="685800" y="474345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Misma historia de viento para cada perturbación mecánica</a:t>
            </a:r>
          </a:p>
        </p:txBody>
      </p:sp>
      <p:sp>
        <p:nvSpPr>
          <p:cNvPr id="7" name="">
            <a:extLst xmlns:a="http://schemas.openxmlformats.org/drawingml/2006/main">
              <a:ext uri="{FF2B5EF4-FFF2-40B4-BE49-F238E27FC236}">
                <a16:creationId xmlns:a16="http://schemas.microsoft.com/office/drawing/2014/main" id="{E4937E5D-9A8D-475E-AEA3-9250390E7505}"/>
              </a:ext>
            </a:extLst>
          </p:cNvPr>
          <p:cNvSpPr>
            <a:spLocks xmlns:a="http://schemas.openxmlformats.org/drawingml/2006/main" noGrp="1"/>
          </p:cNvSpPr>
          <p:nvPr/>
        </p:nvSpPr>
        <p:spPr>
          <a:xfrm xmlns:a="http://schemas.openxmlformats.org/drawingml/2006/main">
            <a:off x="742950" y="58102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444444"/>
                </a:solidFill>
                <a:latin typeface="Arial"/>
                <a:ea typeface="Arial"/>
                <a:cs typeface="Arial"/>
              </a:defRPr>
            </a:defPPr>
            <a:lvl1pPr>
              <a:defRPr sz="1950" b="0">
                <a:solidFill>
                  <a:srgbClr val="444444"/>
                </a:solidFill>
                <a:latin typeface="Arial"/>
                <a:ea typeface="Arial"/>
                <a:cs typeface="Arial"/>
              </a:defRPr>
            </a:lvl1pPr>
            <a:lvl2pPr>
              <a:defRPr sz="1950" b="0">
                <a:solidFill>
                  <a:srgbClr val="444444"/>
                </a:solidFill>
                <a:latin typeface="Arial"/>
                <a:ea typeface="Arial"/>
                <a:cs typeface="Arial"/>
              </a:defRPr>
            </a:lvl2pPr>
            <a:lvl3pPr>
              <a:defRPr sz="1950" b="0">
                <a:solidFill>
                  <a:srgbClr val="444444"/>
                </a:solidFill>
                <a:latin typeface="Arial"/>
                <a:ea typeface="Arial"/>
                <a:cs typeface="Arial"/>
              </a:defRPr>
            </a:lvl3pPr>
            <a:lvl4pPr>
              <a:defRPr sz="1950" b="0">
                <a:solidFill>
                  <a:srgbClr val="444444"/>
                </a:solidFill>
                <a:latin typeface="Arial"/>
                <a:ea typeface="Arial"/>
                <a:cs typeface="Arial"/>
              </a:defRPr>
            </a:lvl4pPr>
            <a:lvl5pPr>
              <a:defRPr sz="1950" b="0">
                <a:solidFill>
                  <a:srgbClr val="444444"/>
                </a:solidFill>
                <a:latin typeface="Arial"/>
                <a:ea typeface="Arial"/>
                <a:cs typeface="Arial"/>
              </a:defRPr>
            </a:lvl5pPr>
            <a:lvl6pPr>
              <a:defRPr sz="1950" b="0">
                <a:solidFill>
                  <a:srgbClr val="444444"/>
                </a:solidFill>
                <a:latin typeface="Arial"/>
                <a:ea typeface="Arial"/>
                <a:cs typeface="Arial"/>
              </a:defRPr>
            </a:lvl6pPr>
            <a:lvl7pPr>
              <a:defRPr sz="1950" b="0">
                <a:solidFill>
                  <a:srgbClr val="444444"/>
                </a:solidFill>
                <a:latin typeface="Arial"/>
                <a:ea typeface="Arial"/>
                <a:cs typeface="Arial"/>
              </a:defRPr>
            </a:lvl7pPr>
            <a:lvl8pPr>
              <a:defRPr sz="1950" b="0">
                <a:solidFill>
                  <a:srgbClr val="444444"/>
                </a:solidFill>
                <a:latin typeface="Arial"/>
                <a:ea typeface="Arial"/>
                <a:cs typeface="Arial"/>
              </a:defRPr>
            </a:lvl8pPr>
            <a:lvl9pPr>
              <a:defRPr sz="1950" b="0">
                <a:solidFill>
                  <a:srgbClr val="444444"/>
                </a:solidFill>
                <a:latin typeface="Arial"/>
                <a:ea typeface="Arial"/>
                <a:cs typeface="Arial"/>
              </a:defRPr>
            </a:lvl9pPr>
          </a:lstStyle>
          <a:p xmlns:a="http://schemas.openxmlformats.org/drawingml/2006/main">
            <a:pPr>
              <a:lnSpc>
                <a:spcPct val="110000"/>
              </a:lnSpc>
              <a:buNone/>
              <a:defRPr sz="1950" b="0">
                <a:solidFill>
                  <a:srgbClr val="444444"/>
                </a:solidFill>
                <a:latin typeface="Arial"/>
                <a:ea typeface="Arial"/>
                <a:cs typeface="Arial"/>
              </a:defRPr>
            </a:pPr>
            <a:r>
              <a:rPr sz="1950" b="0">
                <a:solidFill>
                  <a:srgbClr val="444444"/>
                </a:solidFill>
                <a:latin typeface="Arial"/>
                <a:ea typeface="Arial"/>
                <a:cs typeface="Arial"/>
              </a:rPr>
              <a:t>Fref = 554.7 kN es una escala de comparación calculada, sin valor de diseño</a:t>
            </a:r>
          </a:p>
        </p:txBody>
      </p:sp>
    </p:spTree>
    <p:extLst>
      <p:ext uri="{BB962C8B-B14F-4D97-AF65-F5344CB8AC3E}">
        <p14:creationId xmlns:p14="http://schemas.microsoft.com/office/powerpoint/2010/main" val="10708919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512662-54E0-4594-B8DF-A7A79DFEFDA5}"/>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Contenido frecuencial de las entradas</a:t>
            </a:r>
          </a:p>
        </p:txBody>
      </p:sp>
      <p:sp>
        <p:nvSpPr>
          <p:cNvPr id="2" name="">
            <a:extLst xmlns:a="http://schemas.openxmlformats.org/drawingml/2006/main">
              <a:ext uri="{FF2B5EF4-FFF2-40B4-BE49-F238E27FC236}">
                <a16:creationId xmlns:a16="http://schemas.microsoft.com/office/drawing/2014/main" id="{4FE1341B-AC9C-434A-B1E0-4A905322EBAB}"/>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07ECCF34-A2B0-4667-B8A6-F95BAD7130C4}"/>
              </a:ext>
            </a:extLst>
          </p:cNvPr>
          <p:cNvPicPr>
            <a:picLocks xmlns:a="http://schemas.openxmlformats.org/drawingml/2006/main" noChangeAspect="1"/>
          </p:cNvPicPr>
          <p:nvPr/>
        </p:nvPicPr>
        <p:blipFill>
          <a:blip xmlns:r="http://schemas.openxmlformats.org/officeDocument/2006/relationships" xmlns:a="http://schemas.openxmlformats.org/drawingml/2006/main" r:embed="Rd6ba1574a9e84a80"/>
          <a:stretch xmlns:a="http://schemas.openxmlformats.org/drawingml/2006/main"/>
        </p:blipFill>
        <p:spPr>
          <a:xfrm xmlns:a="http://schemas.openxmlformats.org/drawingml/2006/main">
            <a:off x="609600" y="1497392"/>
            <a:ext cx="10972800" cy="410134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77D3967-BFE9-4273-B6B8-1E4C23A329E1}"/>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Las formas espectrales ayudan a interpretar la excitación; la participación modal también importa</a:t>
            </a:r>
          </a:p>
        </p:txBody>
      </p:sp>
    </p:spTree>
    <p:extLst>
      <p:ext uri="{BB962C8B-B14F-4D97-AF65-F5344CB8AC3E}">
        <p14:creationId xmlns:p14="http://schemas.microsoft.com/office/powerpoint/2010/main" val="17272142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A38C42E-DDC5-4084-ADF2-A8F076DE55CC}"/>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Respuesta ante los acelerogramas reales</a:t>
            </a:r>
          </a:p>
        </p:txBody>
      </p:sp>
      <p:sp>
        <p:nvSpPr>
          <p:cNvPr id="2" name="">
            <a:extLst xmlns:a="http://schemas.openxmlformats.org/drawingml/2006/main">
              <a:ext uri="{FF2B5EF4-FFF2-40B4-BE49-F238E27FC236}">
                <a16:creationId xmlns:a16="http://schemas.microsoft.com/office/drawing/2014/main" id="{83950B38-49D8-4562-B465-140129831AF5}"/>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BE9EB0A2-F830-447D-BF0D-D0B6714E2F5A}"/>
              </a:ext>
            </a:extLst>
          </p:cNvPr>
          <p:cNvPicPr>
            <a:picLocks xmlns:a="http://schemas.openxmlformats.org/drawingml/2006/main" noChangeAspect="1"/>
          </p:cNvPicPr>
          <p:nvPr/>
        </p:nvPicPr>
        <p:blipFill>
          <a:blip xmlns:r="http://schemas.openxmlformats.org/officeDocument/2006/relationships" xmlns:a="http://schemas.openxmlformats.org/drawingml/2006/main" r:embed="R7fd83f400b994f35"/>
          <a:stretch xmlns:a="http://schemas.openxmlformats.org/drawingml/2006/main"/>
        </p:blipFill>
        <p:spPr>
          <a:xfrm xmlns:a="http://schemas.openxmlformats.org/drawingml/2006/main">
            <a:off x="609600" y="1396342"/>
            <a:ext cx="10972800" cy="430344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14B39D8-620A-46C6-8F22-158CD95F5448}"/>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Desplazamiento relativo y aceleración absoluta de góndola; registros sin escalar</a:t>
            </a:r>
          </a:p>
        </p:txBody>
      </p:sp>
    </p:spTree>
    <p:extLst>
      <p:ext uri="{BB962C8B-B14F-4D97-AF65-F5344CB8AC3E}">
        <p14:creationId xmlns:p14="http://schemas.microsoft.com/office/powerpoint/2010/main" val="11995868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F87D06E-5D58-4690-AD7E-F85913723930}"/>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Verificación numérica</a:t>
            </a:r>
          </a:p>
        </p:txBody>
      </p:sp>
      <p:sp>
        <p:nvSpPr>
          <p:cNvPr id="2" name="">
            <a:extLst xmlns:a="http://schemas.openxmlformats.org/drawingml/2006/main">
              <a:ext uri="{FF2B5EF4-FFF2-40B4-BE49-F238E27FC236}">
                <a16:creationId xmlns:a16="http://schemas.microsoft.com/office/drawing/2014/main" id="{4508BA72-9836-4098-8532-24EF16CCDAD0}"/>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D7A7DF4C-248D-403F-A0D0-D2A43CFD12E6}"/>
              </a:ext>
            </a:extLst>
          </p:cNvPr>
          <p:cNvGraphicFramePr/>
          <p:nvPr/>
        </p:nvGraphicFramePr>
        <p:xfrm>
          <a:off xmlns:a="http://schemas.openxmlformats.org/drawingml/2006/main" x="609600" y="1504950"/>
          <a:ext xmlns:a="http://schemas.openxmlformats.org/drawingml/2006/main" cx="10972800" cy="3943350"/>
        </p:xfrm>
        <a:graphic xmlns:a="http://schemas.openxmlformats.org/drawingml/2006/main">
          <a:graphicData uri="http://schemas.openxmlformats.org/drawingml/2006/table">
            <a:tbl>
              <a:tblPr/>
              <a:tblGrid>
                <a:gridCol w="4000500"/>
                <a:gridCol w="2857500"/>
                <a:gridCol w="4114800"/>
              </a:tblGrid>
              <a:tr h="657225">
                <a:tc>
                  <a:txBody>
                    <a:bodyPr>
                      <a:noAutofit/>
                    </a:bodyPr>
                    <a:lstStyle/>
                    <a:p>
                      <a:r>
                        <a:rPr sz="1875" b="1">
                          <a:solidFill>
                            <a:srgbClr val="151515"/>
                          </a:solidFill>
                          <a:latin typeface="Arial"/>
                          <a:ea typeface="Arial"/>
                          <a:cs typeface="Arial"/>
                        </a:rPr>
                        <a:t>Control</a:t>
                      </a:r>
                    </a:p>
                  </a:txBody>
                  <a:tcPr marL="91440" marR="91440" marT="45720" marB="45720" anchor="ctr">
                    <a:lnL w="7620">
                      <a:solidFill>
                        <a:srgbClr val="D2D2D2"/>
                      </a:solidFill>
                      <a:prstDash val="solid"/>
                    </a:lnL>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c>
                  <a:txBody>
                    <a:bodyPr>
                      <a:noAutofit/>
                    </a:bodyPr>
                    <a:lstStyle/>
                    <a:p>
                      <a:r>
                        <a:rPr sz="1875" b="1">
                          <a:solidFill>
                            <a:srgbClr val="151515"/>
                          </a:solidFill>
                          <a:latin typeface="Arial"/>
                          <a:ea typeface="Arial"/>
                          <a:cs typeface="Arial"/>
                        </a:rPr>
                        <a:t>Resultado</a:t>
                      </a:r>
                    </a:p>
                  </a:txBody>
                  <a:tcPr marL="91440" marR="91440" marT="45720" marB="45720" anchor="ctr">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c>
                  <a:txBody>
                    <a:bodyPr>
                      <a:noAutofit/>
                    </a:bodyPr>
                    <a:lstStyle/>
                    <a:p>
                      <a:r>
                        <a:rPr sz="1875" b="1">
                          <a:solidFill>
                            <a:srgbClr val="151515"/>
                          </a:solidFill>
                          <a:latin typeface="Arial"/>
                          <a:ea typeface="Arial"/>
                          <a:cs typeface="Arial"/>
                        </a:rPr>
                        <a:t>Interpretación</a:t>
                      </a:r>
                    </a:p>
                  </a:txBody>
                  <a:tcPr marL="91440" marR="91440" marT="45720" marB="45720" anchor="ctr">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r>
              <a:tr h="657225">
                <a:tc>
                  <a:txBody>
                    <a:bodyPr>
                      <a:noAutofit/>
                    </a:bodyPr>
                    <a:lstStyle/>
                    <a:p>
                      <a:r>
                        <a:rPr sz="1875" b="0">
                          <a:solidFill>
                            <a:srgbClr val="151515"/>
                          </a:solidFill>
                          <a:latin typeface="Arial"/>
                          <a:ea typeface="Arial"/>
                          <a:cs typeface="Arial"/>
                        </a:rPr>
                        <a:t>Casos de comparación</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114</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Fuentes físicas previas conservadas</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657225">
                <a:tc>
                  <a:txBody>
                    <a:bodyPr>
                      <a:noAutofit/>
                    </a:bodyPr>
                    <a:lstStyle/>
                    <a:p>
                      <a:r>
                        <a:rPr sz="1875" b="0">
                          <a:solidFill>
                            <a:srgbClr val="151515"/>
                          </a:solidFill>
                          <a:latin typeface="Arial"/>
                          <a:ea typeface="Arial"/>
                          <a:cs typeface="Arial"/>
                        </a:rPr>
                        <a:t>Recuperación de respuesta</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Diferencia relativa &lt; 5 × 10⁻¹¹</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Rutina existente y recuperación por canales</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657225">
                <a:tc>
                  <a:txBody>
                    <a:bodyPr>
                      <a:noAutofit/>
                    </a:bodyPr>
                    <a:lstStyle/>
                    <a:p>
                      <a:r>
                        <a:rPr sz="1875" b="0">
                          <a:solidFill>
                            <a:srgbClr val="151515"/>
                          </a:solidFill>
                          <a:latin typeface="Arial"/>
                          <a:ea typeface="Arial"/>
                          <a:cs typeface="Arial"/>
                        </a:rPr>
                        <a:t>Residuo dinámico máximo</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8.30e-10</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Equilibrio dinámico discretizado</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657225">
                <a:tc>
                  <a:txBody>
                    <a:bodyPr>
                      <a:noAutofit/>
                    </a:bodyPr>
                    <a:lstStyle/>
                    <a:p>
                      <a:r>
                        <a:rPr sz="1875" b="0">
                          <a:solidFill>
                            <a:srgbClr val="151515"/>
                          </a:solidFill>
                          <a:latin typeface="Arial"/>
                          <a:ea typeface="Arial"/>
                          <a:cs typeface="Arial"/>
                        </a:rPr>
                        <a:t>Verificación de la Hessiana</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54 casos</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Misma energía y equilibrio original</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657225">
                <a:tc>
                  <a:txBody>
                    <a:bodyPr>
                      <a:noAutofit/>
                    </a:bodyPr>
                    <a:lstStyle/>
                    <a:p>
                      <a:r>
                        <a:rPr sz="1875" b="0">
                          <a:solidFill>
                            <a:srgbClr val="151515"/>
                          </a:solidFill>
                          <a:latin typeface="Arial"/>
                          <a:ea typeface="Arial"/>
                          <a:cs typeface="Arial"/>
                        </a:rPr>
                        <a:t>Sensibilidades locales aceptadas</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1 de 90</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Filtros de h, tiempo y paso de Hessiana</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305A610-CCBA-4719-AC61-24880BD18689}"/>
              </a:ext>
            </a:extLst>
          </p:cNvPr>
          <p:cNvSpPr>
            <a:spLocks xmlns:a="http://schemas.openxmlformats.org/drawingml/2006/main" noGrp="1"/>
          </p:cNvSpPr>
          <p:nvPr/>
        </p:nvSpPr>
        <p:spPr>
          <a:xfrm xmlns:a="http://schemas.openxmlformats.org/drawingml/2006/main">
            <a:off x="685800" y="60769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51515"/>
                </a:solidFill>
                <a:latin typeface="Arial"/>
                <a:ea typeface="Arial"/>
                <a:cs typeface="Arial"/>
              </a:defRPr>
            </a:defPPr>
            <a:lvl1pPr>
              <a:defRPr sz="2025" b="1">
                <a:solidFill>
                  <a:srgbClr val="151515"/>
                </a:solidFill>
                <a:latin typeface="Arial"/>
                <a:ea typeface="Arial"/>
                <a:cs typeface="Arial"/>
              </a:defRPr>
            </a:lvl1pPr>
            <a:lvl2pPr>
              <a:defRPr sz="2025" b="1">
                <a:solidFill>
                  <a:srgbClr val="151515"/>
                </a:solidFill>
                <a:latin typeface="Arial"/>
                <a:ea typeface="Arial"/>
                <a:cs typeface="Arial"/>
              </a:defRPr>
            </a:lvl2pPr>
            <a:lvl3pPr>
              <a:defRPr sz="2025" b="1">
                <a:solidFill>
                  <a:srgbClr val="151515"/>
                </a:solidFill>
                <a:latin typeface="Arial"/>
                <a:ea typeface="Arial"/>
                <a:cs typeface="Arial"/>
              </a:defRPr>
            </a:lvl3pPr>
            <a:lvl4pPr>
              <a:defRPr sz="2025" b="1">
                <a:solidFill>
                  <a:srgbClr val="151515"/>
                </a:solidFill>
                <a:latin typeface="Arial"/>
                <a:ea typeface="Arial"/>
                <a:cs typeface="Arial"/>
              </a:defRPr>
            </a:lvl4pPr>
            <a:lvl5pPr>
              <a:defRPr sz="2025" b="1">
                <a:solidFill>
                  <a:srgbClr val="151515"/>
                </a:solidFill>
                <a:latin typeface="Arial"/>
                <a:ea typeface="Arial"/>
                <a:cs typeface="Arial"/>
              </a:defRPr>
            </a:lvl5pPr>
            <a:lvl6pPr>
              <a:defRPr sz="2025" b="1">
                <a:solidFill>
                  <a:srgbClr val="151515"/>
                </a:solidFill>
                <a:latin typeface="Arial"/>
                <a:ea typeface="Arial"/>
                <a:cs typeface="Arial"/>
              </a:defRPr>
            </a:lvl6pPr>
            <a:lvl7pPr>
              <a:defRPr sz="2025" b="1">
                <a:solidFill>
                  <a:srgbClr val="151515"/>
                </a:solidFill>
                <a:latin typeface="Arial"/>
                <a:ea typeface="Arial"/>
                <a:cs typeface="Arial"/>
              </a:defRPr>
            </a:lvl7pPr>
            <a:lvl8pPr>
              <a:defRPr sz="2025" b="1">
                <a:solidFill>
                  <a:srgbClr val="151515"/>
                </a:solidFill>
                <a:latin typeface="Arial"/>
                <a:ea typeface="Arial"/>
                <a:cs typeface="Arial"/>
              </a:defRPr>
            </a:lvl8pPr>
            <a:lvl9pPr>
              <a:defRPr sz="2025" b="1">
                <a:solidFill>
                  <a:srgbClr val="151515"/>
                </a:solidFill>
                <a:latin typeface="Arial"/>
                <a:ea typeface="Arial"/>
                <a:cs typeface="Arial"/>
              </a:defRPr>
            </a:lvl9pPr>
          </a:lstStyle>
          <a:p xmlns:a="http://schemas.openxmlformats.org/drawingml/2006/main">
            <a:pPr>
              <a:lnSpc>
                <a:spcPct val="110000"/>
              </a:lnSpc>
              <a:buNone/>
              <a:defRPr sz="2025" b="1">
                <a:solidFill>
                  <a:srgbClr val="151515"/>
                </a:solidFill>
                <a:latin typeface="Arial"/>
                <a:ea typeface="Arial"/>
                <a:cs typeface="Arial"/>
              </a:defRPr>
            </a:pPr>
            <a:r>
              <a:rPr sz="2025" b="1">
                <a:solidFill>
                  <a:srgbClr val="151515"/>
                </a:solidFill>
                <a:latin typeface="Arial"/>
                <a:ea typeface="Arial"/>
                <a:cs typeface="Arial"/>
              </a:rPr>
              <a:t>Es una verificación numérica; falta la validación experimental del modelo</a:t>
            </a:r>
          </a:p>
        </p:txBody>
      </p:sp>
    </p:spTree>
    <p:extLst>
      <p:ext uri="{BB962C8B-B14F-4D97-AF65-F5344CB8AC3E}">
        <p14:creationId xmlns:p14="http://schemas.microsoft.com/office/powerpoint/2010/main" val="52267993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CAB21F-94BF-4595-B56A-0A68205C4580}"/>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Sensibilidad según la entrada</a:t>
            </a:r>
          </a:p>
        </p:txBody>
      </p:sp>
      <p:sp>
        <p:nvSpPr>
          <p:cNvPr id="2" name="">
            <a:extLst xmlns:a="http://schemas.openxmlformats.org/drawingml/2006/main">
              <a:ext uri="{FF2B5EF4-FFF2-40B4-BE49-F238E27FC236}">
                <a16:creationId xmlns:a16="http://schemas.microsoft.com/office/drawing/2014/main" id="{AC867D1A-03FF-4BE9-BB35-C144FEF6648A}"/>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5B71298E-C7C8-4FE9-849B-8AF925AD2205}"/>
              </a:ext>
            </a:extLst>
          </p:cNvPr>
          <p:cNvPicPr>
            <a:picLocks xmlns:a="http://schemas.openxmlformats.org/drawingml/2006/main" noChangeAspect="1"/>
          </p:cNvPicPr>
          <p:nvPr/>
        </p:nvPicPr>
        <p:blipFill>
          <a:blip xmlns:r="http://schemas.openxmlformats.org/officeDocument/2006/relationships" xmlns:a="http://schemas.openxmlformats.org/drawingml/2006/main" r:embed="R4a8a49df7e074cbc"/>
          <a:stretch xmlns:a="http://schemas.openxmlformats.org/drawingml/2006/main"/>
        </p:blipFill>
        <p:spPr>
          <a:xfrm xmlns:a="http://schemas.openxmlformats.org/drawingml/2006/main">
            <a:off x="877162" y="1333500"/>
            <a:ext cx="10437675"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72E1F0D-4B8A-4519-877F-A974AD8828C0}"/>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Símbolos llenos: filtros numéricos superados; símbolos vacíos: sensibilidad no aceptada</a:t>
            </a:r>
          </a:p>
        </p:txBody>
      </p:sp>
    </p:spTree>
    <p:extLst>
      <p:ext uri="{BB962C8B-B14F-4D97-AF65-F5344CB8AC3E}">
        <p14:creationId xmlns:p14="http://schemas.microsoft.com/office/powerpoint/2010/main" val="19073941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A1B15C-0EDA-4010-BE14-C18D1EBF25EF}"/>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Orientación de la acción sísmica</a:t>
            </a:r>
          </a:p>
        </p:txBody>
      </p:sp>
      <p:sp>
        <p:nvSpPr>
          <p:cNvPr id="2" name="">
            <a:extLst xmlns:a="http://schemas.openxmlformats.org/drawingml/2006/main">
              <a:ext uri="{FF2B5EF4-FFF2-40B4-BE49-F238E27FC236}">
                <a16:creationId xmlns:a16="http://schemas.microsoft.com/office/drawing/2014/main" id="{0234BA22-23D8-474B-BB46-BA9C44F35BD7}"/>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79FBE88A-5464-402C-915B-26A97BAEB7E4}"/>
              </a:ext>
            </a:extLst>
          </p:cNvPr>
          <p:cNvPicPr>
            <a:picLocks xmlns:a="http://schemas.openxmlformats.org/drawingml/2006/main" noChangeAspect="1"/>
          </p:cNvPicPr>
          <p:nvPr/>
        </p:nvPicPr>
        <p:blipFill>
          <a:blip xmlns:r="http://schemas.openxmlformats.org/officeDocument/2006/relationships" xmlns:a="http://schemas.openxmlformats.org/drawingml/2006/main" r:embed="Rd7e8177720684939"/>
          <a:stretch xmlns:a="http://schemas.openxmlformats.org/drawingml/2006/main"/>
        </p:blipFill>
        <p:spPr>
          <a:xfrm xmlns:a="http://schemas.openxmlformats.org/drawingml/2006/main">
            <a:off x="801738" y="1333500"/>
            <a:ext cx="10588524"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8D1FDC3-F497-4F3B-8D86-6F274CD6A9AF}"/>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Aplicar el mismo registro en otra dirección cambia la excitación del sistema acoplado</a:t>
            </a:r>
          </a:p>
        </p:txBody>
      </p:sp>
    </p:spTree>
    <p:extLst>
      <p:ext uri="{BB962C8B-B14F-4D97-AF65-F5344CB8AC3E}">
        <p14:creationId xmlns:p14="http://schemas.microsoft.com/office/powerpoint/2010/main" val="1195545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6B77EA-5A8F-456A-88E0-4DF6CB00E813}"/>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Combinación y momento de llegada</a:t>
            </a:r>
          </a:p>
        </p:txBody>
      </p:sp>
      <p:sp>
        <p:nvSpPr>
          <p:cNvPr id="2" name="">
            <a:extLst xmlns:a="http://schemas.openxmlformats.org/drawingml/2006/main">
              <a:ext uri="{FF2B5EF4-FFF2-40B4-BE49-F238E27FC236}">
                <a16:creationId xmlns:a16="http://schemas.microsoft.com/office/drawing/2014/main" id="{F7EB9375-DBD9-42F2-8DE5-8CFB46AEF152}"/>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AFB91CE5-148D-428E-BE1C-DFAB0298961C}"/>
              </a:ext>
            </a:extLst>
          </p:cNvPr>
          <p:cNvPicPr>
            <a:picLocks xmlns:a="http://schemas.openxmlformats.org/drawingml/2006/main" noChangeAspect="1"/>
          </p:cNvPicPr>
          <p:nvPr/>
        </p:nvPicPr>
        <p:blipFill>
          <a:blip xmlns:r="http://schemas.openxmlformats.org/officeDocument/2006/relationships" xmlns:a="http://schemas.openxmlformats.org/drawingml/2006/main" r:embed="Re65c9e173b0c4c60"/>
          <a:stretch xmlns:a="http://schemas.openxmlformats.org/drawingml/2006/main"/>
        </p:blipFill>
        <p:spPr>
          <a:xfrm xmlns:a="http://schemas.openxmlformats.org/drawingml/2006/main">
            <a:off x="905237" y="1333500"/>
            <a:ext cx="10381526"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EC91CA4-D95C-4A22-867E-8EDD1D339E51}"/>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La combinación de máximos separados pierde la información de fase de las historias</a:t>
            </a:r>
          </a:p>
        </p:txBody>
      </p:sp>
    </p:spTree>
    <p:extLst>
      <p:ext uri="{BB962C8B-B14F-4D97-AF65-F5344CB8AC3E}">
        <p14:creationId xmlns:p14="http://schemas.microsoft.com/office/powerpoint/2010/main" val="17427912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AB52A7D-4D8D-4D88-BBE1-411866841109}"/>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Sensibilidad a las amplitudes de entrada</a:t>
            </a:r>
          </a:p>
        </p:txBody>
      </p:sp>
      <p:sp>
        <p:nvSpPr>
          <p:cNvPr id="2" name="">
            <a:extLst xmlns:a="http://schemas.openxmlformats.org/drawingml/2006/main">
              <a:ext uri="{FF2B5EF4-FFF2-40B4-BE49-F238E27FC236}">
                <a16:creationId xmlns:a16="http://schemas.microsoft.com/office/drawing/2014/main" id="{1484FAE1-B3B5-4973-9941-4A6796E92391}"/>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12</a:t>
            </a:r>
          </a:p>
        </p:txBody>
      </p:sp>
      <p:pic>
        <p:nvPicPr>
          <p:cNvPr id="3" name="">
            <a:extLst xmlns:a="http://schemas.openxmlformats.org/drawingml/2006/main">
              <a:ext uri="{FF2B5EF4-FFF2-40B4-BE49-F238E27FC236}">
                <a16:creationId xmlns:a16="http://schemas.microsoft.com/office/drawing/2014/main" id="{8162FEA5-0EE6-4790-A129-7A7A63F7BD66}"/>
              </a:ext>
            </a:extLst>
          </p:cNvPr>
          <p:cNvPicPr>
            <a:picLocks xmlns:a="http://schemas.openxmlformats.org/drawingml/2006/main" noChangeAspect="1"/>
          </p:cNvPicPr>
          <p:nvPr/>
        </p:nvPicPr>
        <p:blipFill>
          <a:blip xmlns:r="http://schemas.openxmlformats.org/officeDocument/2006/relationships" xmlns:a="http://schemas.openxmlformats.org/drawingml/2006/main" r:embed="R81ca99cdea2c4258"/>
          <a:stretch xmlns:a="http://schemas.openxmlformats.org/drawingml/2006/main"/>
        </p:blipFill>
        <p:spPr>
          <a:xfrm xmlns:a="http://schemas.openxmlformats.org/drawingml/2006/main">
            <a:off x="684751" y="1333500"/>
            <a:ext cx="10822498"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DD291BB-052B-441C-B255-0D1626FE69F0}"/>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La dependencia respecto de amplitudes puede estudiarse sin aceptar pendientes mecánicas no resueltas</a:t>
            </a:r>
          </a:p>
        </p:txBody>
      </p:sp>
    </p:spTree>
    <p:extLst>
      <p:ext uri="{BB962C8B-B14F-4D97-AF65-F5344CB8AC3E}">
        <p14:creationId xmlns:p14="http://schemas.microsoft.com/office/powerpoint/2010/main" val="5547595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4973C8-F5A6-4D04-99F0-1065A1544536}"/>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Conclusiones comparativas</a:t>
            </a:r>
          </a:p>
        </p:txBody>
      </p:sp>
      <p:sp>
        <p:nvSpPr>
          <p:cNvPr id="2" name="">
            <a:extLst xmlns:a="http://schemas.openxmlformats.org/drawingml/2006/main">
              <a:ext uri="{FF2B5EF4-FFF2-40B4-BE49-F238E27FC236}">
                <a16:creationId xmlns:a16="http://schemas.microsoft.com/office/drawing/2014/main" id="{5FDCC3A1-D1FE-456A-9A92-354EDBAA4C14}"/>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F7804FF2-3A12-4FE9-8544-3E597F87696F}"/>
              </a:ext>
            </a:extLst>
          </p:cNvPr>
          <p:cNvSpPr>
            <a:spLocks xmlns:a="http://schemas.openxmlformats.org/drawingml/2006/main" noGrp="1"/>
          </p:cNvSpPr>
          <p:nvPr/>
        </p:nvSpPr>
        <p:spPr>
          <a:xfrm xmlns:a="http://schemas.openxmlformats.org/drawingml/2006/main">
            <a:off x="685800" y="145732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vl1pPr>
              <a:defRPr sz="2250" b="0">
                <a:solidFill>
                  <a:srgbClr val="151515"/>
                </a:solidFill>
                <a:latin typeface="Arial"/>
                <a:ea typeface="Arial"/>
                <a:cs typeface="Arial"/>
              </a:defRPr>
            </a:lvl1pPr>
            <a:lvl2pPr>
              <a:defRPr sz="2250" b="0">
                <a:solidFill>
                  <a:srgbClr val="151515"/>
                </a:solidFill>
                <a:latin typeface="Arial"/>
                <a:ea typeface="Arial"/>
                <a:cs typeface="Arial"/>
              </a:defRPr>
            </a:lvl2pPr>
            <a:lvl3pPr>
              <a:defRPr sz="2250" b="0">
                <a:solidFill>
                  <a:srgbClr val="151515"/>
                </a:solidFill>
                <a:latin typeface="Arial"/>
                <a:ea typeface="Arial"/>
                <a:cs typeface="Arial"/>
              </a:defRPr>
            </a:lvl3pPr>
            <a:lvl4pPr>
              <a:defRPr sz="2250" b="0">
                <a:solidFill>
                  <a:srgbClr val="151515"/>
                </a:solidFill>
                <a:latin typeface="Arial"/>
                <a:ea typeface="Arial"/>
                <a:cs typeface="Arial"/>
              </a:defRPr>
            </a:lvl4pPr>
            <a:lvl5pPr>
              <a:defRPr sz="2250" b="0">
                <a:solidFill>
                  <a:srgbClr val="151515"/>
                </a:solidFill>
                <a:latin typeface="Arial"/>
                <a:ea typeface="Arial"/>
                <a:cs typeface="Arial"/>
              </a:defRPr>
            </a:lvl5pPr>
            <a:lvl6pPr>
              <a:defRPr sz="2250" b="0">
                <a:solidFill>
                  <a:srgbClr val="151515"/>
                </a:solidFill>
                <a:latin typeface="Arial"/>
                <a:ea typeface="Arial"/>
                <a:cs typeface="Arial"/>
              </a:defRPr>
            </a:lvl6pPr>
            <a:lvl7pPr>
              <a:defRPr sz="2250" b="0">
                <a:solidFill>
                  <a:srgbClr val="151515"/>
                </a:solidFill>
                <a:latin typeface="Arial"/>
                <a:ea typeface="Arial"/>
                <a:cs typeface="Arial"/>
              </a:defRPr>
            </a:lvl7pPr>
            <a:lvl8pPr>
              <a:defRPr sz="2250" b="0">
                <a:solidFill>
                  <a:srgbClr val="151515"/>
                </a:solidFill>
                <a:latin typeface="Arial"/>
                <a:ea typeface="Arial"/>
                <a:cs typeface="Arial"/>
              </a:defRPr>
            </a:lvl8pPr>
            <a:lvl9pPr>
              <a:defRPr sz="2250" b="0">
                <a:solidFill>
                  <a:srgbClr val="151515"/>
                </a:solidFill>
                <a:latin typeface="Arial"/>
                <a:ea typeface="Arial"/>
                <a:cs typeface="Arial"/>
              </a:defRPr>
            </a:lvl9pPr>
          </a:lstStyle>
          <a:p xmlns:a="http://schemas.openxmlformats.org/drawingml/2006/main">
            <a:pPr>
              <a:lnSpc>
                <a:spcPct val="110000"/>
              </a:lnSpc>
              <a:buNone/>
              <a:defRPr sz="2250" b="0">
                <a:solidFill>
                  <a:srgbClr val="151515"/>
                </a:solidFill>
                <a:latin typeface="Arial"/>
                <a:ea typeface="Arial"/>
                <a:cs typeface="Arial"/>
              </a:defRPr>
            </a:pPr>
            <a:r>
              <a:rPr sz="2250" b="0">
                <a:solidFill>
                  <a:srgbClr val="151515"/>
                </a:solidFill>
                <a:latin typeface="Arial"/>
                <a:ea typeface="Arial"/>
                <a:cs typeface="Arial"/>
              </a:rPr>
              <a:t>Arleta sin escalar: 0.283 m de desplazamiento horizontal máximo en X</a:t>
            </a:r>
          </a:p>
        </p:txBody>
      </p:sp>
      <p:sp>
        <p:nvSpPr>
          <p:cNvPr id="4" name="">
            <a:extLst xmlns:a="http://schemas.openxmlformats.org/drawingml/2006/main">
              <a:ext uri="{FF2B5EF4-FFF2-40B4-BE49-F238E27FC236}">
                <a16:creationId xmlns:a16="http://schemas.microsoft.com/office/drawing/2014/main" id="{EDBB9284-1C4E-4734-A145-B7F45C5557C6}"/>
              </a:ext>
            </a:extLst>
          </p:cNvPr>
          <p:cNvSpPr>
            <a:spLocks xmlns:a="http://schemas.openxmlformats.org/drawingml/2006/main" noGrp="1"/>
          </p:cNvSpPr>
          <p:nvPr/>
        </p:nvSpPr>
        <p:spPr>
          <a:xfrm xmlns:a="http://schemas.openxmlformats.org/drawingml/2006/main">
            <a:off x="685800" y="256222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vl1pPr>
              <a:defRPr sz="2250" b="0">
                <a:solidFill>
                  <a:srgbClr val="151515"/>
                </a:solidFill>
                <a:latin typeface="Arial"/>
                <a:ea typeface="Arial"/>
                <a:cs typeface="Arial"/>
              </a:defRPr>
            </a:lvl1pPr>
            <a:lvl2pPr>
              <a:defRPr sz="2250" b="0">
                <a:solidFill>
                  <a:srgbClr val="151515"/>
                </a:solidFill>
                <a:latin typeface="Arial"/>
                <a:ea typeface="Arial"/>
                <a:cs typeface="Arial"/>
              </a:defRPr>
            </a:lvl2pPr>
            <a:lvl3pPr>
              <a:defRPr sz="2250" b="0">
                <a:solidFill>
                  <a:srgbClr val="151515"/>
                </a:solidFill>
                <a:latin typeface="Arial"/>
                <a:ea typeface="Arial"/>
                <a:cs typeface="Arial"/>
              </a:defRPr>
            </a:lvl3pPr>
            <a:lvl4pPr>
              <a:defRPr sz="2250" b="0">
                <a:solidFill>
                  <a:srgbClr val="151515"/>
                </a:solidFill>
                <a:latin typeface="Arial"/>
                <a:ea typeface="Arial"/>
                <a:cs typeface="Arial"/>
              </a:defRPr>
            </a:lvl4pPr>
            <a:lvl5pPr>
              <a:defRPr sz="2250" b="0">
                <a:solidFill>
                  <a:srgbClr val="151515"/>
                </a:solidFill>
                <a:latin typeface="Arial"/>
                <a:ea typeface="Arial"/>
                <a:cs typeface="Arial"/>
              </a:defRPr>
            </a:lvl5pPr>
            <a:lvl6pPr>
              <a:defRPr sz="2250" b="0">
                <a:solidFill>
                  <a:srgbClr val="151515"/>
                </a:solidFill>
                <a:latin typeface="Arial"/>
                <a:ea typeface="Arial"/>
                <a:cs typeface="Arial"/>
              </a:defRPr>
            </a:lvl6pPr>
            <a:lvl7pPr>
              <a:defRPr sz="2250" b="0">
                <a:solidFill>
                  <a:srgbClr val="151515"/>
                </a:solidFill>
                <a:latin typeface="Arial"/>
                <a:ea typeface="Arial"/>
                <a:cs typeface="Arial"/>
              </a:defRPr>
            </a:lvl7pPr>
            <a:lvl8pPr>
              <a:defRPr sz="2250" b="0">
                <a:solidFill>
                  <a:srgbClr val="151515"/>
                </a:solidFill>
                <a:latin typeface="Arial"/>
                <a:ea typeface="Arial"/>
                <a:cs typeface="Arial"/>
              </a:defRPr>
            </a:lvl8pPr>
            <a:lvl9pPr>
              <a:defRPr sz="2250" b="0">
                <a:solidFill>
                  <a:srgbClr val="151515"/>
                </a:solidFill>
                <a:latin typeface="Arial"/>
                <a:ea typeface="Arial"/>
                <a:cs typeface="Arial"/>
              </a:defRPr>
            </a:lvl9pPr>
          </a:lstStyle>
          <a:p xmlns:a="http://schemas.openxmlformats.org/drawingml/2006/main">
            <a:pPr>
              <a:lnSpc>
                <a:spcPct val="110000"/>
              </a:lnSpc>
              <a:buNone/>
              <a:defRPr sz="2250" b="0">
                <a:solidFill>
                  <a:srgbClr val="151515"/>
                </a:solidFill>
                <a:latin typeface="Arial"/>
                <a:ea typeface="Arial"/>
                <a:cs typeface="Arial"/>
              </a:defRPr>
            </a:pPr>
            <a:r>
              <a:rPr sz="2250" b="0">
                <a:solidFill>
                  <a:srgbClr val="151515"/>
                </a:solidFill>
                <a:latin typeface="Arial"/>
                <a:ea typeface="Arial"/>
                <a:cs typeface="Arial"/>
              </a:rPr>
              <a:t>Con F̄ = Fref, el cociente combinado/sismo varía de 1.55 a 2.23 entre llegadas</a:t>
            </a:r>
          </a:p>
        </p:txBody>
      </p:sp>
      <p:sp>
        <p:nvSpPr>
          <p:cNvPr id="5" name="">
            <a:extLst xmlns:a="http://schemas.openxmlformats.org/drawingml/2006/main">
              <a:ext uri="{FF2B5EF4-FFF2-40B4-BE49-F238E27FC236}">
                <a16:creationId xmlns:a16="http://schemas.microsoft.com/office/drawing/2014/main" id="{474B4C77-C84A-4C06-832E-A063365B69DE}"/>
              </a:ext>
            </a:extLst>
          </p:cNvPr>
          <p:cNvSpPr>
            <a:spLocks xmlns:a="http://schemas.openxmlformats.org/drawingml/2006/main" noGrp="1"/>
          </p:cNvSpPr>
          <p:nvPr/>
        </p:nvSpPr>
        <p:spPr>
          <a:xfrm xmlns:a="http://schemas.openxmlformats.org/drawingml/2006/main">
            <a:off x="685800" y="366712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vl1pPr>
              <a:defRPr sz="2250" b="0">
                <a:solidFill>
                  <a:srgbClr val="151515"/>
                </a:solidFill>
                <a:latin typeface="Arial"/>
                <a:ea typeface="Arial"/>
                <a:cs typeface="Arial"/>
              </a:defRPr>
            </a:lvl1pPr>
            <a:lvl2pPr>
              <a:defRPr sz="2250" b="0">
                <a:solidFill>
                  <a:srgbClr val="151515"/>
                </a:solidFill>
                <a:latin typeface="Arial"/>
                <a:ea typeface="Arial"/>
                <a:cs typeface="Arial"/>
              </a:defRPr>
            </a:lvl2pPr>
            <a:lvl3pPr>
              <a:defRPr sz="2250" b="0">
                <a:solidFill>
                  <a:srgbClr val="151515"/>
                </a:solidFill>
                <a:latin typeface="Arial"/>
                <a:ea typeface="Arial"/>
                <a:cs typeface="Arial"/>
              </a:defRPr>
            </a:lvl3pPr>
            <a:lvl4pPr>
              <a:defRPr sz="2250" b="0">
                <a:solidFill>
                  <a:srgbClr val="151515"/>
                </a:solidFill>
                <a:latin typeface="Arial"/>
                <a:ea typeface="Arial"/>
                <a:cs typeface="Arial"/>
              </a:defRPr>
            </a:lvl4pPr>
            <a:lvl5pPr>
              <a:defRPr sz="2250" b="0">
                <a:solidFill>
                  <a:srgbClr val="151515"/>
                </a:solidFill>
                <a:latin typeface="Arial"/>
                <a:ea typeface="Arial"/>
                <a:cs typeface="Arial"/>
              </a:defRPr>
            </a:lvl5pPr>
            <a:lvl6pPr>
              <a:defRPr sz="2250" b="0">
                <a:solidFill>
                  <a:srgbClr val="151515"/>
                </a:solidFill>
                <a:latin typeface="Arial"/>
                <a:ea typeface="Arial"/>
                <a:cs typeface="Arial"/>
              </a:defRPr>
            </a:lvl6pPr>
            <a:lvl7pPr>
              <a:defRPr sz="2250" b="0">
                <a:solidFill>
                  <a:srgbClr val="151515"/>
                </a:solidFill>
                <a:latin typeface="Arial"/>
                <a:ea typeface="Arial"/>
                <a:cs typeface="Arial"/>
              </a:defRPr>
            </a:lvl7pPr>
            <a:lvl8pPr>
              <a:defRPr sz="2250" b="0">
                <a:solidFill>
                  <a:srgbClr val="151515"/>
                </a:solidFill>
                <a:latin typeface="Arial"/>
                <a:ea typeface="Arial"/>
                <a:cs typeface="Arial"/>
              </a:defRPr>
            </a:lvl8pPr>
            <a:lvl9pPr>
              <a:defRPr sz="2250" b="0">
                <a:solidFill>
                  <a:srgbClr val="151515"/>
                </a:solidFill>
                <a:latin typeface="Arial"/>
                <a:ea typeface="Arial"/>
                <a:cs typeface="Arial"/>
              </a:defRPr>
            </a:lvl9pPr>
          </a:lstStyle>
          <a:p xmlns:a="http://schemas.openxmlformats.org/drawingml/2006/main">
            <a:pPr>
              <a:lnSpc>
                <a:spcPct val="110000"/>
              </a:lnSpc>
              <a:buNone/>
              <a:defRPr sz="2250" b="0">
                <a:solidFill>
                  <a:srgbClr val="151515"/>
                </a:solidFill>
                <a:latin typeface="Arial"/>
                <a:ea typeface="Arial"/>
                <a:cs typeface="Arial"/>
              </a:defRPr>
            </a:pPr>
            <a:r>
              <a:rPr sz="2250" b="0">
                <a:solidFill>
                  <a:srgbClr val="151515"/>
                </a:solidFill>
                <a:latin typeface="Arial"/>
                <a:ea typeface="Arial"/>
                <a:cs typeface="Arial"/>
              </a:rPr>
              <a:t>22 pendientes estables; 1 de 90 superan además el filtro conservador</a:t>
            </a:r>
          </a:p>
        </p:txBody>
      </p:sp>
      <p:sp>
        <p:nvSpPr>
          <p:cNvPr id="6" name="">
            <a:extLst xmlns:a="http://schemas.openxmlformats.org/drawingml/2006/main">
              <a:ext uri="{FF2B5EF4-FFF2-40B4-BE49-F238E27FC236}">
                <a16:creationId xmlns:a16="http://schemas.microsoft.com/office/drawing/2014/main" id="{23ABFDAE-CCA3-4D34-A5D5-25CBC6695B32}"/>
              </a:ext>
            </a:extLst>
          </p:cNvPr>
          <p:cNvSpPr>
            <a:spLocks xmlns:a="http://schemas.openxmlformats.org/drawingml/2006/main" noGrp="1"/>
          </p:cNvSpPr>
          <p:nvPr/>
        </p:nvSpPr>
        <p:spPr>
          <a:xfrm xmlns:a="http://schemas.openxmlformats.org/drawingml/2006/main">
            <a:off x="685800" y="477202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vl1pPr>
              <a:defRPr sz="2250" b="0">
                <a:solidFill>
                  <a:srgbClr val="151515"/>
                </a:solidFill>
                <a:latin typeface="Arial"/>
                <a:ea typeface="Arial"/>
                <a:cs typeface="Arial"/>
              </a:defRPr>
            </a:lvl1pPr>
            <a:lvl2pPr>
              <a:defRPr sz="2250" b="0">
                <a:solidFill>
                  <a:srgbClr val="151515"/>
                </a:solidFill>
                <a:latin typeface="Arial"/>
                <a:ea typeface="Arial"/>
                <a:cs typeface="Arial"/>
              </a:defRPr>
            </a:lvl2pPr>
            <a:lvl3pPr>
              <a:defRPr sz="2250" b="0">
                <a:solidFill>
                  <a:srgbClr val="151515"/>
                </a:solidFill>
                <a:latin typeface="Arial"/>
                <a:ea typeface="Arial"/>
                <a:cs typeface="Arial"/>
              </a:defRPr>
            </a:lvl3pPr>
            <a:lvl4pPr>
              <a:defRPr sz="2250" b="0">
                <a:solidFill>
                  <a:srgbClr val="151515"/>
                </a:solidFill>
                <a:latin typeface="Arial"/>
                <a:ea typeface="Arial"/>
                <a:cs typeface="Arial"/>
              </a:defRPr>
            </a:lvl4pPr>
            <a:lvl5pPr>
              <a:defRPr sz="2250" b="0">
                <a:solidFill>
                  <a:srgbClr val="151515"/>
                </a:solidFill>
                <a:latin typeface="Arial"/>
                <a:ea typeface="Arial"/>
                <a:cs typeface="Arial"/>
              </a:defRPr>
            </a:lvl5pPr>
            <a:lvl6pPr>
              <a:defRPr sz="2250" b="0">
                <a:solidFill>
                  <a:srgbClr val="151515"/>
                </a:solidFill>
                <a:latin typeface="Arial"/>
                <a:ea typeface="Arial"/>
                <a:cs typeface="Arial"/>
              </a:defRPr>
            </a:lvl6pPr>
            <a:lvl7pPr>
              <a:defRPr sz="2250" b="0">
                <a:solidFill>
                  <a:srgbClr val="151515"/>
                </a:solidFill>
                <a:latin typeface="Arial"/>
                <a:ea typeface="Arial"/>
                <a:cs typeface="Arial"/>
              </a:defRPr>
            </a:lvl7pPr>
            <a:lvl8pPr>
              <a:defRPr sz="2250" b="0">
                <a:solidFill>
                  <a:srgbClr val="151515"/>
                </a:solidFill>
                <a:latin typeface="Arial"/>
                <a:ea typeface="Arial"/>
                <a:cs typeface="Arial"/>
              </a:defRPr>
            </a:lvl8pPr>
            <a:lvl9pPr>
              <a:defRPr sz="2250" b="0">
                <a:solidFill>
                  <a:srgbClr val="151515"/>
                </a:solidFill>
                <a:latin typeface="Arial"/>
                <a:ea typeface="Arial"/>
                <a:cs typeface="Arial"/>
              </a:defRPr>
            </a:lvl9pPr>
          </a:lstStyle>
          <a:p xmlns:a="http://schemas.openxmlformats.org/drawingml/2006/main">
            <a:pPr>
              <a:lnSpc>
                <a:spcPct val="110000"/>
              </a:lnSpc>
              <a:buNone/>
              <a:defRPr sz="2250" b="0">
                <a:solidFill>
                  <a:srgbClr val="151515"/>
                </a:solidFill>
                <a:latin typeface="Arial"/>
                <a:ea typeface="Arial"/>
                <a:cs typeface="Arial"/>
              </a:defRPr>
            </a:pPr>
            <a:r>
              <a:rPr sz="2250" b="0">
                <a:solidFill>
                  <a:srgbClr val="151515"/>
                </a:solidFill>
                <a:latin typeface="Arial"/>
                <a:ea typeface="Arial"/>
                <a:cs typeface="Arial"/>
              </a:rPr>
              <a:t>El empuje medio sigue libre: la comparación no fija una demanda real de servicio</a:t>
            </a:r>
          </a:p>
        </p:txBody>
      </p:sp>
    </p:spTree>
    <p:extLst>
      <p:ext uri="{BB962C8B-B14F-4D97-AF65-F5344CB8AC3E}">
        <p14:creationId xmlns:p14="http://schemas.microsoft.com/office/powerpoint/2010/main" val="62637024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BC2C22-5ABF-460C-869F-1AF983CF3121}"/>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Cierre del alcance actual</a:t>
            </a:r>
          </a:p>
        </p:txBody>
      </p:sp>
      <p:sp>
        <p:nvSpPr>
          <p:cNvPr id="2" name="">
            <a:extLst xmlns:a="http://schemas.openxmlformats.org/drawingml/2006/main">
              <a:ext uri="{FF2B5EF4-FFF2-40B4-BE49-F238E27FC236}">
                <a16:creationId xmlns:a16="http://schemas.microsoft.com/office/drawing/2014/main" id="{8D417113-1382-4E32-8D37-7972AF267595}"/>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0F9A0A11-FADE-4BAC-BD47-CD7C3AC7A7A7}"/>
              </a:ext>
            </a:extLst>
          </p:cNvPr>
          <p:cNvSpPr>
            <a:spLocks xmlns:a="http://schemas.openxmlformats.org/drawingml/2006/main" noGrp="1"/>
          </p:cNvSpPr>
          <p:nvPr/>
        </p:nvSpPr>
        <p:spPr>
          <a:xfrm xmlns:a="http://schemas.openxmlformats.org/drawingml/2006/main">
            <a:off x="685800" y="15049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Comparación reproducible: registros, hipótesis, tablas y controles trazables</a:t>
            </a:r>
          </a:p>
        </p:txBody>
      </p:sp>
      <p:sp>
        <p:nvSpPr>
          <p:cNvPr id="4" name="">
            <a:extLst xmlns:a="http://schemas.openxmlformats.org/drawingml/2006/main">
              <a:ext uri="{FF2B5EF4-FFF2-40B4-BE49-F238E27FC236}">
                <a16:creationId xmlns:a16="http://schemas.microsoft.com/office/drawing/2014/main" id="{F27A2041-E049-4D52-AECB-27777C70C7C5}"/>
              </a:ext>
            </a:extLst>
          </p:cNvPr>
          <p:cNvSpPr>
            <a:spLocks xmlns:a="http://schemas.openxmlformats.org/drawingml/2006/main" noGrp="1"/>
          </p:cNvSpPr>
          <p:nvPr/>
        </p:nvSpPr>
        <p:spPr>
          <a:xfrm xmlns:a="http://schemas.openxmlformats.org/drawingml/2006/main">
            <a:off x="685800" y="25717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Pendiente para valores de servicio: identificar el empuje medio o la aerodinámica</a:t>
            </a:r>
          </a:p>
        </p:txBody>
      </p:sp>
      <p:sp>
        <p:nvSpPr>
          <p:cNvPr id="5" name="">
            <a:extLst xmlns:a="http://schemas.openxmlformats.org/drawingml/2006/main">
              <a:ext uri="{FF2B5EF4-FFF2-40B4-BE49-F238E27FC236}">
                <a16:creationId xmlns:a16="http://schemas.microsoft.com/office/drawing/2014/main" id="{C09DC720-7841-4F0C-9994-C5C4A9C6B92E}"/>
              </a:ext>
            </a:extLst>
          </p:cNvPr>
          <p:cNvSpPr>
            <a:spLocks xmlns:a="http://schemas.openxmlformats.org/drawingml/2006/main" noGrp="1"/>
          </p:cNvSpPr>
          <p:nvPr/>
        </p:nvSpPr>
        <p:spPr>
          <a:xfrm xmlns:a="http://schemas.openxmlformats.org/drawingml/2006/main">
            <a:off x="685800" y="36385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Pendiente para operación real: evolución del giro y acoplamiento aeroelástico</a:t>
            </a:r>
          </a:p>
        </p:txBody>
      </p:sp>
      <p:sp>
        <p:nvSpPr>
          <p:cNvPr id="6" name="">
            <a:extLst xmlns:a="http://schemas.openxmlformats.org/drawingml/2006/main">
              <a:ext uri="{FF2B5EF4-FFF2-40B4-BE49-F238E27FC236}">
                <a16:creationId xmlns:a16="http://schemas.microsoft.com/office/drawing/2014/main" id="{85A26AC8-A963-4BE7-BDF9-2154FFFF7EEC}"/>
              </a:ext>
            </a:extLst>
          </p:cNvPr>
          <p:cNvSpPr>
            <a:spLocks xmlns:a="http://schemas.openxmlformats.org/drawingml/2006/main" noGrp="1"/>
          </p:cNvSpPr>
          <p:nvPr/>
        </p:nvSpPr>
        <p:spPr>
          <a:xfrm xmlns:a="http://schemas.openxmlformats.org/drawingml/2006/main">
            <a:off x="685800" y="47053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Los resultados Morris anteriores conservan su alcance y sus filtros</a:t>
            </a:r>
          </a:p>
        </p:txBody>
      </p:sp>
    </p:spTree>
    <p:extLst>
      <p:ext uri="{BB962C8B-B14F-4D97-AF65-F5344CB8AC3E}">
        <p14:creationId xmlns:p14="http://schemas.microsoft.com/office/powerpoint/2010/main" val="8657250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2026-10-21T04:50:20.4750000Z</dcterms:created>
  <dcterms:modified xsi:type="dcterms:W3CDTF">2026-10-21T04:50:20.4750000Z</dcterms:modified>
</coreProperties>
</file>