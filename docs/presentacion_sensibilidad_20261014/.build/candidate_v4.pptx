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528378e06545f8" /><Relationship Type="http://schemas.openxmlformats.org/officeDocument/2006/relationships/extended-properties" Target="/docProps/app.xml" Id="R9c6efe93ca1d4787" /><Relationship Type="http://schemas.openxmlformats.org/officeDocument/2006/relationships/officeDocument" Target="/ppt/presentation.xml" Id="R925ee05c3af04df2" /></Relationships>
</file>

<file path=ppt/presentation.xml><?xml version="1.0" encoding="utf-8"?>
<p:presentation xmlns:p="http://schemas.openxmlformats.org/presentationml/2006/main">
  <p:sldMasterIdLst>
    <p:sldMasterId xmlns:r="http://schemas.openxmlformats.org/officeDocument/2006/relationships" id="2147483648" r:id="R1b693b1a7db54efb"/>
  </p:sldMasterIdLst>
  <p:notesMasterIdLst>
    <p:notesMasterId xmlns:r="http://schemas.openxmlformats.org/officeDocument/2006/relationships" r:id="R4e18c3595471493c"/>
  </p:notesMasterIdLst>
  <p:sldIdLst>
    <p:sldId xmlns:r="http://schemas.openxmlformats.org/officeDocument/2006/relationships" id="256" r:id="R9a84f28f94b64c39"/>
    <p:sldId xmlns:r="http://schemas.openxmlformats.org/officeDocument/2006/relationships" id="257" r:id="R43a1ea2f85b94e4f"/>
    <p:sldId xmlns:r="http://schemas.openxmlformats.org/officeDocument/2006/relationships" id="258" r:id="Re30a45ddbb2d4322"/>
    <p:sldId xmlns:r="http://schemas.openxmlformats.org/officeDocument/2006/relationships" id="259" r:id="Rf9a09ccf7c174c69"/>
    <p:sldId xmlns:r="http://schemas.openxmlformats.org/officeDocument/2006/relationships" id="260" r:id="R349034e561ce44ab"/>
    <p:sldId xmlns:r="http://schemas.openxmlformats.org/officeDocument/2006/relationships" id="261" r:id="R1b283e011ab54767"/>
    <p:sldId xmlns:r="http://schemas.openxmlformats.org/officeDocument/2006/relationships" id="262" r:id="R317e32f229ff4a89"/>
    <p:sldId xmlns:r="http://schemas.openxmlformats.org/officeDocument/2006/relationships" id="263" r:id="Rb6a7eaded5c440b7"/>
    <p:sldId xmlns:r="http://schemas.openxmlformats.org/officeDocument/2006/relationships" id="264" r:id="R3214b82665e046a4"/>
    <p:sldId xmlns:r="http://schemas.openxmlformats.org/officeDocument/2006/relationships" id="265" r:id="Racee2b4f86964d08"/>
    <p:sldId xmlns:r="http://schemas.openxmlformats.org/officeDocument/2006/relationships" id="266" r:id="R6a56b928c5294ff8"/>
    <p:sldId xmlns:r="http://schemas.openxmlformats.org/officeDocument/2006/relationships" id="267" r:id="Ree2d290bb5b64205"/>
    <p:sldId xmlns:r="http://schemas.openxmlformats.org/officeDocument/2006/relationships" id="268" r:id="Ra8f24532b45945e3"/>
    <p:sldId xmlns:r="http://schemas.openxmlformats.org/officeDocument/2006/relationships" id="269" r:id="Rb3999604fc244fa8"/>
    <p:sldId xmlns:r="http://schemas.openxmlformats.org/officeDocument/2006/relationships" id="270" r:id="R59de8c7571ac47e0"/>
    <p:sldId xmlns:r="http://schemas.openxmlformats.org/officeDocument/2006/relationships" id="271" r:id="Rf833ce3921134162"/>
    <p:sldId xmlns:r="http://schemas.openxmlformats.org/officeDocument/2006/relationships" id="272" r:id="R0491c44365fe4e0b"/>
    <p:sldId xmlns:r="http://schemas.openxmlformats.org/officeDocument/2006/relationships" id="273" r:id="Rf919a109216e4ed2"/>
    <p:sldId xmlns:r="http://schemas.openxmlformats.org/officeDocument/2006/relationships" id="274" r:id="R6a53a05b5a964077"/>
    <p:sldId xmlns:r="http://schemas.openxmlformats.org/officeDocument/2006/relationships" id="275" r:id="R03c2a6ddf1cc4acb"/>
    <p:sldId xmlns:r="http://schemas.openxmlformats.org/officeDocument/2006/relationships" id="276" r:id="Rca1787f592dc4d3e"/>
    <p:sldId xmlns:r="http://schemas.openxmlformats.org/officeDocument/2006/relationships" id="277" r:id="R93aa6bd724154ecb"/>
    <p:sldId xmlns:r="http://schemas.openxmlformats.org/officeDocument/2006/relationships" id="278" r:id="R363a50bb3dfb4cd7"/>
    <p:sldId xmlns:r="http://schemas.openxmlformats.org/officeDocument/2006/relationships" id="279" r:id="R65c21ee784734103"/>
    <p:sldId xmlns:r="http://schemas.openxmlformats.org/officeDocument/2006/relationships" id="280" r:id="R96831ae6909d4b33"/>
    <p:sldId xmlns:r="http://schemas.openxmlformats.org/officeDocument/2006/relationships" id="281" r:id="Rb3636955393542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8ed7a6ebc14e1b" /><Relationship Type="http://schemas.openxmlformats.org/officeDocument/2006/relationships/slideMaster" Target="/ppt/slideMasters/slideMaster1.xml" Id="R1b693b1a7db54efb" /><Relationship Type="http://schemas.openxmlformats.org/officeDocument/2006/relationships/notesMaster" Target="/ppt/notesMasters/notesMaster1.xml" Id="R4e18c3595471493c" /><Relationship Type="http://schemas.openxmlformats.org/officeDocument/2006/relationships/presProps" Target="/ppt/presProps.xml" Id="R844bb147acf74904" /><Relationship Type="http://schemas.openxmlformats.org/officeDocument/2006/relationships/tableStyles" Target="/ppt/tableStyles.xml" Id="Rd1ffe137d8604229" /><Relationship Type="http://schemas.openxmlformats.org/officeDocument/2006/relationships/slide" Target="/ppt/slides/slide1.xml" Id="R9a84f28f94b64c39" /><Relationship Type="http://schemas.openxmlformats.org/officeDocument/2006/relationships/slide" Target="/ppt/slides/slide2.xml" Id="R43a1ea2f85b94e4f" /><Relationship Type="http://schemas.openxmlformats.org/officeDocument/2006/relationships/slide" Target="/ppt/slides/slide3.xml" Id="Re30a45ddbb2d4322" /><Relationship Type="http://schemas.openxmlformats.org/officeDocument/2006/relationships/slide" Target="/ppt/slides/slide4.xml" Id="Rf9a09ccf7c174c69" /><Relationship Type="http://schemas.openxmlformats.org/officeDocument/2006/relationships/slide" Target="/ppt/slides/slide5.xml" Id="R349034e561ce44ab" /><Relationship Type="http://schemas.openxmlformats.org/officeDocument/2006/relationships/slide" Target="/ppt/slides/slide6.xml" Id="R1b283e011ab54767" /><Relationship Type="http://schemas.openxmlformats.org/officeDocument/2006/relationships/slide" Target="/ppt/slides/slide7.xml" Id="R317e32f229ff4a89" /><Relationship Type="http://schemas.openxmlformats.org/officeDocument/2006/relationships/slide" Target="/ppt/slides/slide8.xml" Id="Rb6a7eaded5c440b7" /><Relationship Type="http://schemas.openxmlformats.org/officeDocument/2006/relationships/slide" Target="/ppt/slides/slide9.xml" Id="R3214b82665e046a4" /><Relationship Type="http://schemas.openxmlformats.org/officeDocument/2006/relationships/slide" Target="/ppt/slides/slide10.xml" Id="Racee2b4f86964d08" /><Relationship Type="http://schemas.openxmlformats.org/officeDocument/2006/relationships/slide" Target="/ppt/slides/slide11.xml" Id="R6a56b928c5294ff8" /><Relationship Type="http://schemas.openxmlformats.org/officeDocument/2006/relationships/slide" Target="/ppt/slides/slide12.xml" Id="Ree2d290bb5b64205" /><Relationship Type="http://schemas.openxmlformats.org/officeDocument/2006/relationships/slide" Target="/ppt/slides/slide13.xml" Id="Ra8f24532b45945e3" /><Relationship Type="http://schemas.openxmlformats.org/officeDocument/2006/relationships/slide" Target="/ppt/slides/slide14.xml" Id="Rb3999604fc244fa8" /><Relationship Type="http://schemas.openxmlformats.org/officeDocument/2006/relationships/slide" Target="/ppt/slides/slide15.xml" Id="R59de8c7571ac47e0" /><Relationship Type="http://schemas.openxmlformats.org/officeDocument/2006/relationships/slide" Target="/ppt/slides/slide16.xml" Id="Rf833ce3921134162" /><Relationship Type="http://schemas.openxmlformats.org/officeDocument/2006/relationships/slide" Target="/ppt/slides/slide17.xml" Id="R0491c44365fe4e0b" /><Relationship Type="http://schemas.openxmlformats.org/officeDocument/2006/relationships/slide" Target="/ppt/slides/slide18.xml" Id="Rf919a109216e4ed2" /><Relationship Type="http://schemas.openxmlformats.org/officeDocument/2006/relationships/slide" Target="/ppt/slides/slide19.xml" Id="R6a53a05b5a964077" /><Relationship Type="http://schemas.openxmlformats.org/officeDocument/2006/relationships/slide" Target="/ppt/slides/slide20.xml" Id="R03c2a6ddf1cc4acb" /><Relationship Type="http://schemas.openxmlformats.org/officeDocument/2006/relationships/slide" Target="/ppt/slides/slide21.xml" Id="Rca1787f592dc4d3e" /><Relationship Type="http://schemas.openxmlformats.org/officeDocument/2006/relationships/slide" Target="/ppt/slides/slide22.xml" Id="R93aa6bd724154ecb" /><Relationship Type="http://schemas.openxmlformats.org/officeDocument/2006/relationships/slide" Target="/ppt/slides/slide23.xml" Id="R363a50bb3dfb4cd7" /><Relationship Type="http://schemas.openxmlformats.org/officeDocument/2006/relationships/slide" Target="/ppt/slides/slide24.xml" Id="R65c21ee784734103" /><Relationship Type="http://schemas.openxmlformats.org/officeDocument/2006/relationships/slide" Target="/ppt/slides/slide25.xml" Id="R96831ae6909d4b33" /><Relationship Type="http://schemas.openxmlformats.org/officeDocument/2006/relationships/slide" Target="/ppt/slides/slide26.xml" Id="Rb3636955393542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1d9e91ce2e45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2874984b3d4e40" /><Relationship Type="http://schemas.openxmlformats.org/officeDocument/2006/relationships/notesMaster" Target="/ppt/notesMasters/notesMaster1.xml" Id="R296692cfe43644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7fa5d08dd84801" /><Relationship Type="http://schemas.openxmlformats.org/officeDocument/2006/relationships/notesMaster" Target="/ppt/notesMasters/notesMaster1.xml" Id="R99d094afe69545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699ed512c44df0" /><Relationship Type="http://schemas.openxmlformats.org/officeDocument/2006/relationships/notesMaster" Target="/ppt/notesMasters/notesMaster1.xml" Id="R0de39ad70e624b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9c5423c62f4d43" /><Relationship Type="http://schemas.openxmlformats.org/officeDocument/2006/relationships/notesMaster" Target="/ppt/notesMasters/notesMaster1.xml" Id="R8c7e9bc903bf45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8e3708ceb94473" /><Relationship Type="http://schemas.openxmlformats.org/officeDocument/2006/relationships/notesMaster" Target="/ppt/notesMasters/notesMaster1.xml" Id="R4e4cdbab69284e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5d21839f4b4d5a" /><Relationship Type="http://schemas.openxmlformats.org/officeDocument/2006/relationships/notesMaster" Target="/ppt/notesMasters/notesMaster1.xml" Id="R928df5f7f9754a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10197e39d449e9" /><Relationship Type="http://schemas.openxmlformats.org/officeDocument/2006/relationships/notesMaster" Target="/ppt/notesMasters/notesMaster1.xml" Id="Rb48d4443764244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f7b0ea83ab4ea1" /><Relationship Type="http://schemas.openxmlformats.org/officeDocument/2006/relationships/notesMaster" Target="/ppt/notesMasters/notesMaster1.xml" Id="Rb7285fd20ddd4b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314f4be9524b38" /><Relationship Type="http://schemas.openxmlformats.org/officeDocument/2006/relationships/notesMaster" Target="/ppt/notesMasters/notesMaster1.xml" Id="R7ffab3178b5449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2da48ac2ba40eb" /><Relationship Type="http://schemas.openxmlformats.org/officeDocument/2006/relationships/notesMaster" Target="/ppt/notesMasters/notesMaster1.xml" Id="R1e5f9e7d4cae4e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b1bfdfb7094abc" /><Relationship Type="http://schemas.openxmlformats.org/officeDocument/2006/relationships/notesMaster" Target="/ppt/notesMasters/notesMaster1.xml" Id="R23f06054e58e43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3f6d62651e490a" /><Relationship Type="http://schemas.openxmlformats.org/officeDocument/2006/relationships/notesMaster" Target="/ppt/notesMasters/notesMaster1.xml" Id="R61e77891bbc44a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f2f00e1666491b" /><Relationship Type="http://schemas.openxmlformats.org/officeDocument/2006/relationships/notesMaster" Target="/ppt/notesMasters/notesMaster1.xml" Id="R50f17c00ada948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a122db23b1489a" /><Relationship Type="http://schemas.openxmlformats.org/officeDocument/2006/relationships/notesMaster" Target="/ppt/notesMasters/notesMaster1.xml" Id="Ra2886bc373c647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74ea0549f74faa" /><Relationship Type="http://schemas.openxmlformats.org/officeDocument/2006/relationships/notesMaster" Target="/ppt/notesMasters/notesMaster1.xml" Id="Rd53aade64dc54a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28dfcd070e0424f" /><Relationship Type="http://schemas.openxmlformats.org/officeDocument/2006/relationships/notesMaster" Target="/ppt/notesMasters/notesMaster1.xml" Id="R8f32e29178df47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485f10bafa453e" /><Relationship Type="http://schemas.openxmlformats.org/officeDocument/2006/relationships/notesMaster" Target="/ppt/notesMasters/notesMaster1.xml" Id="R500c22ca464746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6c322bd9b040a4" /><Relationship Type="http://schemas.openxmlformats.org/officeDocument/2006/relationships/notesMaster" Target="/ppt/notesMasters/notesMaster1.xml" Id="R19d1cdce43de45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6d4313c65e41b0" /><Relationship Type="http://schemas.openxmlformats.org/officeDocument/2006/relationships/notesMaster" Target="/ppt/notesMasters/notesMaster1.xml" Id="Reb962419894440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854e6dc6d44462" /><Relationship Type="http://schemas.openxmlformats.org/officeDocument/2006/relationships/notesMaster" Target="/ppt/notesMasters/notesMaster1.xml" Id="Rf290d7020df64a9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4587bb5a98e45f9" /><Relationship Type="http://schemas.openxmlformats.org/officeDocument/2006/relationships/notesMaster" Target="/ppt/notesMasters/notesMaster1.xml" Id="Ra4aa97343ebb48f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a00986fc014f3b" /><Relationship Type="http://schemas.openxmlformats.org/officeDocument/2006/relationships/notesMaster" Target="/ppt/notesMasters/notesMaster1.xml" Id="R672bae1d4bb44f7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818f17c46b14da6" /><Relationship Type="http://schemas.openxmlformats.org/officeDocument/2006/relationships/notesMaster" Target="/ppt/notesMasters/notesMaster1.xml" Id="R8c989206472c452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a862cfd2c374fcc" /><Relationship Type="http://schemas.openxmlformats.org/officeDocument/2006/relationships/notesMaster" Target="/ppt/notesMasters/notesMaster1.xml" Id="R93ea63721ca6475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d805264a54042f5" /><Relationship Type="http://schemas.openxmlformats.org/officeDocument/2006/relationships/notesMaster" Target="/ppt/notesMasters/notesMaster1.xml" Id="Rac001cbb5c8246a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c9e467f0204214" /><Relationship Type="http://schemas.openxmlformats.org/officeDocument/2006/relationships/notesMaster" Target="/ppt/notesMasters/notesMaster1.xml" Id="Rb47320a0a58449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para discusión de tesis. Resultados deterministas del modelo existente a azimut congelado. Morris del 6 de octubre y comprobación complementaria del 14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compara la influencia de propiedades de palas y velocidad en respuestas modales. La superficie de la turbina es ilustrativa. La malla del solver es de vigas y cuerpos rígidos. Se conserva el eje real 129–130 y la orientación nominal.</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/Users/nuseche/Desktop/Tesis_codigos/postprocessing/tecplot_20261007/catalog.json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factores de masa escalan masa por longitud e inercias de todas las palas a geometría fija. La rigidez escala conjuntamente EA, GAy, GAz, GJ, EIy y EIz. El factor de velocidad multiplica 12 rpm. Los rangos son escenarios aprobados, no incertidumbres medidas.</a:t>
            </a:r>
          </a:p>
          <a:p xmlns:a="http://schemas.openxmlformats.org/drawingml/2006/main">
            <a:r>
              <a:t/>
            </a:r>
          </a:p>
          <a:p xmlns:a="http://schemas.openxmlformats.org/drawingml/2006/main">
            <a:r>
              <a:t>Fuentes:</a:t>
            </a:r>
          </a:p>
          <a:p xmlns:a="http://schemas.openxmlformats.org/drawingml/2006/main">
            <a:r>
              <a:t>/Users/nuseche/Desktop/Tesis_codigos/+sensitivity/apply_parameters.m</a:t>
            </a:r>
          </a:p>
          <a:p xmlns:a="http://schemas.openxmlformats.org/drawingml/2006/main">
            <a:r>
              <a:t>/Users/nuseche/Desktop/Tesis_codigos/+sensitivity/config_morris.m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utiliza q proporcional a phi exp(lambda t), frecuencia amortiguada y crecimiento real. D incluye amortiguamiento, giroscopía y transporte. La frecuencia no informa por sí sola la estabilidad.</a:t>
            </a:r>
          </a:p>
          <a:p xmlns:a="http://schemas.openxmlformats.org/drawingml/2006/main">
            <a:r>
              <a:t/>
            </a:r>
          </a:p>
          <a:p xmlns:a="http://schemas.openxmlformats.org/drawingml/2006/main">
            <a:r>
              <a:t>Fuentes:</a:t>
            </a:r>
          </a:p>
          <a:p xmlns:a="http://schemas.openxmlformats.org/drawingml/2006/main">
            <a:r>
              <a:t>/Users/nuseche/Desktop/Tesis_codigos/+sensitivity/summarize_morris.m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números son ramas de la referencia. Los grupos se construyen por proximidad de raíces en el dominio y seguimiento de subespacios. Su respuesta es una media de frecuencias, no un autovector promedio. La identidad no se redefine ordenando frecuencias en cada caso.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/Users/nuseche/Desktop/Tesis_codigos/+sensitivity/track_modes.m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99 evaluaciones iniciales incluyen varias campañas locales y de verificación. El Morris tiene 170 evaluaciones. La nueva etapa reutiliza 58 puntos distintos y añade 6 puntos y 3 controles, sin modificar intervalos ni rutinas físicas. No se interpretan refinamiento de malla ni paso temporal como parámetros inciertos.</a:t>
            </a:r>
          </a:p>
          <a:p xmlns:a="http://schemas.openxmlformats.org/drawingml/2006/main">
            <a:r>
              <a:t/>
            </a:r>
          </a:p>
          <a:p xmlns:a="http://schemas.openxmlformats.org/drawingml/2006/main">
            <a:r>
              <a:t>Fuentes:</a:t>
            </a:r>
          </a:p>
          <a:p xmlns:a="http://schemas.openxmlformats.org/drawingml/2006/main">
            <a:r>
              <a:t>/Users/nuseche/Desktop/Tesis_codigos/docs/sensibilidad_20261005/LEEME.md</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Primera trayectoria real. Las coordenadas del diseño recorren cuatro niveles. Cada tramo conserva los otros dos factores. El paso normalizado es 2/3 y el paso del factor físico es 0.13333. Los segmentos representan escenarios independientes, no tiempo.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/Users/nuseche/Desktop/Tesis_codigos/runs/sensitivity/morris_20261006/morris_vertices.csv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Morris 1991 emplea media y desviación estándar de efectos elementales. Campolongo et al. 2007 presentan mu estrella para evitar cancelación de signos. Los filtros adicionales de ruido, seguimiento y prefijos son decisiones de implementación.</a:t>
            </a:r>
          </a:p>
          <a:p xmlns:a="http://schemas.openxmlformats.org/drawingml/2006/main">
            <a:r>
              <a:t/>
            </a:r>
          </a:p>
          <a:p xmlns:a="http://schemas.openxmlformats.org/drawingml/2006/main">
            <a:r>
              <a:t>Fuentes:</a:t>
            </a:r>
          </a:p>
          <a:p xmlns:a="http://schemas.openxmlformats.org/drawingml/2006/main">
            <a:r>
              <a:t>https://stat.cmu.edu/technometrics/90-00/vol-33-02/v3302161.pdf</a:t>
            </a:r>
          </a:p>
          <a:p xmlns:a="http://schemas.openxmlformats.org/drawingml/2006/main">
            <a:r>
              <a:t>https://doi.org/10.1016/j.envsoft.2006.10.004</a:t>
            </a:r>
          </a:p>
          <a:p xmlns:a="http://schemas.openxmlformats.org/drawingml/2006/main">
            <a:r>
              <a:t>/Users/nuseche/Desktop/Tesis_codigos/+sensitivity/morris_statistics.m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Estimadores originales de Morris divididos por el ancho físico 0.20. Círculos masa, diamantes rigidez y cuadrados velocidad. Marcador lleno aceptado, vacío no resuelto. Grupo 12 excluido. No se reinterpretan los símbolos vacíos como cero.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/Users/nuseche/Desktop/Tesis_codigos/docs/sensibilidad_complementaria_20261014/figure_catalog.json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Prefijos 10, 20 y 40 del mismo diseño, con el mismo agrupamiento final. Cambio máximo de mu estrella de 20 a 40 entre las 14 influencias aceptadas: 0.796225 %. Umbral de prefijos 10 %. No es convergencia espacial ni garantía asintótica.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/Users/nuseche/Desktop/Tesis_codigos/runs/sensitivity/morris_20261006/morris_estimators.csv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media absoluta debe superar diez veces su envolvente empírica. Los índices de la figura se explican debajo. Repetición, QEP estricto y directo frente a continuación proporcionan la envolvente, que no es una cota rigurosa del error en todo el dominio.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/Users/nuseche/Desktop/Tesis_codigos/runs/sensitivity/morris_20261006/morris_noise.csv</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indicadores de dispersión de frecuencia aceptados en la campaña Morris: masa y rigidez en 10+11. Los criterios se aplican a sigma por separado de mu estrella. La velocidad no supera ruido ni cambio de prefijos. La dispersión describe los efectos elementales, no la distribución física de frecuencias.</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Participaciones cuadráticas de masa y rigidez elástica nominal. No son una descomposición de toda la energía rotacional. Esta evidencia independiente respalda sensibilidad a propiedades de palas, sin convertir los modos en movimientos aislados de un componente.</a:t>
            </a:r>
          </a:p>
          <a:p xmlns:a="http://schemas.openxmlformats.org/drawingml/2006/main">
            <a:r>
              <a:t/>
            </a:r>
          </a:p>
          <a:p xmlns:a="http://schemas.openxmlformats.org/drawingml/2006/main">
            <a:r>
              <a:t>Fuentes:</a:t>
            </a:r>
          </a:p>
          <a:p xmlns:a="http://schemas.openxmlformats.org/drawingml/2006/main">
            <a:r>
              <a:t>/Users/nuseche/Desktop/Tesis_codigos/runs/sensitivity/initial_20261005/local/modal_energy_evidence.csv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calcula delta f aproximadamente f0 multiplicado por mu/0.20 y por delta del factor. Son secantes medias del dominio, no derivadas locales certificadas ni evaluaciones nuevas de factores al 1 %. Frecuencia nominal del grupo 1.2254297847 Hz.</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reutilizaron 58 combinaciones distintas de Morris. Se resolvieron 6 faltantes, QEP estricto y continuación en un nuevo punto, y una repetición nominal. Los nueve casos convergieron. Costo de solve 77.485 s, con límite operacional de 300 s. Se verificaron 175 huellas de fuente sin cambios.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/Users/nuseche/Desktop/Tesis_codigos/runs/sensitivity/grid_completion_20261014/case_status.csv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Mínimos y máximos calculados entre los 64 puntos. No son cuantiles, intervalos de confianza ni extremos certificados del dominio continuo. Las combinaciones modifican simultáneamente los tres factores.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toman las cuatro combinaciones diagonales xi_rho=xi_K a cada una de las cuatro velocidades. Cada curva usa como origen su propia frecuencia al factor 0.90. La variación normalizada por f0 queda entre 0.404 y 0.423 %, mientras las entradas abarcan 0.90 a 1.10. No establece una ley de compensación universal ni una identificación única.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/Users/nuseche/Desktop/Tesis_codigos/docs/sensibilidad_complementaria_20261014/equal_factor_compensation.csv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Contraste rectangular en los extremos de los factores i,j, con el tercero fijo. Si f es aditiva en estos dos factores, el contraste es cero aunque exista curvatura individual. Un contraste resuelto demuestra no aditividad en esos puntos y respuesta, sin atribuir un término concreto del operador. Se propaga la envolvente como b=4 eta y se exige |I| &gt;=10b.</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líneas describen cuatro contrastes calculados para cada par. El eje horizontal indica el factor que permanece fijo, distinto entre curvas. Puntos llenos superan la puerta de ruido; vacíos no. El par masa–velocidad es marginal y depende de la envolvente empírica. La escala es porcentaje de f0, no porcentaje de varianza explicada.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/Users/nuseche/Desktop/Tesis_codigos/docs/sensibilidad_complementaria_20261014/mixed_contrasts.csv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clasificación de dominancia se limita a tres factores y dominio ±10 %. Los signos detallados se refieren a estimadores originales aceptados. La rejilla conserva la clasificación por magnitud de las secantes de extremo para los cinco grupos principales. La interacción masa-rigidez se demuestra por contraste finito en 10+11 y cuatro velocidades, con la envolvente empírica declarada.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envolvente procede de controles concretos, no de una prueba rigurosa del error de todo el dominio. La convergencia de malla previa corresponde al rotor detenido. El módulo de refinamiento actual no permite rotor girando; no se alteró esa limitación. Las raíces retornadas tienen parte real negativa pero el espectro y análisis congelados no prueban estabilidad de todo el ciclo.</a:t>
            </a:r>
          </a:p>
          <a:p xmlns:a="http://schemas.openxmlformats.org/drawingml/2006/main">
            <a:r>
              <a:t/>
            </a:r>
          </a:p>
          <a:p xmlns:a="http://schemas.openxmlformats.org/drawingml/2006/main">
            <a:r>
              <a:t>Fuentes:</a:t>
            </a:r>
          </a:p>
          <a:p xmlns:a="http://schemas.openxmlformats.org/drawingml/2006/main">
            <a:r>
              <a:t>/Users/nuseche/Desktop/Tesis_codigos/+sensitivity/evaluate_case.m</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propuestas son decisiones científicas pendientes, no campañas ejecutadas. Para estabilidad periódica se requiere un análisis adecuado al sistema periódico. Las propiedades del conjunto existente no equivalen a una turbina comercial calibrada. Cambiar el número de ramas permite estudiar el cierre espectral, pero debe verificarse identidad y costo.</a:t>
            </a:r>
          </a:p>
          <a:p xmlns:a="http://schemas.openxmlformats.org/drawingml/2006/main">
            <a:r>
              <a:t/>
            </a:r>
          </a:p>
          <a:p xmlns:a="http://schemas.openxmlformats.org/drawingml/2006/main">
            <a:r>
              <a:t>Fuentes:</a:t>
            </a:r>
          </a:p>
          <a:p xmlns:a="http://schemas.openxmlformats.org/drawingml/2006/main">
            <a:r>
              <a:t>/Users/nuseche/Desktop/Tesis_codigos/docs/sensibilidad_morris_20261006/SECCION_MORRIS_REVISION.tex</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C=f(next)-2f(center)+f(previous) a pasos iguales. En 10+11 se resolvieron 6 de 32 contrastes de masa/inercia. Los otros contrastes no superaron diez veces 4eta. No se concluye linealidad a partir de ausencia de resolución. Estas diferencias no separan curvatura de todos los órdenes ni establecen monotonicidad continua.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/Users/nuseche/Desktop/Tesis_codigos/docs/sensibilidad_complementaria_20261014/pure_curvature.csv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Residuos máximos sobre la rejilla de 64 puntos. La norma dual de masa escala fuerzas y momentos. Se verificó grupo cerrado y métricas de seguimiento con ref de masa nominal. Las 17 pruebas del módulo y regresión 155/155 son evidencia histórica, no pruebas ejecutadas hoy. Hoy se verifican los 9 casos y los 175 hashes del código existente.</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/Users/nuseche/Desktop/Tesis_codigos/runs/sensitivity/grid_completion_20261014/grid_residuals.csv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comparan mu/0.20 de Morris y media de secantes entre extremos 0.90 y 1.10 en las 16 combinaciones del resto de factores. Los pasos y las ponderaciones son distintos, por lo que no se exige igualdad numérica. Son medias descriptivas de un diseño definido, sin interpretación probabilística física.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referencias respaldan el método de cribado y la extensión mu estrella. Datos de sensibilidad en el solver existente, carpetas initial_20261005, morris_20261006 y grid_completion_20261014. Las figuras anteriores vienen de Tecplot 2025 R2. El usuario autorizó generar nuevas figuras monocromáticas con otro motor ante la licencia expirada. Los nuevos gráficos identifican su motor en figure_catalog.json.</a:t>
            </a:r>
          </a:p>
          <a:p xmlns:a="http://schemas.openxmlformats.org/drawingml/2006/main">
            <a:r>
              <a:t/>
            </a:r>
          </a:p>
          <a:p xmlns:a="http://schemas.openxmlformats.org/drawingml/2006/main">
            <a:r>
              <a:t>Fuentes:</a:t>
            </a:r>
          </a:p>
          <a:p xmlns:a="http://schemas.openxmlformats.org/drawingml/2006/main">
            <a:r>
              <a:t>https://doi.org/10.1080/00401706.1991.10484804</a:t>
            </a:r>
          </a:p>
          <a:p xmlns:a="http://schemas.openxmlformats.org/drawingml/2006/main">
            <a:r>
              <a:t>https://doi.org/10.1016/j.envsoft.2006.10.004</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d935885a6345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b944f284f245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846e11780047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24434a166448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0b3449fc3a41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f345176e3741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69A29D-7845-4980-A1C2-ECBD5D7CAC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092168E-7218-4EB2-A1E1-049D155C47E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610203-B038-47D6-A084-406EE279E7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64EB8E-F0EB-4ABE-AB8C-92DD08B81C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74453F-4858-4463-BE46-90CF60560E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FF13E2-66E0-464C-B7B6-6D413EB6D1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E27096-AE1E-4CBC-A585-E6D82ED0DF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660F92-E662-43F4-BB58-A61EABA5CB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44172F-3EEA-464B-B689-A564A1B8D0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BD7612-BA5D-4220-B796-C68F314601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a5ea669ab44245" /><Relationship Type="http://schemas.openxmlformats.org/officeDocument/2006/relationships/slideLayout" Target="/ppt/slideLayouts/slideLayout1.xml" Id="R071051c9bcf44bf2" /><Relationship Type="http://schemas.openxmlformats.org/officeDocument/2006/relationships/slideLayout" Target="/ppt/slideLayouts/slideLayout2.xml" Id="R0693fa7739dd41b0" /><Relationship Type="http://schemas.openxmlformats.org/officeDocument/2006/relationships/slideLayout" Target="/ppt/slideLayouts/slideLayout3.xml" Id="R155c5437edf24aa7" /><Relationship Type="http://schemas.openxmlformats.org/officeDocument/2006/relationships/slideLayout" Target="/ppt/slideLayouts/slideLayout4.xml" Id="R76b18ac4d10b444d" /><Relationship Type="http://schemas.openxmlformats.org/officeDocument/2006/relationships/slideLayout" Target="/ppt/slideLayouts/slideLayout5.xml" Id="Rf923659dc98740e0" /><Relationship Type="http://schemas.openxmlformats.org/officeDocument/2006/relationships/slideLayout" Target="/ppt/slideLayouts/slideLayout6.xml" Id="R2db6f492ac244b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1051c9bcf44bf2"/>
    <p:sldLayoutId xmlns:r="http://schemas.openxmlformats.org/officeDocument/2006/relationships" id="2147483650" r:id="R0693fa7739dd41b0"/>
    <p:sldLayoutId xmlns:r="http://schemas.openxmlformats.org/officeDocument/2006/relationships" id="2147483651" r:id="R155c5437edf24aa7"/>
    <p:sldLayoutId xmlns:r="http://schemas.openxmlformats.org/officeDocument/2006/relationships" id="2147483652" r:id="R76b18ac4d10b444d"/>
    <p:sldLayoutId xmlns:r="http://schemas.openxmlformats.org/officeDocument/2006/relationships" id="2147483653" r:id="Rf923659dc98740e0"/>
    <p:sldLayoutId xmlns:r="http://schemas.openxmlformats.org/officeDocument/2006/relationships" id="2147483654" r:id="R2db6f492ac244b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c9c764cf37405f" /><Relationship Type="http://schemas.openxmlformats.org/officeDocument/2006/relationships/notesSlide" Target="/ppt/notesSlides/notesSlide1.xml" Id="R220b2f497e0342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8b554e14b743fa" /><Relationship Type="http://schemas.openxmlformats.org/officeDocument/2006/relationships/image" Target="/ppt/media/image.png" Id="Red585a6acfbd48d1" /><Relationship Type="http://schemas.openxmlformats.org/officeDocument/2006/relationships/notesSlide" Target="/ppt/notesSlides/notesSlide2.xml" Id="Rbd0efb36f22248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0ee1766b974780" /><Relationship Type="http://schemas.openxmlformats.org/officeDocument/2006/relationships/notesSlide" Target="/ppt/notesSlides/notesSlide3.xml" Id="R89695e06a38343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e59b52745648fa" /><Relationship Type="http://schemas.openxmlformats.org/officeDocument/2006/relationships/notesSlide" Target="/ppt/notesSlides/notesSlide4.xml" Id="R28d7ef8363034a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ff56a188f34c31" /><Relationship Type="http://schemas.openxmlformats.org/officeDocument/2006/relationships/notesSlide" Target="/ppt/notesSlides/notesSlide5.xml" Id="R1946e77cdf184a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fd38f9d3b3848ab" /><Relationship Type="http://schemas.openxmlformats.org/officeDocument/2006/relationships/notesSlide" Target="/ppt/notesSlides/notesSlide6.xml" Id="R5209251346b34b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2244705104446" /><Relationship Type="http://schemas.openxmlformats.org/officeDocument/2006/relationships/image" Target="/ppt/media/image2.png" Id="R88d8bd92b9f64b14" /><Relationship Type="http://schemas.openxmlformats.org/officeDocument/2006/relationships/notesSlide" Target="/ppt/notesSlides/notesSlide7.xml" Id="Rf15c2730c0244c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79b9d2c4c04231" /><Relationship Type="http://schemas.openxmlformats.org/officeDocument/2006/relationships/notesSlide" Target="/ppt/notesSlides/notesSlide8.xml" Id="R424ca95681544f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75418b8a70f4499" /><Relationship Type="http://schemas.openxmlformats.org/officeDocument/2006/relationships/image" Target="/ppt/media/image3.png" Id="R99a8ffc2e63e4e54" /><Relationship Type="http://schemas.openxmlformats.org/officeDocument/2006/relationships/notesSlide" Target="/ppt/notesSlides/notesSlide9.xml" Id="Re5c619dc8e9a42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f8c820784a45f8" /><Relationship Type="http://schemas.openxmlformats.org/officeDocument/2006/relationships/image" Target="/ppt/media/image4.png" Id="R578ac0ed849d4c63" /><Relationship Type="http://schemas.openxmlformats.org/officeDocument/2006/relationships/notesSlide" Target="/ppt/notesSlides/notesSlide10.xml" Id="R965acc17ac8348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21e366e30a3451b" /><Relationship Type="http://schemas.openxmlformats.org/officeDocument/2006/relationships/image" Target="/ppt/media/image5.png" Id="R573c630e88b0440c" /><Relationship Type="http://schemas.openxmlformats.org/officeDocument/2006/relationships/notesSlide" Target="/ppt/notesSlides/notesSlide11.xml" Id="R3c9a02a0723c43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1388f6d93f4df6" /><Relationship Type="http://schemas.openxmlformats.org/officeDocument/2006/relationships/notesSlide" Target="/ppt/notesSlides/notesSlide12.xml" Id="Ra143d7ef89884d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a8e9422702a41a6" /><Relationship Type="http://schemas.openxmlformats.org/officeDocument/2006/relationships/image" Target="/ppt/media/image6.png" Id="Raea450e94c924454" /><Relationship Type="http://schemas.openxmlformats.org/officeDocument/2006/relationships/notesSlide" Target="/ppt/notesSlides/notesSlide13.xml" Id="Rf1715eea399c4e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de0f72a1be7429f" /><Relationship Type="http://schemas.openxmlformats.org/officeDocument/2006/relationships/notesSlide" Target="/ppt/notesSlides/notesSlide14.xml" Id="R9bf95f82a51b4d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2dfa4799a854566" /><Relationship Type="http://schemas.openxmlformats.org/officeDocument/2006/relationships/notesSlide" Target="/ppt/notesSlides/notesSlide15.xml" Id="Rc8e2f45f3e3643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afb641b03564911" /><Relationship Type="http://schemas.openxmlformats.org/officeDocument/2006/relationships/notesSlide" Target="/ppt/notesSlides/notesSlide16.xml" Id="R7f681525c23c4b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0098d6c212f488b" /><Relationship Type="http://schemas.openxmlformats.org/officeDocument/2006/relationships/image" Target="/ppt/media/image7.png" Id="R882394ffa8d34b83" /><Relationship Type="http://schemas.openxmlformats.org/officeDocument/2006/relationships/notesSlide" Target="/ppt/notesSlides/notesSlide17.xml" Id="Rb76faa846ef349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a861d23ff464f5f" /><Relationship Type="http://schemas.openxmlformats.org/officeDocument/2006/relationships/notesSlide" Target="/ppt/notesSlides/notesSlide18.xml" Id="Rb7ef2e146fe54a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34102e170ad4c69" /><Relationship Type="http://schemas.openxmlformats.org/officeDocument/2006/relationships/image" Target="/ppt/media/image8.png" Id="R9301744bf9cb4c0a" /><Relationship Type="http://schemas.openxmlformats.org/officeDocument/2006/relationships/notesSlide" Target="/ppt/notesSlides/notesSlide19.xml" Id="R82fbff3b5e88492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dfc801cde314be3" /><Relationship Type="http://schemas.openxmlformats.org/officeDocument/2006/relationships/notesSlide" Target="/ppt/notesSlides/notesSlide20.xml" Id="Rb1886a4d9ff9459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7cacab194be4882" /><Relationship Type="http://schemas.openxmlformats.org/officeDocument/2006/relationships/notesSlide" Target="/ppt/notesSlides/notesSlide21.xml" Id="R0240799e1d6044b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2cc9c69ac604750" /><Relationship Type="http://schemas.openxmlformats.org/officeDocument/2006/relationships/notesSlide" Target="/ppt/notesSlides/notesSlide22.xml" Id="R27734b747ae74dd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adbbb77bfea477b" /><Relationship Type="http://schemas.openxmlformats.org/officeDocument/2006/relationships/notesSlide" Target="/ppt/notesSlides/notesSlide23.xml" Id="Rb37f635f44e24b9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2ada2a802d74fe0" /><Relationship Type="http://schemas.openxmlformats.org/officeDocument/2006/relationships/notesSlide" Target="/ppt/notesSlides/notesSlide24.xml" Id="R83d41e85bca643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085e91e6e7243ff" /><Relationship Type="http://schemas.openxmlformats.org/officeDocument/2006/relationships/notesSlide" Target="/ppt/notesSlides/notesSlide25.xml" Id="R2130e5f3a4564d4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419a21c367f49e4" /><Relationship Type="http://schemas.openxmlformats.org/officeDocument/2006/relationships/notesSlide" Target="/ppt/notesSlides/notesSlide26.xml" Id="R0e195c0df390496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B129DC-7EF5-462A-B03C-910C01CB91EB}"/>
              </a:ext>
            </a:extLst>
          </p:cNvPr>
          <p:cNvSpPr>
            <a:spLocks xmlns:a="http://schemas.openxmlformats.org/drawingml/2006/main" noGrp="1"/>
          </p:cNvSpPr>
          <p:nvPr/>
        </p:nvSpPr>
        <p:spPr>
          <a:xfrm xmlns:a="http://schemas.openxmlformats.org/drawingml/2006/main">
            <a:off x="666750" y="1619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151515"/>
                </a:solidFill>
                <a:latin typeface="Arial"/>
                <a:ea typeface="Arial"/>
                <a:cs typeface="Arial"/>
              </a:defRPr>
            </a:defPPr>
          </a:lstStyle>
          <a:p xmlns:a="http://schemas.openxmlformats.org/drawingml/2006/main">
            <a:pPr>
              <a:lnSpc>
                <a:spcPct val="112000"/>
              </a:lnSpc>
              <a:buNone/>
              <a:defRPr sz="4500" b="1">
                <a:solidFill>
                  <a:srgbClr val="151515"/>
                </a:solidFill>
                <a:latin typeface="Arial"/>
                <a:ea typeface="Arial"/>
                <a:cs typeface="Arial"/>
              </a:defRPr>
            </a:pPr>
            <a:r>
              <a:rPr sz="4500" b="1">
                <a:solidFill>
                  <a:srgbClr val="151515"/>
                </a:solidFill>
                <a:latin typeface="Arial"/>
                <a:ea typeface="Arial"/>
                <a:cs typeface="Arial"/>
              </a:rPr>
              <a:t>Sensibilidad del aerogenerador</a:t>
            </a:r>
          </a:p>
        </p:txBody>
      </p:sp>
      <p:sp>
        <p:nvSpPr>
          <p:cNvPr id="2" name="">
            <a:extLst xmlns:a="http://schemas.openxmlformats.org/drawingml/2006/main">
              <a:ext uri="{FF2B5EF4-FFF2-40B4-BE49-F238E27FC236}">
                <a16:creationId xmlns:a16="http://schemas.microsoft.com/office/drawing/2014/main" id="{4160BD64-07E5-463D-9AC6-56951EA7645C}"/>
              </a:ext>
            </a:extLst>
          </p:cNvPr>
          <p:cNvSpPr>
            <a:spLocks xmlns:a="http://schemas.openxmlformats.org/drawingml/2006/main" noGrp="1"/>
          </p:cNvSpPr>
          <p:nvPr/>
        </p:nvSpPr>
        <p:spPr>
          <a:xfrm xmlns:a="http://schemas.openxmlformats.org/drawingml/2006/main">
            <a:off x="704850" y="2743200"/>
            <a:ext cx="1038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0">
                <a:solidFill>
                  <a:srgbClr val="151515"/>
                </a:solidFill>
                <a:latin typeface="Arial"/>
                <a:ea typeface="Arial"/>
                <a:cs typeface="Arial"/>
              </a:defRPr>
            </a:defPPr>
          </a:lstStyle>
          <a:p xmlns:a="http://schemas.openxmlformats.org/drawingml/2006/main">
            <a:pPr>
              <a:lnSpc>
                <a:spcPct val="112000"/>
              </a:lnSpc>
              <a:buNone/>
              <a:defRPr sz="2850" b="0">
                <a:solidFill>
                  <a:srgbClr val="151515"/>
                </a:solidFill>
                <a:latin typeface="Arial"/>
                <a:ea typeface="Arial"/>
                <a:cs typeface="Arial"/>
              </a:defRPr>
            </a:pPr>
            <a:r>
              <a:rPr sz="2850" b="0">
                <a:solidFill>
                  <a:srgbClr val="151515"/>
                </a:solidFill>
                <a:latin typeface="Arial"/>
                <a:ea typeface="Arial"/>
                <a:cs typeface="Arial"/>
              </a:rPr>
              <a:t>Método, resultados y comprobación de efectos combinados</a:t>
            </a:r>
          </a:p>
        </p:txBody>
      </p:sp>
      <p:sp>
        <p:nvSpPr>
          <p:cNvPr id="3" name="">
            <a:extLst xmlns:a="http://schemas.openxmlformats.org/drawingml/2006/main">
              <a:ext uri="{FF2B5EF4-FFF2-40B4-BE49-F238E27FC236}">
                <a16:creationId xmlns:a16="http://schemas.microsoft.com/office/drawing/2014/main" id="{E16EB533-E06F-4237-A7BA-65EC7CAF4B3C}"/>
              </a:ext>
            </a:extLst>
          </p:cNvPr>
          <p:cNvSpPr>
            <a:spLocks xmlns:a="http://schemas.openxmlformats.org/drawingml/2006/main" noGrp="1"/>
          </p:cNvSpPr>
          <p:nvPr/>
        </p:nvSpPr>
        <p:spPr>
          <a:xfrm xmlns:a="http://schemas.openxmlformats.org/drawingml/2006/main">
            <a:off x="704850" y="44958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Nicolás Andrés Useche Castillo</a:t>
            </a:r>
          </a:p>
        </p:txBody>
      </p:sp>
      <p:sp>
        <p:nvSpPr>
          <p:cNvPr id="4" name="">
            <a:extLst xmlns:a="http://schemas.openxmlformats.org/drawingml/2006/main">
              <a:ext uri="{FF2B5EF4-FFF2-40B4-BE49-F238E27FC236}">
                <a16:creationId xmlns:a16="http://schemas.microsoft.com/office/drawing/2014/main" id="{6B429A8B-877E-4F7B-90FC-05B902E6EA50}"/>
              </a:ext>
            </a:extLst>
          </p:cNvPr>
          <p:cNvSpPr>
            <a:spLocks xmlns:a="http://schemas.openxmlformats.org/drawingml/2006/main" noGrp="1"/>
          </p:cNvSpPr>
          <p:nvPr/>
        </p:nvSpPr>
        <p:spPr>
          <a:xfrm xmlns:a="http://schemas.openxmlformats.org/drawingml/2006/main">
            <a:off x="704850" y="51054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55555"/>
                </a:solidFill>
                <a:latin typeface="Arial"/>
                <a:ea typeface="Arial"/>
                <a:cs typeface="Arial"/>
              </a:defRPr>
            </a:defPPr>
          </a:lstStyle>
          <a:p xmlns:a="http://schemas.openxmlformats.org/drawingml/2006/main">
            <a:pPr>
              <a:lnSpc>
                <a:spcPct val="112000"/>
              </a:lnSpc>
              <a:buNone/>
              <a:defRPr sz="2100" b="0">
                <a:solidFill>
                  <a:srgbClr val="555555"/>
                </a:solidFill>
                <a:latin typeface="Arial"/>
                <a:ea typeface="Arial"/>
                <a:cs typeface="Arial"/>
              </a:defRPr>
            </a:pPr>
            <a:r>
              <a:rPr sz="2100" b="0">
                <a:solidFill>
                  <a:srgbClr val="555555"/>
                </a:solidFill>
                <a:latin typeface="Arial"/>
                <a:ea typeface="Arial"/>
                <a:cs typeface="Arial"/>
              </a:rPr>
              <a:t>Actualización del 14 de octubre de 2026</a:t>
            </a:r>
          </a:p>
        </p:txBody>
      </p:sp>
    </p:spTree>
    <p:extLst>
      <p:ext uri="{BB962C8B-B14F-4D97-AF65-F5344CB8AC3E}">
        <p14:creationId xmlns:p14="http://schemas.microsoft.com/office/powerpoint/2010/main" val="5740038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AAEA83-37CD-414F-9560-5E4D6C32B38C}"/>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Pregunta y alcance del estudio</a:t>
            </a:r>
          </a:p>
        </p:txBody>
      </p:sp>
      <p:sp>
        <p:nvSpPr>
          <p:cNvPr id="2" name="">
            <a:extLst xmlns:a="http://schemas.openxmlformats.org/drawingml/2006/main">
              <a:ext uri="{FF2B5EF4-FFF2-40B4-BE49-F238E27FC236}">
                <a16:creationId xmlns:a16="http://schemas.microsoft.com/office/drawing/2014/main" id="{EAA119A0-979A-451D-9408-C34072B6C1E6}"/>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4C84B71B-8A18-43BF-82F1-3597ED58AB0D}"/>
              </a:ext>
            </a:extLst>
          </p:cNvPr>
          <p:cNvPicPr>
            <a:picLocks xmlns:a="http://schemas.openxmlformats.org/drawingml/2006/main" noChangeAspect="1"/>
          </p:cNvPicPr>
          <p:nvPr/>
        </p:nvPicPr>
        <p:blipFill>
          <a:blip xmlns:r="http://schemas.openxmlformats.org/officeDocument/2006/relationships" xmlns:a="http://schemas.openxmlformats.org/drawingml/2006/main" r:embed="Red585a6acfbd48d1"/>
          <a:stretch xmlns:a="http://schemas.openxmlformats.org/drawingml/2006/main"/>
        </p:blipFill>
        <p:spPr>
          <a:xfrm xmlns:a="http://schemas.openxmlformats.org/drawingml/2006/main">
            <a:off x="1321594" y="1371600"/>
            <a:ext cx="4167188"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80BFFD-E36E-4FCC-A54B-91297D000DE3}"/>
              </a:ext>
            </a:extLst>
          </p:cNvPr>
          <p:cNvSpPr>
            <a:spLocks xmlns:a="http://schemas.openxmlformats.org/drawingml/2006/main" noGrp="1"/>
          </p:cNvSpPr>
          <p:nvPr/>
        </p:nvSpPr>
        <p:spPr>
          <a:xfrm xmlns:a="http://schemas.openxmlformats.org/drawingml/2006/main">
            <a:off x="6572250" y="1581150"/>
            <a:ext cx="4857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51515"/>
                </a:solidFill>
                <a:latin typeface="Arial"/>
                <a:ea typeface="Arial"/>
                <a:cs typeface="Arial"/>
              </a:defRPr>
            </a:defPPr>
          </a:lstStyle>
          <a:p xmlns:a="http://schemas.openxmlformats.org/drawingml/2006/main">
            <a:pPr>
              <a:lnSpc>
                <a:spcPct val="112000"/>
              </a:lnSpc>
              <a:buNone/>
              <a:defRPr sz="2550" b="1">
                <a:solidFill>
                  <a:srgbClr val="151515"/>
                </a:solidFill>
                <a:latin typeface="Arial"/>
                <a:ea typeface="Arial"/>
                <a:cs typeface="Arial"/>
              </a:defRPr>
            </a:pPr>
            <a:r>
              <a:rPr sz="2550" b="1">
                <a:solidFill>
                  <a:srgbClr val="151515"/>
                </a:solidFill>
                <a:latin typeface="Arial"/>
                <a:ea typeface="Arial"/>
                <a:cs typeface="Arial"/>
              </a:rPr>
              <a:t>Influencia de masa/inercia, rigidez de palas y velocidad del rotor</a:t>
            </a:r>
          </a:p>
        </p:txBody>
      </p:sp>
      <p:sp>
        <p:nvSpPr>
          <p:cNvPr id="5" name="">
            <a:extLst xmlns:a="http://schemas.openxmlformats.org/drawingml/2006/main">
              <a:ext uri="{FF2B5EF4-FFF2-40B4-BE49-F238E27FC236}">
                <a16:creationId xmlns:a16="http://schemas.microsoft.com/office/drawing/2014/main" id="{B1CA3DAE-649F-4A87-B000-CACD1B347FAC}"/>
              </a:ext>
            </a:extLst>
          </p:cNvPr>
          <p:cNvSpPr>
            <a:spLocks xmlns:a="http://schemas.openxmlformats.org/drawingml/2006/main" noGrp="1"/>
          </p:cNvSpPr>
          <p:nvPr/>
        </p:nvSpPr>
        <p:spPr>
          <a:xfrm xmlns:a="http://schemas.openxmlformats.org/drawingml/2006/main">
            <a:off x="6572250" y="314325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51515"/>
                </a:solidFill>
                <a:latin typeface="Arial"/>
                <a:ea typeface="Arial"/>
                <a:cs typeface="Arial"/>
              </a:defRPr>
            </a:defPPr>
          </a:lstStyle>
          <a:p xmlns:a="http://schemas.openxmlformats.org/drawingml/2006/main">
            <a:pPr>
              <a:lnSpc>
                <a:spcPct val="112000"/>
              </a:lnSpc>
              <a:buNone/>
              <a:defRPr sz="2400" b="0">
                <a:solidFill>
                  <a:srgbClr val="151515"/>
                </a:solidFill>
                <a:latin typeface="Arial"/>
                <a:ea typeface="Arial"/>
                <a:cs typeface="Arial"/>
              </a:defRPr>
            </a:pPr>
            <a:r>
              <a:rPr sz="2400" b="0">
                <a:solidFill>
                  <a:srgbClr val="151515"/>
                </a:solidFill>
                <a:latin typeface="Arial"/>
                <a:ea typeface="Arial"/>
                <a:cs typeface="Arial"/>
              </a:rPr>
              <a:t>Cada escenario recalcula el equilibrio y las propiedades modales</a:t>
            </a:r>
          </a:p>
        </p:txBody>
      </p:sp>
      <p:sp>
        <p:nvSpPr>
          <p:cNvPr id="6" name="">
            <a:extLst xmlns:a="http://schemas.openxmlformats.org/drawingml/2006/main">
              <a:ext uri="{FF2B5EF4-FFF2-40B4-BE49-F238E27FC236}">
                <a16:creationId xmlns:a16="http://schemas.microsoft.com/office/drawing/2014/main" id="{E99AB3CB-759F-434C-A3F5-FCCEBCC7252E}"/>
              </a:ext>
            </a:extLst>
          </p:cNvPr>
          <p:cNvSpPr>
            <a:spLocks xmlns:a="http://schemas.openxmlformats.org/drawingml/2006/main" noGrp="1"/>
          </p:cNvSpPr>
          <p:nvPr/>
        </p:nvSpPr>
        <p:spPr>
          <a:xfrm xmlns:a="http://schemas.openxmlformats.org/drawingml/2006/main">
            <a:off x="6572250" y="46577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Giro prescrito, azimut congelado y espectro parcial</a:t>
            </a:r>
          </a:p>
        </p:txBody>
      </p:sp>
    </p:spTree>
    <p:extLst>
      <p:ext uri="{BB962C8B-B14F-4D97-AF65-F5344CB8AC3E}">
        <p14:creationId xmlns:p14="http://schemas.microsoft.com/office/powerpoint/2010/main" val="1278371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D73B61-8790-4887-B79B-7A3271AB7BC8}"/>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Parámetros y dominio exploratorio</a:t>
            </a:r>
          </a:p>
        </p:txBody>
      </p:sp>
      <p:sp>
        <p:nvSpPr>
          <p:cNvPr id="2" name="">
            <a:extLst xmlns:a="http://schemas.openxmlformats.org/drawingml/2006/main">
              <a:ext uri="{FF2B5EF4-FFF2-40B4-BE49-F238E27FC236}">
                <a16:creationId xmlns:a16="http://schemas.microsoft.com/office/drawing/2014/main" id="{5909B306-9B74-4161-9BDC-F21892D6BFA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5F0F97D9-E501-40AC-9EB1-7BA0295CF30E}"/>
              </a:ext>
            </a:extLst>
          </p:cNvPr>
          <p:cNvGraphicFramePr/>
          <p:nvPr/>
        </p:nvGraphicFramePr>
        <p:xfrm>
          <a:off xmlns:a="http://schemas.openxmlformats.org/drawingml/2006/main" x="609600" y="1504950"/>
          <a:ext xmlns:a="http://schemas.openxmlformats.org/drawingml/2006/main" cx="10972800" cy="3143250"/>
        </p:xfrm>
        <a:graphic xmlns:a="http://schemas.openxmlformats.org/drawingml/2006/main">
          <a:graphicData uri="http://schemas.openxmlformats.org/drawingml/2006/table">
            <a:tbl>
              <a:tblPr/>
              <a:tblGrid>
                <a:gridCol w="2324100"/>
                <a:gridCol w="5981700"/>
                <a:gridCol w="2667000"/>
              </a:tblGrid>
              <a:tr h="785813">
                <a:tc>
                  <a:txBody>
                    <a:bodyPr>
                      <a:noAutofit/>
                    </a:bodyPr>
                    <a:lstStyle/>
                    <a:p>
                      <a:r>
                        <a:rPr sz="2175" b="1">
                          <a:solidFill>
                            <a:srgbClr val="151515"/>
                          </a:solidFill>
                          <a:latin typeface="Arial"/>
                          <a:ea typeface="Arial"/>
                          <a:cs typeface="Arial"/>
                        </a:rPr>
                        <a:t>Factor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Propiedades que cambian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Intervalo</a:t>
                      </a:r>
                    </a:p>
                  </a:txBody>
                  <a:tcPr marL="91440" marR="91440" marT="45720" marB="45720" anchor="ctr">
                    <a:solidFill>
                      <a:srgbClr val="EEEEEE"/>
                    </a:solidFill>
                  </a:tcPr>
                </a:tc>
              </a:tr>
              <a:tr h="785813">
                <a:tc>
                  <a:txBody>
                    <a:bodyPr>
                      <a:noAutofit/>
                    </a:bodyPr>
                    <a:lstStyle/>
                    <a:p>
                      <a:r>
                        <a:rPr sz="217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Masa e inercias de las tres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Seis rigideces seccionales de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Velocidad angular prescrita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10.8–13.2 rpm</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8DB9D0A-5DCD-4D9F-9766-4860CC5B91F4}"/>
              </a:ext>
            </a:extLst>
          </p:cNvPr>
          <p:cNvSpPr>
            <a:spLocks xmlns:a="http://schemas.openxmlformats.org/drawingml/2006/main" noGrp="1"/>
          </p:cNvSpPr>
          <p:nvPr/>
        </p:nvSpPr>
        <p:spPr>
          <a:xfrm xmlns:a="http://schemas.openxmlformats.org/drawingml/2006/main">
            <a:off x="685800" y="509587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Nominal de los factores: 1.00</a:t>
            </a:r>
          </a:p>
        </p:txBody>
      </p:sp>
      <p:sp>
        <p:nvSpPr>
          <p:cNvPr id="5" name="">
            <a:extLst xmlns:a="http://schemas.openxmlformats.org/drawingml/2006/main">
              <a:ext uri="{FF2B5EF4-FFF2-40B4-BE49-F238E27FC236}">
                <a16:creationId xmlns:a16="http://schemas.microsoft.com/office/drawing/2014/main" id="{F5E7D4E7-E24E-4F15-BF5B-5C019B8B4227}"/>
              </a:ext>
            </a:extLst>
          </p:cNvPr>
          <p:cNvSpPr>
            <a:spLocks xmlns:a="http://schemas.openxmlformats.org/drawingml/2006/main" noGrp="1"/>
          </p:cNvSpPr>
          <p:nvPr/>
        </p:nvSpPr>
        <p:spPr>
          <a:xfrm xmlns:a="http://schemas.openxmlformats.org/drawingml/2006/main">
            <a:off x="685800" y="563880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Geometría y restantes parámetros físicos: valores existentes</a:t>
            </a:r>
          </a:p>
        </p:txBody>
      </p:sp>
    </p:spTree>
    <p:extLst>
      <p:ext uri="{BB962C8B-B14F-4D97-AF65-F5344CB8AC3E}">
        <p14:creationId xmlns:p14="http://schemas.microsoft.com/office/powerpoint/2010/main" val="6797637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C07EE7-34A3-477B-A20D-317286866258}"/>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Respuestas modales</a:t>
            </a:r>
          </a:p>
        </p:txBody>
      </p:sp>
      <p:sp>
        <p:nvSpPr>
          <p:cNvPr id="2" name="">
            <a:extLst xmlns:a="http://schemas.openxmlformats.org/drawingml/2006/main">
              <a:ext uri="{FF2B5EF4-FFF2-40B4-BE49-F238E27FC236}">
                <a16:creationId xmlns:a16="http://schemas.microsoft.com/office/drawing/2014/main" id="{0EDEE651-4989-4670-A047-4BDC5FD0A3AE}"/>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5D53CC3A-2274-4725-A4F6-30DA8415DF3E}"/>
              </a:ext>
            </a:extLst>
          </p:cNvPr>
          <p:cNvGraphicFramePr/>
          <p:nvPr/>
        </p:nvGraphicFramePr>
        <p:xfrm>
          <a:off xmlns:a="http://schemas.openxmlformats.org/drawingml/2006/main" x="609600" y="1504950"/>
          <a:ext xmlns:a="http://schemas.openxmlformats.org/drawingml/2006/main" cx="10972800" cy="3314700"/>
        </p:xfrm>
        <a:graphic xmlns:a="http://schemas.openxmlformats.org/drawingml/2006/main">
          <a:graphicData uri="http://schemas.openxmlformats.org/drawingml/2006/table">
            <a:tbl>
              <a:tblPr/>
              <a:tblGrid>
                <a:gridCol w="2524125"/>
                <a:gridCol w="4067175"/>
                <a:gridCol w="4381500"/>
              </a:tblGrid>
              <a:tr h="828675">
                <a:tc>
                  <a:txBody>
                    <a:bodyPr>
                      <a:noAutofit/>
                    </a:bodyPr>
                    <a:lstStyle/>
                    <a:p>
                      <a:r>
                        <a:rPr sz="2175" b="1">
                          <a:solidFill>
                            <a:srgbClr val="151515"/>
                          </a:solidFill>
                          <a:latin typeface="Arial"/>
                          <a:ea typeface="Arial"/>
                          <a:cs typeface="Arial"/>
                        </a:rPr>
                        <a:t>Respuesta</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Definición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Interpretación</a:t>
                      </a:r>
                    </a:p>
                  </a:txBody>
                  <a:tcPr marL="91440" marR="91440" marT="45720" marB="45720" anchor="ctr">
                    <a:solidFill>
                      <a:srgbClr val="EEEEEE"/>
                    </a:solidFill>
                  </a:tcPr>
                </a:tc>
              </a:tr>
              <a:tr h="828675">
                <a:tc>
                  <a:txBody>
                    <a:bodyPr>
                      <a:noAutofit/>
                    </a:bodyPr>
                    <a:lstStyle/>
                    <a:p>
                      <a:r>
                        <a:rPr sz="2175" b="0">
                          <a:solidFill>
                            <a:srgbClr val="151515"/>
                          </a:solidFill>
                          <a:latin typeface="Arial"/>
                          <a:ea typeface="Arial"/>
                          <a:cs typeface="Arial"/>
                        </a:rPr>
                        <a:t>Frecuencia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f = |Im λ| / (2π) [Hz]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Oscilaciones por segundo</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Crecimiento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γ = Re λ [s⁻¹]</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Evolución de la amplitud</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Amortiguamiento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ζ = −Re λ / |λ|</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Decaimiento relativo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75E380F-79CB-4EDE-953B-936FC7BC6BF4}"/>
              </a:ext>
            </a:extLst>
          </p:cNvPr>
          <p:cNvSpPr>
            <a:spLocks xmlns:a="http://schemas.openxmlformats.org/drawingml/2006/main" noGrp="1"/>
          </p:cNvSpPr>
          <p:nvPr/>
        </p:nvSpPr>
        <p:spPr>
          <a:xfrm xmlns:a="http://schemas.openxmlformats.org/drawingml/2006/main">
            <a:off x="685800" y="5257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La forma modal describe el patrón de movimiento acoplado</a:t>
            </a:r>
          </a:p>
        </p:txBody>
      </p:sp>
    </p:spTree>
    <p:extLst>
      <p:ext uri="{BB962C8B-B14F-4D97-AF65-F5344CB8AC3E}">
        <p14:creationId xmlns:p14="http://schemas.microsoft.com/office/powerpoint/2010/main" val="11655625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47EC46-6E48-402F-8A58-6E3C119FE6BD}"/>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Grupos seguidos por sus formas</a:t>
            </a:r>
          </a:p>
        </p:txBody>
      </p:sp>
      <p:sp>
        <p:nvSpPr>
          <p:cNvPr id="2" name="">
            <a:extLst xmlns:a="http://schemas.openxmlformats.org/drawingml/2006/main">
              <a:ext uri="{FF2B5EF4-FFF2-40B4-BE49-F238E27FC236}">
                <a16:creationId xmlns:a16="http://schemas.microsoft.com/office/drawing/2014/main" id="{5323CB84-6994-412E-BE91-9AF842E63861}"/>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07E51AAA-4141-4971-813E-10CC060CC15F}"/>
              </a:ext>
            </a:extLst>
          </p:cNvPr>
          <p:cNvGraphicFramePr/>
          <p:nvPr/>
        </p:nvGraphicFramePr>
        <p:xfrm>
          <a:off xmlns:a="http://schemas.openxmlformats.org/drawingml/2006/main" x="609600" y="1362075"/>
          <a:ext xmlns:a="http://schemas.openxmlformats.org/drawingml/2006/main" cx="10972800" cy="4048125"/>
        </p:xfrm>
        <a:graphic xmlns:a="http://schemas.openxmlformats.org/drawingml/2006/main">
          <a:graphicData uri="http://schemas.openxmlformats.org/drawingml/2006/table">
            <a:tbl>
              <a:tblPr/>
              <a:tblGrid>
                <a:gridCol w="1285875"/>
                <a:gridCol w="2190750"/>
                <a:gridCol w="4219575"/>
                <a:gridCol w="3276600"/>
              </a:tblGrid>
              <a:tr h="506016">
                <a:tc>
                  <a:txBody>
                    <a:bodyPr>
                      <a:noAutofit/>
                    </a:bodyPr>
                    <a:lstStyle/>
                    <a:p>
                      <a:r>
                        <a:rPr sz="19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f nominal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Mayor influencia Morris</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Estado</a:t>
                      </a:r>
                    </a:p>
                  </a:txBody>
                  <a:tcPr marL="91440" marR="91440" marT="45720" marB="45720" anchor="ctr">
                    <a:solidFill>
                      <a:srgbClr val="EEEEEE"/>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Ninguna aceptada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Ruido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Giro no resuelto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1.595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Sin estimadores</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Frontera espectral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F3BAA94-4129-4C28-BD23-23E94BAF9302}"/>
              </a:ext>
            </a:extLst>
          </p:cNvPr>
          <p:cNvSpPr>
            <a:spLocks xmlns:a="http://schemas.openxmlformats.org/drawingml/2006/main" noGrp="1"/>
          </p:cNvSpPr>
          <p:nvPr/>
        </p:nvSpPr>
        <p:spPr>
          <a:xfrm xmlns:a="http://schemas.openxmlformats.org/drawingml/2006/main">
            <a:off x="647700" y="56388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10+11 reúne dos ramas. La respuesta del grupo es su frecuencia media</a:t>
            </a:r>
          </a:p>
        </p:txBody>
      </p:sp>
    </p:spTree>
    <p:extLst>
      <p:ext uri="{BB962C8B-B14F-4D97-AF65-F5344CB8AC3E}">
        <p14:creationId xmlns:p14="http://schemas.microsoft.com/office/powerpoint/2010/main" val="17373010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C64880-EB79-45F1-B76F-FAB0B0C1ABF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Etapas del análisis</a:t>
            </a:r>
          </a:p>
        </p:txBody>
      </p:sp>
      <p:sp>
        <p:nvSpPr>
          <p:cNvPr id="2" name="">
            <a:extLst xmlns:a="http://schemas.openxmlformats.org/drawingml/2006/main">
              <a:ext uri="{FF2B5EF4-FFF2-40B4-BE49-F238E27FC236}">
                <a16:creationId xmlns:a16="http://schemas.microsoft.com/office/drawing/2014/main" id="{E0557315-5C96-46DA-BD12-8EA469D76C0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4C06FAE0-84F7-416A-801D-67CE59D96732}"/>
              </a:ext>
            </a:extLst>
          </p:cNvPr>
          <p:cNvGraphicFramePr/>
          <p:nvPr/>
        </p:nvGraphicFramePr>
        <p:xfrm>
          <a:off xmlns:a="http://schemas.openxmlformats.org/drawingml/2006/main" x="609600" y="1504950"/>
          <a:ext xmlns:a="http://schemas.openxmlformats.org/drawingml/2006/main" cx="10972800" cy="3495675"/>
        </p:xfrm>
        <a:graphic xmlns:a="http://schemas.openxmlformats.org/drawingml/2006/main">
          <a:graphicData uri="http://schemas.openxmlformats.org/drawingml/2006/table">
            <a:tbl>
              <a:tblPr/>
              <a:tblGrid>
                <a:gridCol w="2724150"/>
                <a:gridCol w="4600575"/>
                <a:gridCol w="3648075"/>
              </a:tblGrid>
              <a:tr h="873919">
                <a:tc>
                  <a:txBody>
                    <a:bodyPr>
                      <a:noAutofit/>
                    </a:bodyPr>
                    <a:lstStyle/>
                    <a:p>
                      <a:r>
                        <a:rPr sz="2100" b="1">
                          <a:solidFill>
                            <a:srgbClr val="151515"/>
                          </a:solidFill>
                          <a:latin typeface="Arial"/>
                          <a:ea typeface="Arial"/>
                          <a:cs typeface="Arial"/>
                        </a:rPr>
                        <a:t>Etapa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Qué se estudia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Evidencia</a:t>
                      </a:r>
                    </a:p>
                  </a:txBody>
                  <a:tcPr marL="91440" marR="91440" marT="45720" marB="45720" anchor="ctr">
                    <a:solidFill>
                      <a:srgbClr val="EEEEEE"/>
                    </a:solidFill>
                  </a:tcPr>
                </a:tc>
              </a:tr>
              <a:tr h="873919">
                <a:tc>
                  <a:txBody>
                    <a:bodyPr>
                      <a:noAutofit/>
                    </a:bodyPr>
                    <a:lstStyle/>
                    <a:p>
                      <a:r>
                        <a:rPr sz="2100" b="0">
                          <a:solidFill>
                            <a:srgbClr val="151515"/>
                          </a:solidFill>
                          <a:latin typeface="Arial"/>
                          <a:ea typeface="Arial"/>
                          <a:cs typeface="Arial"/>
                        </a:rPr>
                        <a:t>Sensibilidad local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8 factores, pasos 2 %, 1 % y 0.5 %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Diferencias centrales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Morris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3 factores dentro de ±10 %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40 trayectorias, 170 evaluaciones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Comprobación actual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Rejilla completa de 4³ puntos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6 puntos y 3 controles nuevos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DE9DD99-B52E-4DA2-B17F-AE1BC5A23235}"/>
              </a:ext>
            </a:extLst>
          </p:cNvPr>
          <p:cNvSpPr>
            <a:spLocks xmlns:a="http://schemas.openxmlformats.org/drawingml/2006/main" noGrp="1"/>
          </p:cNvSpPr>
          <p:nvPr/>
        </p:nvSpPr>
        <p:spPr>
          <a:xfrm xmlns:a="http://schemas.openxmlformats.org/drawingml/2006/main">
            <a:off x="685800" y="54292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La campaña Morris original conserva sus estimadores y sus registros</a:t>
            </a:r>
          </a:p>
        </p:txBody>
      </p:sp>
    </p:spTree>
    <p:extLst>
      <p:ext uri="{BB962C8B-B14F-4D97-AF65-F5344CB8AC3E}">
        <p14:creationId xmlns:p14="http://schemas.microsoft.com/office/powerpoint/2010/main" val="532588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E0254C-7CE3-40F4-BB59-B9B6E60A8C8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Una trayectoria cambia un factor por segmento</a:t>
            </a:r>
          </a:p>
        </p:txBody>
      </p:sp>
      <p:sp>
        <p:nvSpPr>
          <p:cNvPr id="2" name="">
            <a:extLst xmlns:a="http://schemas.openxmlformats.org/drawingml/2006/main">
              <a:ext uri="{FF2B5EF4-FFF2-40B4-BE49-F238E27FC236}">
                <a16:creationId xmlns:a16="http://schemas.microsoft.com/office/drawing/2014/main" id="{7F9B47C0-8906-4DC7-AEDD-3432CBDB619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91B6E361-5C8D-464F-B254-AC232C99A822}"/>
              </a:ext>
            </a:extLst>
          </p:cNvPr>
          <p:cNvPicPr>
            <a:picLocks xmlns:a="http://schemas.openxmlformats.org/drawingml/2006/main" noChangeAspect="1"/>
          </p:cNvPicPr>
          <p:nvPr/>
        </p:nvPicPr>
        <p:blipFill>
          <a:blip xmlns:r="http://schemas.openxmlformats.org/officeDocument/2006/relationships" xmlns:a="http://schemas.openxmlformats.org/drawingml/2006/main" r:embed="R88d8bd92b9f64b14"/>
          <a:stretch xmlns:a="http://schemas.openxmlformats.org/drawingml/2006/main"/>
        </p:blipFill>
        <p:spPr>
          <a:xfrm xmlns:a="http://schemas.openxmlformats.org/drawingml/2006/main">
            <a:off x="668626" y="1352550"/>
            <a:ext cx="10854748" cy="4591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B5DA393-F42C-4708-A5C3-55534D792131}"/>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40 trayectorias producen 40 efectos elementales por factor y respuesta</a:t>
            </a:r>
          </a:p>
        </p:txBody>
      </p:sp>
    </p:spTree>
    <p:extLst>
      <p:ext uri="{BB962C8B-B14F-4D97-AF65-F5344CB8AC3E}">
        <p14:creationId xmlns:p14="http://schemas.microsoft.com/office/powerpoint/2010/main" val="11211986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F9A814-A74B-47DB-B9A6-5D6293108D7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Indicadores de Morris</a:t>
            </a:r>
          </a:p>
        </p:txBody>
      </p:sp>
      <p:sp>
        <p:nvSpPr>
          <p:cNvPr id="2" name="">
            <a:extLst xmlns:a="http://schemas.openxmlformats.org/drawingml/2006/main">
              <a:ext uri="{FF2B5EF4-FFF2-40B4-BE49-F238E27FC236}">
                <a16:creationId xmlns:a16="http://schemas.microsoft.com/office/drawing/2014/main" id="{8C7D46E0-47D5-4B4C-BF16-C22A097E04E0}"/>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919BBF8A-8EF4-4309-ADC6-46B5647F683D}"/>
              </a:ext>
            </a:extLst>
          </p:cNvPr>
          <p:cNvGraphicFramePr/>
          <p:nvPr/>
        </p:nvGraphicFramePr>
        <p:xfrm>
          <a:off xmlns:a="http://schemas.openxmlformats.org/drawingml/2006/main" x="609600" y="1504950"/>
          <a:ext xmlns:a="http://schemas.openxmlformats.org/drawingml/2006/main" cx="10972800" cy="3371850"/>
        </p:xfrm>
        <a:graphic xmlns:a="http://schemas.openxmlformats.org/drawingml/2006/main">
          <a:graphicData uri="http://schemas.openxmlformats.org/drawingml/2006/table">
            <a:tbl>
              <a:tblPr/>
              <a:tblGrid>
                <a:gridCol w="1809750"/>
                <a:gridCol w="4229100"/>
                <a:gridCol w="4933950"/>
              </a:tblGrid>
              <a:tr h="842963">
                <a:tc>
                  <a:txBody>
                    <a:bodyPr>
                      <a:noAutofit/>
                    </a:bodyPr>
                    <a:lstStyle/>
                    <a:p>
                      <a:r>
                        <a:rPr sz="2175" b="1">
                          <a:solidFill>
                            <a:srgbClr val="151515"/>
                          </a:solidFill>
                          <a:latin typeface="Arial"/>
                          <a:ea typeface="Arial"/>
                          <a:cs typeface="Arial"/>
                        </a:rPr>
                        <a:t>Indicador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Qué resume</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Cómo se interpreta</a:t>
                      </a:r>
                    </a:p>
                  </a:txBody>
                  <a:tcPr marL="91440" marR="91440" marT="45720" marB="45720" anchor="ctr">
                    <a:solidFill>
                      <a:srgbClr val="EEEEEE"/>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con signo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Dirección media del efecto</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de valores absolutos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Magnitud media de influencia</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σ</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Dispersión de efectos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Variación según la posición del dominio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59FE5D0-3321-4357-B059-87C1859638B6}"/>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σ puede combinar curvatura e interacción entre factores</a:t>
            </a:r>
          </a:p>
        </p:txBody>
      </p:sp>
    </p:spTree>
    <p:extLst>
      <p:ext uri="{BB962C8B-B14F-4D97-AF65-F5344CB8AC3E}">
        <p14:creationId xmlns:p14="http://schemas.microsoft.com/office/powerpoint/2010/main" val="9125826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E5741A-870E-4629-A5AA-5A8DC620508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Masa y rigidez tienen sentidos opuestos</a:t>
            </a:r>
          </a:p>
        </p:txBody>
      </p:sp>
      <p:sp>
        <p:nvSpPr>
          <p:cNvPr id="2" name="">
            <a:extLst xmlns:a="http://schemas.openxmlformats.org/drawingml/2006/main">
              <a:ext uri="{FF2B5EF4-FFF2-40B4-BE49-F238E27FC236}">
                <a16:creationId xmlns:a16="http://schemas.microsoft.com/office/drawing/2014/main" id="{7215EBF4-506F-40BB-AD12-EC5491ED07D7}"/>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5961F4CB-C387-4C57-BEBE-4A3B7E2DB321}"/>
              </a:ext>
            </a:extLst>
          </p:cNvPr>
          <p:cNvPicPr>
            <a:picLocks xmlns:a="http://schemas.openxmlformats.org/drawingml/2006/main" noChangeAspect="1"/>
          </p:cNvPicPr>
          <p:nvPr/>
        </p:nvPicPr>
        <p:blipFill>
          <a:blip xmlns:r="http://schemas.openxmlformats.org/officeDocument/2006/relationships" xmlns:a="http://schemas.openxmlformats.org/drawingml/2006/main" r:embed="R99a8ffc2e63e4e54"/>
          <a:stretch xmlns:a="http://schemas.openxmlformats.org/drawingml/2006/main"/>
        </p:blipFill>
        <p:spPr>
          <a:xfrm xmlns:a="http://schemas.openxmlformats.org/drawingml/2006/main">
            <a:off x="1695010" y="1257300"/>
            <a:ext cx="8801980" cy="47720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771BD7-0BA6-436F-A257-404378DF5E83}"/>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El giro reduce la frecuencia de 3 y aumenta las de 6+7, 8+9 y 10+11</a:t>
            </a:r>
          </a:p>
        </p:txBody>
      </p:sp>
    </p:spTree>
    <p:extLst>
      <p:ext uri="{BB962C8B-B14F-4D97-AF65-F5344CB8AC3E}">
        <p14:creationId xmlns:p14="http://schemas.microsoft.com/office/powerpoint/2010/main" val="3420958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AF7650-EE5A-4578-AC7C-1BF0BD3FBC8B}"/>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Estabilización de la influencia media</a:t>
            </a:r>
          </a:p>
        </p:txBody>
      </p:sp>
      <p:sp>
        <p:nvSpPr>
          <p:cNvPr id="2" name="">
            <a:extLst xmlns:a="http://schemas.openxmlformats.org/drawingml/2006/main">
              <a:ext uri="{FF2B5EF4-FFF2-40B4-BE49-F238E27FC236}">
                <a16:creationId xmlns:a16="http://schemas.microsoft.com/office/drawing/2014/main" id="{47AFE640-69F3-4EFF-8BB9-A90AFCE4D340}"/>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B92E26BB-C3B9-4FC1-9F4A-B6C16675FC9C}"/>
              </a:ext>
            </a:extLst>
          </p:cNvPr>
          <p:cNvPicPr>
            <a:picLocks xmlns:a="http://schemas.openxmlformats.org/drawingml/2006/main" noChangeAspect="1"/>
          </p:cNvPicPr>
          <p:nvPr/>
        </p:nvPicPr>
        <p:blipFill>
          <a:blip xmlns:r="http://schemas.openxmlformats.org/officeDocument/2006/relationships" xmlns:a="http://schemas.openxmlformats.org/drawingml/2006/main" r:embed="R578ac0ed849d4c63"/>
          <a:stretch xmlns:a="http://schemas.openxmlformats.org/drawingml/2006/main"/>
        </p:blipFill>
        <p:spPr>
          <a:xfrm xmlns:a="http://schemas.openxmlformats.org/drawingml/2006/main">
            <a:off x="609600" y="1406328"/>
            <a:ext cx="10972800" cy="44072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FB37B0-C120-48E4-8585-D3AA5CD3FD9D}"/>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14 influencias aceptadas. Cambio máximo de 20 a 40: 0.80 %</a:t>
            </a:r>
          </a:p>
        </p:txBody>
      </p:sp>
    </p:spTree>
    <p:extLst>
      <p:ext uri="{BB962C8B-B14F-4D97-AF65-F5344CB8AC3E}">
        <p14:creationId xmlns:p14="http://schemas.microsoft.com/office/powerpoint/2010/main" val="14645050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C26720-0160-4401-9E76-C17DEEDC922A}"/>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Resolución frente al ruido numérico</a:t>
            </a:r>
          </a:p>
        </p:txBody>
      </p:sp>
      <p:sp>
        <p:nvSpPr>
          <p:cNvPr id="2" name="">
            <a:extLst xmlns:a="http://schemas.openxmlformats.org/drawingml/2006/main">
              <a:ext uri="{FF2B5EF4-FFF2-40B4-BE49-F238E27FC236}">
                <a16:creationId xmlns:a16="http://schemas.microsoft.com/office/drawing/2014/main" id="{17ADD236-9782-458A-BCF5-F15FC19820B9}"/>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4AB30F95-E034-463F-9CB3-9D569A51F16C}"/>
              </a:ext>
            </a:extLst>
          </p:cNvPr>
          <p:cNvPicPr>
            <a:picLocks xmlns:a="http://schemas.openxmlformats.org/drawingml/2006/main" noChangeAspect="1"/>
          </p:cNvPicPr>
          <p:nvPr/>
        </p:nvPicPr>
        <p:blipFill>
          <a:blip xmlns:r="http://schemas.openxmlformats.org/officeDocument/2006/relationships" xmlns:a="http://schemas.openxmlformats.org/drawingml/2006/main" r:embed="R573c630e88b0440c"/>
          <a:stretch xmlns:a="http://schemas.openxmlformats.org/drawingml/2006/main"/>
        </p:blipFill>
        <p:spPr>
          <a:xfrm xmlns:a="http://schemas.openxmlformats.org/drawingml/2006/main">
            <a:off x="609600" y="1654595"/>
            <a:ext cx="10972800" cy="36154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C19EC5-6531-48AE-BFE6-4632D72AD3D3}"/>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Las tres influencias de 10+11 superan ampliamente el filtro de ruido</a:t>
            </a:r>
          </a:p>
        </p:txBody>
      </p:sp>
    </p:spTree>
    <p:extLst>
      <p:ext uri="{BB962C8B-B14F-4D97-AF65-F5344CB8AC3E}">
        <p14:creationId xmlns:p14="http://schemas.microsoft.com/office/powerpoint/2010/main" val="1946192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7E3553-6D7E-4CFF-8FC0-25590775AD78}"/>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Dispersión de efectos en el grupo 10+11</a:t>
            </a:r>
          </a:p>
        </p:txBody>
      </p:sp>
      <p:sp>
        <p:nvSpPr>
          <p:cNvPr id="2" name="">
            <a:extLst xmlns:a="http://schemas.openxmlformats.org/drawingml/2006/main">
              <a:ext uri="{FF2B5EF4-FFF2-40B4-BE49-F238E27FC236}">
                <a16:creationId xmlns:a16="http://schemas.microsoft.com/office/drawing/2014/main" id="{401ADEB6-4F49-4E9E-AB5D-5967F7B6DF28}"/>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70D6AEB8-5C09-4A9B-A04F-EA8A85012EC3}"/>
              </a:ext>
            </a:extLst>
          </p:cNvPr>
          <p:cNvGraphicFramePr/>
          <p:nvPr/>
        </p:nvGraphicFramePr>
        <p:xfrm>
          <a:off xmlns:a="http://schemas.openxmlformats.org/drawingml/2006/main" x="609600" y="1504950"/>
          <a:ext xmlns:a="http://schemas.openxmlformats.org/drawingml/2006/main" cx="10972800" cy="3190875"/>
        </p:xfrm>
        <a:graphic xmlns:a="http://schemas.openxmlformats.org/drawingml/2006/main">
          <a:graphicData uri="http://schemas.openxmlformats.org/drawingml/2006/table">
            <a:tbl>
              <a:tblPr/>
              <a:tblGrid>
                <a:gridCol w="3143250"/>
                <a:gridCol w="1762125"/>
                <a:gridCol w="1714500"/>
                <a:gridCol w="2352675"/>
                <a:gridCol w="2000250"/>
              </a:tblGrid>
              <a:tr h="797719">
                <a:tc>
                  <a:txBody>
                    <a:bodyPr>
                      <a:noAutofit/>
                    </a:bodyPr>
                    <a:lstStyle/>
                    <a:p>
                      <a:r>
                        <a:rPr sz="2100" b="1">
                          <a:solidFill>
                            <a:srgbClr val="151515"/>
                          </a:solidFill>
                          <a:latin typeface="Arial"/>
                          <a:ea typeface="Arial"/>
                          <a:cs typeface="Arial"/>
                        </a:rPr>
                        <a:t>Factor</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σ</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σ / bσ</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Cambio 20–40</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Estado</a:t>
                      </a:r>
                    </a:p>
                  </a:txBody>
                  <a:tcPr marL="91440" marR="91440" marT="45720" marB="45720" anchor="ctr">
                    <a:solidFill>
                      <a:srgbClr val="EEEEEE"/>
                    </a:solidFill>
                  </a:tcPr>
                </a:tc>
              </a:tr>
              <a:tr h="797719">
                <a:tc>
                  <a:txBody>
                    <a:bodyPr>
                      <a:noAutofit/>
                    </a:bodyPr>
                    <a:lstStyle/>
                    <a:p>
                      <a:r>
                        <a:rPr sz="210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0.00445</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20.52</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6.31 %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Aceptada</a:t>
                      </a:r>
                    </a:p>
                  </a:txBody>
                  <a:tcPr marL="91440" marR="91440" marT="45720" marB="45720" anchor="ctr">
                    <a:solidFill>
                      <a:srgbClr val="FFFFFF"/>
                    </a:solidFill>
                  </a:tcPr>
                </a:tc>
              </a:tr>
              <a:tr h="797719">
                <a:tc>
                  <a:txBody>
                    <a:bodyPr>
                      <a:noAutofit/>
                    </a:bodyPr>
                    <a:lstStyle/>
                    <a:p>
                      <a:r>
                        <a:rPr sz="2100"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0.00283</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13.07</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8.22 %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Aceptada</a:t>
                      </a:r>
                    </a:p>
                  </a:txBody>
                  <a:tcPr marL="91440" marR="91440" marT="45720" marB="45720" anchor="ctr">
                    <a:solidFill>
                      <a:srgbClr val="FFFFFF"/>
                    </a:solidFill>
                  </a:tcPr>
                </a:tc>
              </a:tr>
              <a:tr h="797719">
                <a:tc>
                  <a:txBody>
                    <a:bodyPr>
                      <a:noAutofit/>
                    </a:bodyPr>
                    <a:lstStyle/>
                    <a:p>
                      <a:r>
                        <a:rPr sz="210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0.00173</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7.97</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14.94 %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No resuelta</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31B9763-E2B0-46CA-A6F7-E0D92A85DFFF}"/>
              </a:ext>
            </a:extLst>
          </p:cNvPr>
          <p:cNvSpPr>
            <a:spLocks xmlns:a="http://schemas.openxmlformats.org/drawingml/2006/main" noGrp="1"/>
          </p:cNvSpPr>
          <p:nvPr/>
        </p:nvSpPr>
        <p:spPr>
          <a:xfrm xmlns:a="http://schemas.openxmlformats.org/drawingml/2006/main">
            <a:off x="685800" y="52768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1515"/>
                </a:solidFill>
                <a:latin typeface="Arial"/>
                <a:ea typeface="Arial"/>
                <a:cs typeface="Arial"/>
              </a:defRPr>
            </a:defPPr>
          </a:lstStyle>
          <a:p xmlns:a="http://schemas.openxmlformats.org/drawingml/2006/main">
            <a:pPr>
              <a:lnSpc>
                <a:spcPct val="112000"/>
              </a:lnSpc>
              <a:buNone/>
              <a:defRPr sz="2325" b="1">
                <a:solidFill>
                  <a:srgbClr val="151515"/>
                </a:solidFill>
                <a:latin typeface="Arial"/>
                <a:ea typeface="Arial"/>
                <a:cs typeface="Arial"/>
              </a:defRPr>
            </a:pPr>
            <a:r>
              <a:rPr sz="2325" b="1">
                <a:solidFill>
                  <a:srgbClr val="151515"/>
                </a:solidFill>
                <a:latin typeface="Arial"/>
                <a:ea typeface="Arial"/>
                <a:cs typeface="Arial"/>
              </a:rPr>
              <a:t>La dispersión motivó comprobar curvatura y efectos combinados</a:t>
            </a:r>
          </a:p>
        </p:txBody>
      </p:sp>
    </p:spTree>
    <p:extLst>
      <p:ext uri="{BB962C8B-B14F-4D97-AF65-F5344CB8AC3E}">
        <p14:creationId xmlns:p14="http://schemas.microsoft.com/office/powerpoint/2010/main" val="11317727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638E81-C925-4572-9EFA-E6049896C06F}"/>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Participación predominante de palas en 10 y 11</a:t>
            </a:r>
          </a:p>
        </p:txBody>
      </p:sp>
      <p:sp>
        <p:nvSpPr>
          <p:cNvPr id="2" name="">
            <a:extLst xmlns:a="http://schemas.openxmlformats.org/drawingml/2006/main">
              <a:ext uri="{FF2B5EF4-FFF2-40B4-BE49-F238E27FC236}">
                <a16:creationId xmlns:a16="http://schemas.microsoft.com/office/drawing/2014/main" id="{4FAFCA48-8D8B-4049-90FE-105E152E7D1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C9271351-1110-416A-92C6-5946278A25E3}"/>
              </a:ext>
            </a:extLst>
          </p:cNvPr>
          <p:cNvPicPr>
            <a:picLocks xmlns:a="http://schemas.openxmlformats.org/drawingml/2006/main" noChangeAspect="1"/>
          </p:cNvPicPr>
          <p:nvPr/>
        </p:nvPicPr>
        <p:blipFill>
          <a:blip xmlns:r="http://schemas.openxmlformats.org/officeDocument/2006/relationships" xmlns:a="http://schemas.openxmlformats.org/drawingml/2006/main" r:embed="Raea450e94c924454"/>
          <a:stretch xmlns:a="http://schemas.openxmlformats.org/drawingml/2006/main"/>
        </p:blipFill>
        <p:spPr>
          <a:xfrm xmlns:a="http://schemas.openxmlformats.org/drawingml/2006/main">
            <a:off x="812167" y="1257300"/>
            <a:ext cx="10567667"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11DACB-720D-4BC8-B524-4D6F6D53E2DF}"/>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Las participaciones de referencia respaldan la interpretación mecánica</a:t>
            </a:r>
          </a:p>
        </p:txBody>
      </p:sp>
    </p:spTree>
    <p:extLst>
      <p:ext uri="{BB962C8B-B14F-4D97-AF65-F5344CB8AC3E}">
        <p14:creationId xmlns:p14="http://schemas.microsoft.com/office/powerpoint/2010/main" val="776782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D1BDD9-217B-43CC-8897-FB958423B54C}"/>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Magnitudes orientativas para el grupo 10+11</a:t>
            </a:r>
          </a:p>
        </p:txBody>
      </p:sp>
      <p:sp>
        <p:nvSpPr>
          <p:cNvPr id="2" name="">
            <a:extLst xmlns:a="http://schemas.openxmlformats.org/drawingml/2006/main">
              <a:ext uri="{FF2B5EF4-FFF2-40B4-BE49-F238E27FC236}">
                <a16:creationId xmlns:a16="http://schemas.microsoft.com/office/drawing/2014/main" id="{165A86F2-86DC-47CA-903C-DA9ECA580917}"/>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64245E47-D9E5-4AA6-A8EC-D7510E250937}"/>
              </a:ext>
            </a:extLst>
          </p:cNvPr>
          <p:cNvGraphicFramePr/>
          <p:nvPr/>
        </p:nvGraphicFramePr>
        <p:xfrm>
          <a:off xmlns:a="http://schemas.openxmlformats.org/drawingml/2006/main" x="609600" y="1504950"/>
          <a:ext xmlns:a="http://schemas.openxmlformats.org/drawingml/2006/main" cx="10972800" cy="3048000"/>
        </p:xfrm>
        <a:graphic xmlns:a="http://schemas.openxmlformats.org/drawingml/2006/main">
          <a:graphicData uri="http://schemas.openxmlformats.org/drawingml/2006/table">
            <a:tbl>
              <a:tblPr/>
              <a:tblGrid>
                <a:gridCol w="4857750"/>
                <a:gridCol w="3352800"/>
                <a:gridCol w="2762250"/>
              </a:tblGrid>
              <a:tr h="762000">
                <a:tc>
                  <a:txBody>
                    <a:bodyPr>
                      <a:noAutofit/>
                    </a:bodyPr>
                    <a:lstStyle/>
                    <a:p>
                      <a:r>
                        <a:rPr sz="2325" b="1">
                          <a:solidFill>
                            <a:srgbClr val="151515"/>
                          </a:solidFill>
                          <a:latin typeface="Arial"/>
                          <a:ea typeface="Arial"/>
                          <a:cs typeface="Arial"/>
                        </a:rPr>
                        <a:t>Factor que aumenta 1 %</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relativo de f</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[Hz]</a:t>
                      </a:r>
                    </a:p>
                  </a:txBody>
                  <a:tcPr marL="91440" marR="91440" marT="45720" marB="45720" anchor="ctr">
                    <a:solidFill>
                      <a:srgbClr val="EEEEEE"/>
                    </a:solidFill>
                  </a:tcPr>
                </a:tc>
              </a:tr>
              <a:tr h="762000">
                <a:tc>
                  <a:txBody>
                    <a:bodyPr>
                      <a:noAutofit/>
                    </a:bodyPr>
                    <a:lstStyle/>
                    <a:p>
                      <a:r>
                        <a:rPr sz="232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−0.383 %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−0.00469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+0.359 %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+0.00439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+0.184 %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+0.00225</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DAFC299-B1DD-47D4-97C2-29B36FD52681}"/>
              </a:ext>
            </a:extLst>
          </p:cNvPr>
          <p:cNvSpPr>
            <a:spLocks xmlns:a="http://schemas.openxmlformats.org/drawingml/2006/main" noGrp="1"/>
          </p:cNvSpPr>
          <p:nvPr/>
        </p:nvSpPr>
        <p:spPr>
          <a:xfrm xmlns:a="http://schemas.openxmlformats.org/drawingml/2006/main">
            <a:off x="685800" y="50577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Frecuencia nominal: 1.22543 Hz</a:t>
            </a:r>
          </a:p>
        </p:txBody>
      </p:sp>
      <p:sp>
        <p:nvSpPr>
          <p:cNvPr id="5" name="">
            <a:extLst xmlns:a="http://schemas.openxmlformats.org/drawingml/2006/main">
              <a:ext uri="{FF2B5EF4-FFF2-40B4-BE49-F238E27FC236}">
                <a16:creationId xmlns:a16="http://schemas.microsoft.com/office/drawing/2014/main" id="{6D2BBD86-9C44-4D39-A74F-5897B952F431}"/>
              </a:ext>
            </a:extLst>
          </p:cNvPr>
          <p:cNvSpPr>
            <a:spLocks xmlns:a="http://schemas.openxmlformats.org/drawingml/2006/main" noGrp="1"/>
          </p:cNvSpPr>
          <p:nvPr/>
        </p:nvSpPr>
        <p:spPr>
          <a:xfrm xmlns:a="http://schemas.openxmlformats.org/drawingml/2006/main">
            <a:off x="685800" y="56673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Ejemplos basados en pendientes medias de secante</a:t>
            </a:r>
          </a:p>
        </p:txBody>
      </p:sp>
    </p:spTree>
    <p:extLst>
      <p:ext uri="{BB962C8B-B14F-4D97-AF65-F5344CB8AC3E}">
        <p14:creationId xmlns:p14="http://schemas.microsoft.com/office/powerpoint/2010/main" val="7021516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18DD3C-72D4-4C21-BC69-841A9D0F7B74}"/>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Comprobación sobre las 64 combinaciones</a:t>
            </a:r>
          </a:p>
        </p:txBody>
      </p:sp>
      <p:sp>
        <p:nvSpPr>
          <p:cNvPr id="2" name="">
            <a:extLst xmlns:a="http://schemas.openxmlformats.org/drawingml/2006/main">
              <a:ext uri="{FF2B5EF4-FFF2-40B4-BE49-F238E27FC236}">
                <a16:creationId xmlns:a16="http://schemas.microsoft.com/office/drawing/2014/main" id="{A4B04619-0B98-43BB-B17D-26D9A44D489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4044AFDE-0062-4154-A449-D8B6A46159AC}"/>
              </a:ext>
            </a:extLst>
          </p:cNvPr>
          <p:cNvGraphicFramePr/>
          <p:nvPr/>
        </p:nvGraphicFramePr>
        <p:xfrm>
          <a:off xmlns:a="http://schemas.openxmlformats.org/drawingml/2006/main" x="609600" y="1504950"/>
          <a:ext xmlns:a="http://schemas.openxmlformats.org/drawingml/2006/main" cx="10972800" cy="3381375"/>
        </p:xfrm>
        <a:graphic xmlns:a="http://schemas.openxmlformats.org/drawingml/2006/main">
          <a:graphicData uri="http://schemas.openxmlformats.org/drawingml/2006/table">
            <a:tbl>
              <a:tblPr/>
              <a:tblGrid>
                <a:gridCol w="7791450"/>
                <a:gridCol w="3181350"/>
              </a:tblGrid>
              <a:tr h="676275">
                <a:tc>
                  <a:txBody>
                    <a:bodyPr>
                      <a:noAutofit/>
                    </a:bodyPr>
                    <a:lstStyle/>
                    <a:p>
                      <a:r>
                        <a:rPr sz="2325" b="1">
                          <a:solidFill>
                            <a:srgbClr val="151515"/>
                          </a:solidFill>
                          <a:latin typeface="Arial"/>
                          <a:ea typeface="Arial"/>
                          <a:cs typeface="Arial"/>
                        </a:rPr>
                        <a:t>Componente</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Cantidad</a:t>
                      </a:r>
                    </a:p>
                  </a:txBody>
                  <a:tcPr marL="91440" marR="91440" marT="45720" marB="45720" anchor="ctr">
                    <a:solidFill>
                      <a:srgbClr val="EEEEEE"/>
                    </a:solidFill>
                  </a:tcPr>
                </a:tc>
              </a:tr>
              <a:tr h="676275">
                <a:tc>
                  <a:txBody>
                    <a:bodyPr>
                      <a:noAutofit/>
                    </a:bodyPr>
                    <a:lstStyle/>
                    <a:p>
                      <a:r>
                        <a:rPr sz="2325" b="0">
                          <a:solidFill>
                            <a:srgbClr val="151515"/>
                          </a:solidFill>
                          <a:latin typeface="Arial"/>
                          <a:ea typeface="Arial"/>
                          <a:cs typeface="Arial"/>
                        </a:rPr>
                        <a:t>Puntos existentes reutilizados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58</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Puntos faltantes resueltos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Controles nuevos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3</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Combinaciones de la rejilla completa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64</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E888C0A-997D-42AE-AC88-144BFAA8CD05}"/>
              </a:ext>
            </a:extLst>
          </p:cNvPr>
          <p:cNvSpPr>
            <a:spLocks xmlns:a="http://schemas.openxmlformats.org/drawingml/2006/main" noGrp="1"/>
          </p:cNvSpPr>
          <p:nvPr/>
        </p:nvSpPr>
        <p:spPr>
          <a:xfrm xmlns:a="http://schemas.openxmlformats.org/drawingml/2006/main">
            <a:off x="685800" y="53149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1515"/>
                </a:solidFill>
                <a:latin typeface="Arial"/>
                <a:ea typeface="Arial"/>
                <a:cs typeface="Arial"/>
              </a:defRPr>
            </a:defPPr>
          </a:lstStyle>
          <a:p xmlns:a="http://schemas.openxmlformats.org/drawingml/2006/main">
            <a:pPr>
              <a:lnSpc>
                <a:spcPct val="112000"/>
              </a:lnSpc>
              <a:buNone/>
              <a:defRPr sz="2325" b="1">
                <a:solidFill>
                  <a:srgbClr val="151515"/>
                </a:solidFill>
                <a:latin typeface="Arial"/>
                <a:ea typeface="Arial"/>
                <a:cs typeface="Arial"/>
              </a:defRPr>
            </a:pPr>
            <a:r>
              <a:rPr sz="2325" b="1">
                <a:solidFill>
                  <a:srgbClr val="151515"/>
                </a:solidFill>
                <a:latin typeface="Arial"/>
                <a:ea typeface="Arial"/>
                <a:cs typeface="Arial"/>
              </a:rPr>
              <a:t>Los grupos originales se mantienen. La rama 12 sigue excluida</a:t>
            </a:r>
          </a:p>
        </p:txBody>
      </p:sp>
    </p:spTree>
    <p:extLst>
      <p:ext uri="{BB962C8B-B14F-4D97-AF65-F5344CB8AC3E}">
        <p14:creationId xmlns:p14="http://schemas.microsoft.com/office/powerpoint/2010/main" val="15760557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253187-0072-4C60-9BB9-CB79FAA6709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Intervalos observados en la rejilla completa</a:t>
            </a:r>
          </a:p>
        </p:txBody>
      </p:sp>
      <p:sp>
        <p:nvSpPr>
          <p:cNvPr id="2" name="">
            <a:extLst xmlns:a="http://schemas.openxmlformats.org/drawingml/2006/main">
              <a:ext uri="{FF2B5EF4-FFF2-40B4-BE49-F238E27FC236}">
                <a16:creationId xmlns:a16="http://schemas.microsoft.com/office/drawing/2014/main" id="{3FFC5756-D908-43BB-87A6-1DC2326D566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BB5F8964-A304-4C25-A2D9-AE6E1F26104E}"/>
              </a:ext>
            </a:extLst>
          </p:cNvPr>
          <p:cNvGraphicFramePr/>
          <p:nvPr/>
        </p:nvGraphicFramePr>
        <p:xfrm>
          <a:off xmlns:a="http://schemas.openxmlformats.org/drawingml/2006/main" x="609600" y="1504950"/>
          <a:ext xmlns:a="http://schemas.openxmlformats.org/drawingml/2006/main" cx="10972800" cy="3638550"/>
        </p:xfrm>
        <a:graphic xmlns:a="http://schemas.openxmlformats.org/drawingml/2006/main">
          <a:graphicData uri="http://schemas.openxmlformats.org/drawingml/2006/table">
            <a:tbl>
              <a:tblPr/>
              <a:tblGrid>
                <a:gridCol w="1866900"/>
                <a:gridCol w="3038475"/>
                <a:gridCol w="3038475"/>
                <a:gridCol w="3028950"/>
              </a:tblGrid>
              <a:tr h="519793">
                <a:tc>
                  <a:txBody>
                    <a:bodyPr>
                      <a:noAutofit/>
                    </a:bodyPr>
                    <a:lstStyle/>
                    <a:p>
                      <a:r>
                        <a:rPr sz="22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Nominal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Mínimo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Máximo [Hz]</a:t>
                      </a:r>
                    </a:p>
                  </a:txBody>
                  <a:tcPr marL="91440" marR="91440" marT="45720" marB="45720" anchor="ctr">
                    <a:solidFill>
                      <a:srgbClr val="EEEEEE"/>
                    </a:solidFill>
                  </a:tcPr>
                </a:tc>
              </a:tr>
              <a:tr h="519793">
                <a:tc>
                  <a:txBody>
                    <a:bodyPr>
                      <a:noAutofit/>
                    </a:bodyPr>
                    <a:lstStyle/>
                    <a:p>
                      <a:r>
                        <a:rPr sz="22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0.162</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0.205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0.263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0.365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0.457</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0.536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0.641</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0.771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0.923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1.116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1.342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F329D47-88FE-45D2-9678-473DF74B7BAB}"/>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Los intervalos describen escenarios calculados dentro de los rangos aprobados</a:t>
            </a:r>
          </a:p>
        </p:txBody>
      </p:sp>
    </p:spTree>
    <p:extLst>
      <p:ext uri="{BB962C8B-B14F-4D97-AF65-F5344CB8AC3E}">
        <p14:creationId xmlns:p14="http://schemas.microsoft.com/office/powerpoint/2010/main" val="21426140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F76683-E449-497B-8345-488480BB150C}"/>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Compensación parcial entre masa y rigidez</a:t>
            </a:r>
          </a:p>
        </p:txBody>
      </p:sp>
      <p:sp>
        <p:nvSpPr>
          <p:cNvPr id="2" name="">
            <a:extLst xmlns:a="http://schemas.openxmlformats.org/drawingml/2006/main">
              <a:ext uri="{FF2B5EF4-FFF2-40B4-BE49-F238E27FC236}">
                <a16:creationId xmlns:a16="http://schemas.microsoft.com/office/drawing/2014/main" id="{8C7E8D6B-D890-437B-90C2-F74CFE24BEB2}"/>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59E8A8D6-CE69-4C45-BD7F-CE195E77CAD2}"/>
              </a:ext>
            </a:extLst>
          </p:cNvPr>
          <p:cNvPicPr>
            <a:picLocks xmlns:a="http://schemas.openxmlformats.org/drawingml/2006/main" noChangeAspect="1"/>
          </p:cNvPicPr>
          <p:nvPr/>
        </p:nvPicPr>
        <p:blipFill>
          <a:blip xmlns:r="http://schemas.openxmlformats.org/officeDocument/2006/relationships" xmlns:a="http://schemas.openxmlformats.org/drawingml/2006/main" r:embed="R882394ffa8d34b83"/>
          <a:stretch xmlns:a="http://schemas.openxmlformats.org/drawingml/2006/main"/>
        </p:blipFill>
        <p:spPr>
          <a:xfrm xmlns:a="http://schemas.openxmlformats.org/drawingml/2006/main">
            <a:off x="609600" y="1608956"/>
            <a:ext cx="10972800" cy="392583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4A6A3F-0686-4D05-ACC2-6C4B6407B1E8}"/>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Variación diagonal: 0.40–0.42 % de f₀ entre factores iguales 0.90 y 1.10</a:t>
            </a:r>
          </a:p>
        </p:txBody>
      </p:sp>
    </p:spTree>
    <p:extLst>
      <p:ext uri="{BB962C8B-B14F-4D97-AF65-F5344CB8AC3E}">
        <p14:creationId xmlns:p14="http://schemas.microsoft.com/office/powerpoint/2010/main" val="22542392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028824-9606-4287-B246-F3BCE415C679}"/>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Contraste de efectos combinados</a:t>
            </a:r>
          </a:p>
        </p:txBody>
      </p:sp>
      <p:sp>
        <p:nvSpPr>
          <p:cNvPr id="2" name="">
            <a:extLst xmlns:a="http://schemas.openxmlformats.org/drawingml/2006/main">
              <a:ext uri="{FF2B5EF4-FFF2-40B4-BE49-F238E27FC236}">
                <a16:creationId xmlns:a16="http://schemas.microsoft.com/office/drawing/2014/main" id="{72D5E8BC-F162-4CAD-AC4E-60E47A06EAB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22D0FCC2-A52C-430B-8FB3-EC406B60B0DC}"/>
              </a:ext>
            </a:extLst>
          </p:cNvPr>
          <p:cNvSpPr>
            <a:spLocks xmlns:a="http://schemas.openxmlformats.org/drawingml/2006/main" noGrp="1"/>
          </p:cNvSpPr>
          <p:nvPr/>
        </p:nvSpPr>
        <p:spPr>
          <a:xfrm xmlns:a="http://schemas.openxmlformats.org/drawingml/2006/main">
            <a:off x="781050" y="14478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Iᵢⱼ = f₊₊ − f₊₋ − f₋₊ + f₋₋</a:t>
            </a:r>
          </a:p>
        </p:txBody>
      </p:sp>
      <p:graphicFrame>
        <p:nvGraphicFramePr>
          <p:cNvPr id="4" name="">
            <a:extLst xmlns:a="http://schemas.openxmlformats.org/drawingml/2006/main">
              <a:ext uri="{FF2B5EF4-FFF2-40B4-BE49-F238E27FC236}">
                <a16:creationId xmlns:a16="http://schemas.microsoft.com/office/drawing/2014/main" id="{CE58F7C2-894A-4C7A-98DA-D7F8C5033D80}"/>
              </a:ext>
            </a:extLst>
          </p:cNvPr>
          <p:cNvGraphicFramePr/>
          <p:nvPr/>
        </p:nvGraphicFramePr>
        <p:xfrm>
          <a:off xmlns:a="http://schemas.openxmlformats.org/drawingml/2006/main" x="609600" y="2667000"/>
          <a:ext xmlns:a="http://schemas.openxmlformats.org/drawingml/2006/main" cx="10972800" cy="2695575"/>
        </p:xfrm>
        <a:graphic xmlns:a="http://schemas.openxmlformats.org/drawingml/2006/main">
          <a:graphicData uri="http://schemas.openxmlformats.org/drawingml/2006/table">
            <a:tbl>
              <a:tblPr/>
              <a:tblGrid>
                <a:gridCol w="3714750"/>
                <a:gridCol w="2781300"/>
                <a:gridCol w="2047875"/>
                <a:gridCol w="2428875"/>
              </a:tblGrid>
              <a:tr h="673894">
                <a:tc>
                  <a:txBody>
                    <a:bodyPr>
                      <a:noAutofit/>
                    </a:bodyPr>
                    <a:lstStyle/>
                    <a:p>
                      <a:r>
                        <a:rPr sz="1950" b="1">
                          <a:solidFill>
                            <a:srgbClr val="151515"/>
                          </a:solidFill>
                          <a:latin typeface="Arial"/>
                          <a:ea typeface="Arial"/>
                          <a:cs typeface="Arial"/>
                        </a:rPr>
                        <a:t>Par en 10+11</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|I|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Señal / b</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Lectura</a:t>
                      </a:r>
                    </a:p>
                  </a:txBody>
                  <a:tcPr marL="91440" marR="91440" marT="45720" marB="45720" anchor="ctr">
                    <a:solidFill>
                      <a:srgbClr val="EEEEEE"/>
                    </a:solidFill>
                  </a:tcPr>
                </a:tc>
              </a:tr>
              <a:tr h="673894">
                <a:tc>
                  <a:txBody>
                    <a:bodyPr>
                      <a:noAutofit/>
                    </a:bodyPr>
                    <a:lstStyle/>
                    <a:p>
                      <a:r>
                        <a:rPr sz="1950" b="0">
                          <a:solidFill>
                            <a:srgbClr val="151515"/>
                          </a:solidFill>
                          <a:latin typeface="Arial"/>
                          <a:ea typeface="Arial"/>
                          <a:cs typeface="Arial"/>
                        </a:rPr>
                        <a:t>Masa–rigidez</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0.00926–0.00940</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26.5–26.9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Supera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Masa–velocidad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0.00356–0.00362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10.2–10.3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Apenas sobre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Rigidez–velocidad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0.00331–0.00342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9.5–9.8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No resuelto</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B6A2AD5-5117-40CE-8B50-1B1D2C6B80E9}"/>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Umbral empírico: 10. Cada par se examina con cuatro valores del tercer factor</a:t>
            </a:r>
          </a:p>
        </p:txBody>
      </p:sp>
    </p:spTree>
    <p:extLst>
      <p:ext uri="{BB962C8B-B14F-4D97-AF65-F5344CB8AC3E}">
        <p14:creationId xmlns:p14="http://schemas.microsoft.com/office/powerpoint/2010/main" val="11028144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48F443-FBB7-4B63-9880-1B34B14F48D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Efectos combinados del grupo 10+11</a:t>
            </a:r>
          </a:p>
        </p:txBody>
      </p:sp>
      <p:sp>
        <p:nvSpPr>
          <p:cNvPr id="2" name="">
            <a:extLst xmlns:a="http://schemas.openxmlformats.org/drawingml/2006/main">
              <a:ext uri="{FF2B5EF4-FFF2-40B4-BE49-F238E27FC236}">
                <a16:creationId xmlns:a16="http://schemas.microsoft.com/office/drawing/2014/main" id="{EDB2E2B7-5522-4787-8BB6-6B64A0F0E175}"/>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D06AF006-524A-422C-A160-9D63587C5F58}"/>
              </a:ext>
            </a:extLst>
          </p:cNvPr>
          <p:cNvPicPr>
            <a:picLocks xmlns:a="http://schemas.openxmlformats.org/drawingml/2006/main" noChangeAspect="1"/>
          </p:cNvPicPr>
          <p:nvPr/>
        </p:nvPicPr>
        <p:blipFill>
          <a:blip xmlns:r="http://schemas.openxmlformats.org/officeDocument/2006/relationships" xmlns:a="http://schemas.openxmlformats.org/drawingml/2006/main" r:embed="R9301744bf9cb4c0a"/>
          <a:stretch xmlns:a="http://schemas.openxmlformats.org/drawingml/2006/main"/>
        </p:blipFill>
        <p:spPr>
          <a:xfrm xmlns:a="http://schemas.openxmlformats.org/drawingml/2006/main">
            <a:off x="609600" y="2028722"/>
            <a:ext cx="10972800" cy="308630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34B4920-3D28-4277-846B-7EE5D7C87BD0}"/>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Masa–rigidez: −0.756 a −0.767 % de f₀, con contraste resuelto</a:t>
            </a:r>
          </a:p>
        </p:txBody>
      </p:sp>
    </p:spTree>
    <p:extLst>
      <p:ext uri="{BB962C8B-B14F-4D97-AF65-F5344CB8AC3E}">
        <p14:creationId xmlns:p14="http://schemas.microsoft.com/office/powerpoint/2010/main" val="2060244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82AB4D-C7A7-4D12-9B41-D2DA28AA18C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Conclusiones respaldadas</a:t>
            </a:r>
          </a:p>
        </p:txBody>
      </p:sp>
      <p:sp>
        <p:nvSpPr>
          <p:cNvPr id="2" name="">
            <a:extLst xmlns:a="http://schemas.openxmlformats.org/drawingml/2006/main">
              <a:ext uri="{FF2B5EF4-FFF2-40B4-BE49-F238E27FC236}">
                <a16:creationId xmlns:a16="http://schemas.microsoft.com/office/drawing/2014/main" id="{B59B85EC-6BA1-4603-AB0B-9CE69086D35C}"/>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DA5F8F84-D2CE-416A-908C-68D6931BA0B1}"/>
              </a:ext>
            </a:extLst>
          </p:cNvPr>
          <p:cNvSpPr>
            <a:spLocks xmlns:a="http://schemas.openxmlformats.org/drawingml/2006/main" noGrp="1"/>
          </p:cNvSpPr>
          <p:nvPr/>
        </p:nvSpPr>
        <p:spPr>
          <a:xfrm xmlns:a="http://schemas.openxmlformats.org/drawingml/2006/main">
            <a:off x="685800" y="143827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Masa/inercia domina 3, 4+5, 8+9 y 10+11 entre los tres factores</a:t>
            </a:r>
          </a:p>
        </p:txBody>
      </p:sp>
      <p:sp>
        <p:nvSpPr>
          <p:cNvPr id="4" name="">
            <a:extLst xmlns:a="http://schemas.openxmlformats.org/drawingml/2006/main">
              <a:ext uri="{FF2B5EF4-FFF2-40B4-BE49-F238E27FC236}">
                <a16:creationId xmlns:a16="http://schemas.microsoft.com/office/drawing/2014/main" id="{EF26B0C1-9A8F-4118-B5F4-8E971F65F983}"/>
              </a:ext>
            </a:extLst>
          </p:cNvPr>
          <p:cNvSpPr>
            <a:spLocks xmlns:a="http://schemas.openxmlformats.org/drawingml/2006/main" noGrp="1"/>
          </p:cNvSpPr>
          <p:nvPr/>
        </p:nvSpPr>
        <p:spPr>
          <a:xfrm xmlns:a="http://schemas.openxmlformats.org/drawingml/2006/main">
            <a:off x="685800" y="253365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Velocidad domina 6+7 y su efecto cambia de signo según el grupo</a:t>
            </a:r>
          </a:p>
        </p:txBody>
      </p:sp>
      <p:sp>
        <p:nvSpPr>
          <p:cNvPr id="5" name="">
            <a:extLst xmlns:a="http://schemas.openxmlformats.org/drawingml/2006/main">
              <a:ext uri="{FF2B5EF4-FFF2-40B4-BE49-F238E27FC236}">
                <a16:creationId xmlns:a16="http://schemas.microsoft.com/office/drawing/2014/main" id="{8AE09C3D-08F2-47CD-8ACF-35F70157B5B1}"/>
              </a:ext>
            </a:extLst>
          </p:cNvPr>
          <p:cNvSpPr>
            <a:spLocks xmlns:a="http://schemas.openxmlformats.org/drawingml/2006/main" noGrp="1"/>
          </p:cNvSpPr>
          <p:nvPr/>
        </p:nvSpPr>
        <p:spPr>
          <a:xfrm xmlns:a="http://schemas.openxmlformats.org/drawingml/2006/main">
            <a:off x="685800" y="362902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 y rigidez pueden compensar parcialmente una frecuencia</a:t>
            </a:r>
          </a:p>
        </p:txBody>
      </p:sp>
      <p:sp>
        <p:nvSpPr>
          <p:cNvPr id="6" name="">
            <a:extLst xmlns:a="http://schemas.openxmlformats.org/drawingml/2006/main">
              <a:ext uri="{FF2B5EF4-FFF2-40B4-BE49-F238E27FC236}">
                <a16:creationId xmlns:a16="http://schemas.microsoft.com/office/drawing/2014/main" id="{E816B344-3D7A-48F1-82F5-4DA70EA97F25}"/>
              </a:ext>
            </a:extLst>
          </p:cNvPr>
          <p:cNvSpPr>
            <a:spLocks xmlns:a="http://schemas.openxmlformats.org/drawingml/2006/main" noGrp="1"/>
          </p:cNvSpPr>
          <p:nvPr/>
        </p:nvSpPr>
        <p:spPr>
          <a:xfrm xmlns:a="http://schemas.openxmlformats.org/drawingml/2006/main">
            <a:off x="685800" y="472440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10+11 presenta un contraste masa–rigidez numéricamente resuelto</a:t>
            </a:r>
          </a:p>
        </p:txBody>
      </p:sp>
    </p:spTree>
    <p:extLst>
      <p:ext uri="{BB962C8B-B14F-4D97-AF65-F5344CB8AC3E}">
        <p14:creationId xmlns:p14="http://schemas.microsoft.com/office/powerpoint/2010/main" val="3098703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4C5096-D714-434E-ABCB-01A0E96F607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Límites de interpretación</a:t>
            </a:r>
          </a:p>
        </p:txBody>
      </p:sp>
      <p:sp>
        <p:nvSpPr>
          <p:cNvPr id="2" name="">
            <a:extLst xmlns:a="http://schemas.openxmlformats.org/drawingml/2006/main">
              <a:ext uri="{FF2B5EF4-FFF2-40B4-BE49-F238E27FC236}">
                <a16:creationId xmlns:a16="http://schemas.microsoft.com/office/drawing/2014/main" id="{1A42D3EF-3A65-48BC-93E2-3E9477423D2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95C03A9C-2006-4FD6-A18D-02DA6AACE7FA}"/>
              </a:ext>
            </a:extLst>
          </p:cNvPr>
          <p:cNvSpPr>
            <a:spLocks xmlns:a="http://schemas.openxmlformats.org/drawingml/2006/main" noGrp="1"/>
          </p:cNvSpPr>
          <p:nvPr/>
        </p:nvSpPr>
        <p:spPr>
          <a:xfrm xmlns:a="http://schemas.openxmlformats.org/drawingml/2006/main">
            <a:off x="685800" y="15240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rangos de entrada son escenarios exploratorios</a:t>
            </a:r>
          </a:p>
        </p:txBody>
      </p:sp>
      <p:sp>
        <p:nvSpPr>
          <p:cNvPr id="4" name="">
            <a:extLst xmlns:a="http://schemas.openxmlformats.org/drawingml/2006/main">
              <a:ext uri="{FF2B5EF4-FFF2-40B4-BE49-F238E27FC236}">
                <a16:creationId xmlns:a16="http://schemas.microsoft.com/office/drawing/2014/main" id="{A0400879-56DB-4034-B8F6-FC0B2AF94CD5}"/>
              </a:ext>
            </a:extLst>
          </p:cNvPr>
          <p:cNvSpPr>
            <a:spLocks xmlns:a="http://schemas.openxmlformats.org/drawingml/2006/main" noGrp="1"/>
          </p:cNvSpPr>
          <p:nvPr/>
        </p:nvSpPr>
        <p:spPr>
          <a:xfrm xmlns:a="http://schemas.openxmlformats.org/drawingml/2006/main">
            <a:off x="685800" y="25717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El análisis representa un azimut fijo y un espectro parcial</a:t>
            </a:r>
          </a:p>
        </p:txBody>
      </p:sp>
      <p:sp>
        <p:nvSpPr>
          <p:cNvPr id="5" name="">
            <a:extLst xmlns:a="http://schemas.openxmlformats.org/drawingml/2006/main">
              <a:ext uri="{FF2B5EF4-FFF2-40B4-BE49-F238E27FC236}">
                <a16:creationId xmlns:a16="http://schemas.microsoft.com/office/drawing/2014/main" id="{642A7288-6DA7-432D-81CD-A41BE04846A2}"/>
              </a:ext>
            </a:extLst>
          </p:cNvPr>
          <p:cNvSpPr>
            <a:spLocks xmlns:a="http://schemas.openxmlformats.org/drawingml/2006/main" noGrp="1"/>
          </p:cNvSpPr>
          <p:nvPr/>
        </p:nvSpPr>
        <p:spPr>
          <a:xfrm xmlns:a="http://schemas.openxmlformats.org/drawingml/2006/main">
            <a:off x="685800" y="36195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La convergencia espacial en operación sigue pendiente</a:t>
            </a:r>
          </a:p>
        </p:txBody>
      </p:sp>
      <p:sp>
        <p:nvSpPr>
          <p:cNvPr id="6" name="">
            <a:extLst xmlns:a="http://schemas.openxmlformats.org/drawingml/2006/main">
              <a:ext uri="{FF2B5EF4-FFF2-40B4-BE49-F238E27FC236}">
                <a16:creationId xmlns:a16="http://schemas.microsoft.com/office/drawing/2014/main" id="{3263E53F-AC5F-4820-AFDC-3B85EC17B8BF}"/>
              </a:ext>
            </a:extLst>
          </p:cNvPr>
          <p:cNvSpPr>
            <a:spLocks xmlns:a="http://schemas.openxmlformats.org/drawingml/2006/main" noGrp="1"/>
          </p:cNvSpPr>
          <p:nvPr/>
        </p:nvSpPr>
        <p:spPr>
          <a:xfrm xmlns:a="http://schemas.openxmlformats.org/drawingml/2006/main">
            <a:off x="685800" y="46672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resultados requieren contraste experimental para validación</a:t>
            </a:r>
          </a:p>
        </p:txBody>
      </p:sp>
    </p:spTree>
    <p:extLst>
      <p:ext uri="{BB962C8B-B14F-4D97-AF65-F5344CB8AC3E}">
        <p14:creationId xmlns:p14="http://schemas.microsoft.com/office/powerpoint/2010/main" val="42012571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85D296-6D0D-4226-A489-BDCA644264E4}"/>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Decisiones para la siguiente etapa</a:t>
            </a:r>
          </a:p>
        </p:txBody>
      </p:sp>
      <p:sp>
        <p:nvSpPr>
          <p:cNvPr id="2" name="">
            <a:extLst xmlns:a="http://schemas.openxmlformats.org/drawingml/2006/main">
              <a:ext uri="{FF2B5EF4-FFF2-40B4-BE49-F238E27FC236}">
                <a16:creationId xmlns:a16="http://schemas.microsoft.com/office/drawing/2014/main" id="{FB49068A-72E7-4D25-AC3B-E54628052EB6}"/>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5EF0892F-60E7-43BB-81B8-C27E1D3F2E79}"/>
              </a:ext>
            </a:extLst>
          </p:cNvPr>
          <p:cNvSpPr>
            <a:spLocks xmlns:a="http://schemas.openxmlformats.org/drawingml/2006/main" noGrp="1"/>
          </p:cNvSpPr>
          <p:nvPr/>
        </p:nvSpPr>
        <p:spPr>
          <a:xfrm xmlns:a="http://schemas.openxmlformats.org/drawingml/2006/main">
            <a:off x="685800" y="150495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Justificar rangos físicos con fuentes o mediciones</a:t>
            </a:r>
          </a:p>
        </p:txBody>
      </p:sp>
      <p:sp>
        <p:nvSpPr>
          <p:cNvPr id="4" name="">
            <a:extLst xmlns:a="http://schemas.openxmlformats.org/drawingml/2006/main">
              <a:ext uri="{FF2B5EF4-FFF2-40B4-BE49-F238E27FC236}">
                <a16:creationId xmlns:a16="http://schemas.microsoft.com/office/drawing/2014/main" id="{8D479D6E-1B8D-47DE-B668-90A86CDE8BFC}"/>
              </a:ext>
            </a:extLst>
          </p:cNvPr>
          <p:cNvSpPr>
            <a:spLocks xmlns:a="http://schemas.openxmlformats.org/drawingml/2006/main" noGrp="1"/>
          </p:cNvSpPr>
          <p:nvPr/>
        </p:nvSpPr>
        <p:spPr>
          <a:xfrm xmlns:a="http://schemas.openxmlformats.org/drawingml/2006/main">
            <a:off x="685800" y="256222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Verificar frecuencias y sensibilidades con refinamiento en operación</a:t>
            </a:r>
          </a:p>
        </p:txBody>
      </p:sp>
      <p:sp>
        <p:nvSpPr>
          <p:cNvPr id="5" name="">
            <a:extLst xmlns:a="http://schemas.openxmlformats.org/drawingml/2006/main">
              <a:ext uri="{FF2B5EF4-FFF2-40B4-BE49-F238E27FC236}">
                <a16:creationId xmlns:a16="http://schemas.microsoft.com/office/drawing/2014/main" id="{C50BF378-2DB2-4527-B47F-3B21A0DB3DC0}"/>
              </a:ext>
            </a:extLst>
          </p:cNvPr>
          <p:cNvSpPr>
            <a:spLocks xmlns:a="http://schemas.openxmlformats.org/drawingml/2006/main" noGrp="1"/>
          </p:cNvSpPr>
          <p:nvPr/>
        </p:nvSpPr>
        <p:spPr>
          <a:xfrm xmlns:a="http://schemas.openxmlformats.org/drawingml/2006/main">
            <a:off x="685800" y="361950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Contrastar varias respuestas para identificar masa y rigidez</a:t>
            </a:r>
          </a:p>
        </p:txBody>
      </p:sp>
      <p:sp>
        <p:nvSpPr>
          <p:cNvPr id="6" name="">
            <a:extLst xmlns:a="http://schemas.openxmlformats.org/drawingml/2006/main">
              <a:ext uri="{FF2B5EF4-FFF2-40B4-BE49-F238E27FC236}">
                <a16:creationId xmlns:a16="http://schemas.microsoft.com/office/drawing/2014/main" id="{AAB43CEC-6F3D-4A93-BC22-4A7EF078C158}"/>
              </a:ext>
            </a:extLst>
          </p:cNvPr>
          <p:cNvSpPr>
            <a:spLocks xmlns:a="http://schemas.openxmlformats.org/drawingml/2006/main" noGrp="1"/>
          </p:cNvSpPr>
          <p:nvPr/>
        </p:nvSpPr>
        <p:spPr>
          <a:xfrm xmlns:a="http://schemas.openxmlformats.org/drawingml/2006/main">
            <a:off x="685800" y="467677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Acordar el alcance de las afirmaciones sobre estabilidad</a:t>
            </a:r>
          </a:p>
        </p:txBody>
      </p:sp>
    </p:spTree>
    <p:extLst>
      <p:ext uri="{BB962C8B-B14F-4D97-AF65-F5344CB8AC3E}">
        <p14:creationId xmlns:p14="http://schemas.microsoft.com/office/powerpoint/2010/main" val="11688022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A35138-4A8A-407F-B674-7C595D80A05A}"/>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curvatura individual y ruido</a:t>
            </a:r>
          </a:p>
        </p:txBody>
      </p:sp>
      <p:sp>
        <p:nvSpPr>
          <p:cNvPr id="2" name="">
            <a:extLst xmlns:a="http://schemas.openxmlformats.org/drawingml/2006/main">
              <a:ext uri="{FF2B5EF4-FFF2-40B4-BE49-F238E27FC236}">
                <a16:creationId xmlns:a16="http://schemas.microsoft.com/office/drawing/2014/main" id="{3A486511-3747-4E87-96F2-B3DBA48C1122}"/>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149BFDC2-7D48-41F7-BA74-43956019F32D}"/>
              </a:ext>
            </a:extLst>
          </p:cNvPr>
          <p:cNvSpPr>
            <a:spLocks xmlns:a="http://schemas.openxmlformats.org/drawingml/2006/main" noGrp="1"/>
          </p:cNvSpPr>
          <p:nvPr/>
        </p:nvSpPr>
        <p:spPr>
          <a:xfrm xmlns:a="http://schemas.openxmlformats.org/drawingml/2006/main">
            <a:off x="781050" y="14287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stStyle>
          <a:p xmlns:a="http://schemas.openxmlformats.org/drawingml/2006/main">
            <a:pPr>
              <a:lnSpc>
                <a:spcPct val="112000"/>
              </a:lnSpc>
              <a:buNone/>
              <a:defRPr sz="3150" b="1">
                <a:solidFill>
                  <a:srgbClr val="151515"/>
                </a:solidFill>
                <a:latin typeface="Arial"/>
                <a:ea typeface="Arial"/>
                <a:cs typeface="Arial"/>
              </a:defRPr>
            </a:pPr>
            <a:r>
              <a:rPr sz="3150" b="1">
                <a:solidFill>
                  <a:srgbClr val="151515"/>
                </a:solidFill>
                <a:latin typeface="Arial"/>
                <a:ea typeface="Arial"/>
                <a:cs typeface="Arial"/>
              </a:rPr>
              <a:t>Cᵢ = fᵢ₊₁ − 2fᵢ + fᵢ₋₁</a:t>
            </a:r>
          </a:p>
        </p:txBody>
      </p:sp>
      <p:graphicFrame>
        <p:nvGraphicFramePr>
          <p:cNvPr id="4" name="">
            <a:extLst xmlns:a="http://schemas.openxmlformats.org/drawingml/2006/main">
              <a:ext uri="{FF2B5EF4-FFF2-40B4-BE49-F238E27FC236}">
                <a16:creationId xmlns:a16="http://schemas.microsoft.com/office/drawing/2014/main" id="{13F15547-73AB-4C68-983A-978AB302325B}"/>
              </a:ext>
            </a:extLst>
          </p:cNvPr>
          <p:cNvGraphicFramePr/>
          <p:nvPr/>
        </p:nvGraphicFramePr>
        <p:xfrm>
          <a:off xmlns:a="http://schemas.openxmlformats.org/drawingml/2006/main" x="609600" y="2638425"/>
          <a:ext xmlns:a="http://schemas.openxmlformats.org/drawingml/2006/main" cx="10972800" cy="2705100"/>
        </p:xfrm>
        <a:graphic xmlns:a="http://schemas.openxmlformats.org/drawingml/2006/main">
          <a:graphicData uri="http://schemas.openxmlformats.org/drawingml/2006/table">
            <a:tbl>
              <a:tblPr/>
              <a:tblGrid>
                <a:gridCol w="5238750"/>
                <a:gridCol w="2400300"/>
                <a:gridCol w="3333750"/>
              </a:tblGrid>
              <a:tr h="676275">
                <a:tc>
                  <a:txBody>
                    <a:bodyPr>
                      <a:noAutofit/>
                    </a:bodyPr>
                    <a:lstStyle/>
                    <a:p>
                      <a:r>
                        <a:rPr sz="2250" b="1">
                          <a:solidFill>
                            <a:srgbClr val="151515"/>
                          </a:solidFill>
                          <a:latin typeface="Arial"/>
                          <a:ea typeface="Arial"/>
                          <a:cs typeface="Arial"/>
                        </a:rPr>
                        <a:t>Factor, grupo 10+11</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Contrastes</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Superan el umbral</a:t>
                      </a:r>
                    </a:p>
                  </a:txBody>
                  <a:tcPr marL="91440" marR="91440" marT="45720" marB="45720" anchor="ctr">
                    <a:solidFill>
                      <a:srgbClr val="EEEEEE"/>
                    </a:solidFill>
                  </a:tcPr>
                </a:tc>
              </a:tr>
              <a:tr h="676275">
                <a:tc>
                  <a:txBody>
                    <a:bodyPr>
                      <a:noAutofit/>
                    </a:bodyPr>
                    <a:lstStyle/>
                    <a:p>
                      <a:r>
                        <a:rPr sz="22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A550B4-9C00-4B45-902E-2B5F7E937D0F}"/>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Ausencia de resolución permite conservar la limitación sobre curvatura</a:t>
            </a:r>
          </a:p>
        </p:txBody>
      </p:sp>
    </p:spTree>
    <p:extLst>
      <p:ext uri="{BB962C8B-B14F-4D97-AF65-F5344CB8AC3E}">
        <p14:creationId xmlns:p14="http://schemas.microsoft.com/office/powerpoint/2010/main" val="164923481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275BB1-480E-43D7-B1FD-036D00885FB7}"/>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residuos y controles</a:t>
            </a:r>
          </a:p>
        </p:txBody>
      </p:sp>
      <p:sp>
        <p:nvSpPr>
          <p:cNvPr id="2" name="">
            <a:extLst xmlns:a="http://schemas.openxmlformats.org/drawingml/2006/main">
              <a:ext uri="{FF2B5EF4-FFF2-40B4-BE49-F238E27FC236}">
                <a16:creationId xmlns:a16="http://schemas.microsoft.com/office/drawing/2014/main" id="{543D4FEA-CE4C-4654-8FD6-FCF753C4AA94}"/>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823E2B15-CC60-4AA9-BF3D-D66FCD2DF113}"/>
              </a:ext>
            </a:extLst>
          </p:cNvPr>
          <p:cNvGraphicFramePr/>
          <p:nvPr/>
        </p:nvGraphicFramePr>
        <p:xfrm>
          <a:off xmlns:a="http://schemas.openxmlformats.org/drawingml/2006/main" x="609600" y="1504950"/>
          <a:ext xmlns:a="http://schemas.openxmlformats.org/drawingml/2006/main" cx="10972800" cy="3829050"/>
        </p:xfrm>
        <a:graphic xmlns:a="http://schemas.openxmlformats.org/drawingml/2006/main">
          <a:graphicData uri="http://schemas.openxmlformats.org/drawingml/2006/table">
            <a:tbl>
              <a:tblPr/>
              <a:tblGrid>
                <a:gridCol w="7572375"/>
                <a:gridCol w="3400425"/>
              </a:tblGrid>
              <a:tr h="638175">
                <a:tc>
                  <a:txBody>
                    <a:bodyPr>
                      <a:noAutofit/>
                    </a:bodyPr>
                    <a:lstStyle/>
                    <a:p>
                      <a:r>
                        <a:rPr sz="2175" b="1">
                          <a:solidFill>
                            <a:srgbClr val="151515"/>
                          </a:solidFill>
                          <a:latin typeface="Arial"/>
                          <a:ea typeface="Arial"/>
                          <a:cs typeface="Arial"/>
                        </a:rPr>
                        <a:t>Comprobación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Resultado</a:t>
                      </a:r>
                    </a:p>
                  </a:txBody>
                  <a:tcPr marL="91440" marR="91440" marT="45720" marB="45720" anchor="ctr">
                    <a:solidFill>
                      <a:srgbClr val="EEEEEE"/>
                    </a:solidFill>
                  </a:tcPr>
                </a:tc>
              </a:tr>
              <a:tr h="638175">
                <a:tc>
                  <a:txBody>
                    <a:bodyPr>
                      <a:noAutofit/>
                    </a:bodyPr>
                    <a:lstStyle/>
                    <a:p>
                      <a:r>
                        <a:rPr sz="2175" b="0">
                          <a:solidFill>
                            <a:srgbClr val="151515"/>
                          </a:solidFill>
                          <a:latin typeface="Arial"/>
                          <a:ea typeface="Arial"/>
                          <a:cs typeface="Arial"/>
                        </a:rPr>
                        <a:t>Residuo de equilibrio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9.94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QEP dual de masa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4.05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derecho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4.93 × 10⁻¹⁶</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izquierdo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3.57 × 10⁻¹⁴</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Huellas de fuentes verificadas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175 sin cambios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D556B86-3FE7-4426-A509-F339CED14E6B}"/>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Controles nuevos: repetición nominal, QEP estricto y continuación</a:t>
            </a:r>
          </a:p>
        </p:txBody>
      </p:sp>
    </p:spTree>
    <p:extLst>
      <p:ext uri="{BB962C8B-B14F-4D97-AF65-F5344CB8AC3E}">
        <p14:creationId xmlns:p14="http://schemas.microsoft.com/office/powerpoint/2010/main" val="8040238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D7EB84-B875-475D-A2B9-1B5A594D7F1F}"/>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comparación de secantes</a:t>
            </a:r>
          </a:p>
        </p:txBody>
      </p:sp>
      <p:sp>
        <p:nvSpPr>
          <p:cNvPr id="2" name="">
            <a:extLst xmlns:a="http://schemas.openxmlformats.org/drawingml/2006/main">
              <a:ext uri="{FF2B5EF4-FFF2-40B4-BE49-F238E27FC236}">
                <a16:creationId xmlns:a16="http://schemas.microsoft.com/office/drawing/2014/main" id="{572C9009-65B4-4FD1-8F2F-B51C6087A9D0}"/>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25</a:t>
            </a:r>
          </a:p>
        </p:txBody>
      </p:sp>
      <p:graphicFrame>
        <p:nvGraphicFramePr>
          <p:cNvPr id="3" name="">
            <a:extLst xmlns:a="http://schemas.openxmlformats.org/drawingml/2006/main">
              <a:ext uri="{FF2B5EF4-FFF2-40B4-BE49-F238E27FC236}">
                <a16:creationId xmlns:a16="http://schemas.microsoft.com/office/drawing/2014/main" id="{AF89415C-2F73-40E9-A0EA-BBB4C5BA852D}"/>
              </a:ext>
            </a:extLst>
          </p:cNvPr>
          <p:cNvGraphicFramePr/>
          <p:nvPr/>
        </p:nvGraphicFramePr>
        <p:xfrm>
          <a:off xmlns:a="http://schemas.openxmlformats.org/drawingml/2006/main" x="609600" y="1504950"/>
          <a:ext xmlns:a="http://schemas.openxmlformats.org/drawingml/2006/main" cx="10972800" cy="3476625"/>
        </p:xfrm>
        <a:graphic xmlns:a="http://schemas.openxmlformats.org/drawingml/2006/main">
          <a:graphicData uri="http://schemas.openxmlformats.org/drawingml/2006/table">
            <a:tbl>
              <a:tblPr/>
              <a:tblGrid>
                <a:gridCol w="1524000"/>
                <a:gridCol w="3143250"/>
                <a:gridCol w="2857500"/>
                <a:gridCol w="3448050"/>
              </a:tblGrid>
              <a:tr h="579438">
                <a:tc>
                  <a:txBody>
                    <a:bodyPr>
                      <a:noAutofit/>
                    </a:bodyPr>
                    <a:lstStyle/>
                    <a:p>
                      <a:r>
                        <a:rPr sz="2025"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Masa/inercia</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Rigidez</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Velocidad</a:t>
                      </a:r>
                    </a:p>
                  </a:txBody>
                  <a:tcPr marL="91440" marR="91440" marT="45720" marB="45720" anchor="ctr">
                    <a:solidFill>
                      <a:srgbClr val="EEEEEE"/>
                    </a:solidFill>
                  </a:tcPr>
                </a:tc>
              </a:tr>
              <a:tr h="579438">
                <a:tc>
                  <a:txBody>
                    <a:bodyPr>
                      <a:noAutofit/>
                    </a:bodyPr>
                    <a:lstStyle/>
                    <a:p>
                      <a:r>
                        <a:rPr sz="2025"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-0.561 / -0.562</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0.385 / 0.388</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-0.298 / -0.305</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-0.567 / -0.561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0.394 / 0.394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No resuelto / -0.174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-0.308 / -0.307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0.243 / 0.244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0.346 / 0.344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-0.427 / -0.424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0.365 / 0.364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0.115 / 0.113</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-0.383 / -0.380</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0.359 / 0.359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0.184 / 0.182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D822F10-C719-49D3-A924-C7B0BF7FD996}"/>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Cada celda: Morris / secante de extremos. El grupo 4+5 conserva su reserva</a:t>
            </a:r>
          </a:p>
        </p:txBody>
      </p:sp>
    </p:spTree>
    <p:extLst>
      <p:ext uri="{BB962C8B-B14F-4D97-AF65-F5344CB8AC3E}">
        <p14:creationId xmlns:p14="http://schemas.microsoft.com/office/powerpoint/2010/main" val="205788478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4C62E2-85AF-4973-B247-A9C50EAF3C6C}"/>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Referencias y datos reproducibles</a:t>
            </a:r>
          </a:p>
        </p:txBody>
      </p:sp>
      <p:sp>
        <p:nvSpPr>
          <p:cNvPr id="2" name="">
            <a:extLst xmlns:a="http://schemas.openxmlformats.org/drawingml/2006/main">
              <a:ext uri="{FF2B5EF4-FFF2-40B4-BE49-F238E27FC236}">
                <a16:creationId xmlns:a16="http://schemas.microsoft.com/office/drawing/2014/main" id="{43D52AE5-8248-4DE3-B9A4-20D2F095F08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D199B28B-E42C-429D-A6F7-D07BA817FD74}"/>
              </a:ext>
            </a:extLst>
          </p:cNvPr>
          <p:cNvSpPr>
            <a:spLocks xmlns:a="http://schemas.openxmlformats.org/drawingml/2006/main" noGrp="1"/>
          </p:cNvSpPr>
          <p:nvPr/>
        </p:nvSpPr>
        <p:spPr>
          <a:xfrm xmlns:a="http://schemas.openxmlformats.org/drawingml/2006/main">
            <a:off x="685800" y="148590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Morris (1991)</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Factorial Sampling Plans for Preliminary Computational Experiments</a:t>
            </a:r>
          </a:p>
        </p:txBody>
      </p:sp>
      <p:sp>
        <p:nvSpPr>
          <p:cNvPr id="4" name="">
            <a:extLst xmlns:a="http://schemas.openxmlformats.org/drawingml/2006/main">
              <a:ext uri="{FF2B5EF4-FFF2-40B4-BE49-F238E27FC236}">
                <a16:creationId xmlns:a16="http://schemas.microsoft.com/office/drawing/2014/main" id="{48B004E5-532A-4057-ABC4-F00EE67F215B}"/>
              </a:ext>
            </a:extLst>
          </p:cNvPr>
          <p:cNvSpPr>
            <a:spLocks xmlns:a="http://schemas.openxmlformats.org/drawingml/2006/main" noGrp="1"/>
          </p:cNvSpPr>
          <p:nvPr/>
        </p:nvSpPr>
        <p:spPr>
          <a:xfrm xmlns:a="http://schemas.openxmlformats.org/drawingml/2006/main">
            <a:off x="685800" y="29241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Campolongo, Cariboni y Saltelli (2007)</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An effective screening design for sensitivity analysis of large models</a:t>
            </a:r>
          </a:p>
        </p:txBody>
      </p:sp>
      <p:sp>
        <p:nvSpPr>
          <p:cNvPr id="5" name="">
            <a:extLst xmlns:a="http://schemas.openxmlformats.org/drawingml/2006/main">
              <a:ext uri="{FF2B5EF4-FFF2-40B4-BE49-F238E27FC236}">
                <a16:creationId xmlns:a16="http://schemas.microsoft.com/office/drawing/2014/main" id="{7A621C64-182D-4763-8B18-FA39585F44D3}"/>
              </a:ext>
            </a:extLst>
          </p:cNvPr>
          <p:cNvSpPr>
            <a:spLocks xmlns:a="http://schemas.openxmlformats.org/drawingml/2006/main" noGrp="1"/>
          </p:cNvSpPr>
          <p:nvPr/>
        </p:nvSpPr>
        <p:spPr>
          <a:xfrm xmlns:a="http://schemas.openxmlformats.org/drawingml/2006/main">
            <a:off x="685800" y="436245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Datos, configuraciones y aceptación</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Campañas local, Morris y rejilla complementaria del proyecto</a:t>
            </a:r>
          </a:p>
        </p:txBody>
      </p:sp>
    </p:spTree>
    <p:extLst>
      <p:ext uri="{BB962C8B-B14F-4D97-AF65-F5344CB8AC3E}">
        <p14:creationId xmlns:p14="http://schemas.microsoft.com/office/powerpoint/2010/main" val="13395052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2026-10-14T13:43:23.6950000Z</dcterms:created>
  <dcterms:modified xsi:type="dcterms:W3CDTF">2026-10-14T13:43:23.6950000Z</dcterms:modified>
</coreProperties>
</file>