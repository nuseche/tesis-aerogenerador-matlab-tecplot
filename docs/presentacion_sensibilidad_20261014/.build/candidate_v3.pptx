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1e1da7171eb4aec" /><Relationship Type="http://schemas.openxmlformats.org/officeDocument/2006/relationships/extended-properties" Target="/docProps/app.xml" Id="R3b82b6d420604ebd" /><Relationship Type="http://schemas.openxmlformats.org/officeDocument/2006/relationships/officeDocument" Target="/ppt/presentation.xml" Id="Ra9b8be83a4da4099" /></Relationships>
</file>

<file path=ppt/presentation.xml><?xml version="1.0" encoding="utf-8"?>
<p:presentation xmlns:p="http://schemas.openxmlformats.org/presentationml/2006/main">
  <p:sldMasterIdLst>
    <p:sldMasterId xmlns:r="http://schemas.openxmlformats.org/officeDocument/2006/relationships" id="2147483648" r:id="Rad3194170b794226"/>
  </p:sldMasterIdLst>
  <p:notesMasterIdLst>
    <p:notesMasterId xmlns:r="http://schemas.openxmlformats.org/officeDocument/2006/relationships" r:id="R823da43b7acb4da9"/>
  </p:notesMasterIdLst>
  <p:sldIdLst>
    <p:sldId xmlns:r="http://schemas.openxmlformats.org/officeDocument/2006/relationships" id="256" r:id="R896f9c9c85b9496a"/>
    <p:sldId xmlns:r="http://schemas.openxmlformats.org/officeDocument/2006/relationships" id="257" r:id="Ra8834bcb9c6f4313"/>
    <p:sldId xmlns:r="http://schemas.openxmlformats.org/officeDocument/2006/relationships" id="258" r:id="R43fe9686dbd546ef"/>
    <p:sldId xmlns:r="http://schemas.openxmlformats.org/officeDocument/2006/relationships" id="259" r:id="Rd59c6e1714324148"/>
    <p:sldId xmlns:r="http://schemas.openxmlformats.org/officeDocument/2006/relationships" id="260" r:id="R7c4e855583fd4f41"/>
    <p:sldId xmlns:r="http://schemas.openxmlformats.org/officeDocument/2006/relationships" id="261" r:id="R3b81dd282cbf4b16"/>
    <p:sldId xmlns:r="http://schemas.openxmlformats.org/officeDocument/2006/relationships" id="262" r:id="Ra6c37a4ade3249a7"/>
    <p:sldId xmlns:r="http://schemas.openxmlformats.org/officeDocument/2006/relationships" id="263" r:id="R880397db60934cd3"/>
    <p:sldId xmlns:r="http://schemas.openxmlformats.org/officeDocument/2006/relationships" id="264" r:id="R32ed8ce61ca047bb"/>
    <p:sldId xmlns:r="http://schemas.openxmlformats.org/officeDocument/2006/relationships" id="265" r:id="R285d718801ca48de"/>
    <p:sldId xmlns:r="http://schemas.openxmlformats.org/officeDocument/2006/relationships" id="266" r:id="R223b086074dc42e6"/>
    <p:sldId xmlns:r="http://schemas.openxmlformats.org/officeDocument/2006/relationships" id="267" r:id="Ra6ff530a4ad24e71"/>
    <p:sldId xmlns:r="http://schemas.openxmlformats.org/officeDocument/2006/relationships" id="268" r:id="R04069d965c5b4140"/>
    <p:sldId xmlns:r="http://schemas.openxmlformats.org/officeDocument/2006/relationships" id="269" r:id="R80ec8defd16a4918"/>
    <p:sldId xmlns:r="http://schemas.openxmlformats.org/officeDocument/2006/relationships" id="270" r:id="Rc3ea129ac2f44307"/>
    <p:sldId xmlns:r="http://schemas.openxmlformats.org/officeDocument/2006/relationships" id="271" r:id="Rc1fd33a444b84f49"/>
    <p:sldId xmlns:r="http://schemas.openxmlformats.org/officeDocument/2006/relationships" id="272" r:id="Rad7da9917ff84d36"/>
    <p:sldId xmlns:r="http://schemas.openxmlformats.org/officeDocument/2006/relationships" id="273" r:id="R70e21e995eb0487c"/>
    <p:sldId xmlns:r="http://schemas.openxmlformats.org/officeDocument/2006/relationships" id="274" r:id="R1dedce3fe43c48af"/>
    <p:sldId xmlns:r="http://schemas.openxmlformats.org/officeDocument/2006/relationships" id="275" r:id="Ra2bac7a2e8dc4794"/>
    <p:sldId xmlns:r="http://schemas.openxmlformats.org/officeDocument/2006/relationships" id="276" r:id="R3b185ed866754b67"/>
    <p:sldId xmlns:r="http://schemas.openxmlformats.org/officeDocument/2006/relationships" id="277" r:id="R52107e0ead17415d"/>
    <p:sldId xmlns:r="http://schemas.openxmlformats.org/officeDocument/2006/relationships" id="278" r:id="R9e02b1911f9f417b"/>
    <p:sldId xmlns:r="http://schemas.openxmlformats.org/officeDocument/2006/relationships" id="279" r:id="R39948c6de0734309"/>
    <p:sldId xmlns:r="http://schemas.openxmlformats.org/officeDocument/2006/relationships" id="280" r:id="R0afe6883067845e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08c51d331144885" /><Relationship Type="http://schemas.openxmlformats.org/officeDocument/2006/relationships/slideMaster" Target="/ppt/slideMasters/slideMaster1.xml" Id="Rad3194170b794226" /><Relationship Type="http://schemas.openxmlformats.org/officeDocument/2006/relationships/notesMaster" Target="/ppt/notesMasters/notesMaster1.xml" Id="R823da43b7acb4da9" /><Relationship Type="http://schemas.openxmlformats.org/officeDocument/2006/relationships/presProps" Target="/ppt/presProps.xml" Id="R4f640c64f64744a4" /><Relationship Type="http://schemas.openxmlformats.org/officeDocument/2006/relationships/tableStyles" Target="/ppt/tableStyles.xml" Id="Rf73e0d97923347c0" /><Relationship Type="http://schemas.openxmlformats.org/officeDocument/2006/relationships/slide" Target="/ppt/slides/slide1.xml" Id="R896f9c9c85b9496a" /><Relationship Type="http://schemas.openxmlformats.org/officeDocument/2006/relationships/slide" Target="/ppt/slides/slide2.xml" Id="Ra8834bcb9c6f4313" /><Relationship Type="http://schemas.openxmlformats.org/officeDocument/2006/relationships/slide" Target="/ppt/slides/slide3.xml" Id="R43fe9686dbd546ef" /><Relationship Type="http://schemas.openxmlformats.org/officeDocument/2006/relationships/slide" Target="/ppt/slides/slide4.xml" Id="Rd59c6e1714324148" /><Relationship Type="http://schemas.openxmlformats.org/officeDocument/2006/relationships/slide" Target="/ppt/slides/slide5.xml" Id="R7c4e855583fd4f41" /><Relationship Type="http://schemas.openxmlformats.org/officeDocument/2006/relationships/slide" Target="/ppt/slides/slide6.xml" Id="R3b81dd282cbf4b16" /><Relationship Type="http://schemas.openxmlformats.org/officeDocument/2006/relationships/slide" Target="/ppt/slides/slide7.xml" Id="Ra6c37a4ade3249a7" /><Relationship Type="http://schemas.openxmlformats.org/officeDocument/2006/relationships/slide" Target="/ppt/slides/slide8.xml" Id="R880397db60934cd3" /><Relationship Type="http://schemas.openxmlformats.org/officeDocument/2006/relationships/slide" Target="/ppt/slides/slide9.xml" Id="R32ed8ce61ca047bb" /><Relationship Type="http://schemas.openxmlformats.org/officeDocument/2006/relationships/slide" Target="/ppt/slides/slide10.xml" Id="R285d718801ca48de" /><Relationship Type="http://schemas.openxmlformats.org/officeDocument/2006/relationships/slide" Target="/ppt/slides/slide11.xml" Id="R223b086074dc42e6" /><Relationship Type="http://schemas.openxmlformats.org/officeDocument/2006/relationships/slide" Target="/ppt/slides/slide12.xml" Id="Ra6ff530a4ad24e71" /><Relationship Type="http://schemas.openxmlformats.org/officeDocument/2006/relationships/slide" Target="/ppt/slides/slide13.xml" Id="R04069d965c5b4140" /><Relationship Type="http://schemas.openxmlformats.org/officeDocument/2006/relationships/slide" Target="/ppt/slides/slide14.xml" Id="R80ec8defd16a4918" /><Relationship Type="http://schemas.openxmlformats.org/officeDocument/2006/relationships/slide" Target="/ppt/slides/slide15.xml" Id="Rc3ea129ac2f44307" /><Relationship Type="http://schemas.openxmlformats.org/officeDocument/2006/relationships/slide" Target="/ppt/slides/slide16.xml" Id="Rc1fd33a444b84f49" /><Relationship Type="http://schemas.openxmlformats.org/officeDocument/2006/relationships/slide" Target="/ppt/slides/slide17.xml" Id="Rad7da9917ff84d36" /><Relationship Type="http://schemas.openxmlformats.org/officeDocument/2006/relationships/slide" Target="/ppt/slides/slide18.xml" Id="R70e21e995eb0487c" /><Relationship Type="http://schemas.openxmlformats.org/officeDocument/2006/relationships/slide" Target="/ppt/slides/slide19.xml" Id="R1dedce3fe43c48af" /><Relationship Type="http://schemas.openxmlformats.org/officeDocument/2006/relationships/slide" Target="/ppt/slides/slide20.xml" Id="Ra2bac7a2e8dc4794" /><Relationship Type="http://schemas.openxmlformats.org/officeDocument/2006/relationships/slide" Target="/ppt/slides/slide21.xml" Id="R3b185ed866754b67" /><Relationship Type="http://schemas.openxmlformats.org/officeDocument/2006/relationships/slide" Target="/ppt/slides/slide22.xml" Id="R52107e0ead17415d" /><Relationship Type="http://schemas.openxmlformats.org/officeDocument/2006/relationships/slide" Target="/ppt/slides/slide23.xml" Id="R9e02b1911f9f417b" /><Relationship Type="http://schemas.openxmlformats.org/officeDocument/2006/relationships/slide" Target="/ppt/slides/slide24.xml" Id="R39948c6de0734309" /><Relationship Type="http://schemas.openxmlformats.org/officeDocument/2006/relationships/slide" Target="/ppt/slides/slide25.xml" Id="R0afe6883067845e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5d6715a534546d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dc9641c1d3c4d40" /><Relationship Type="http://schemas.openxmlformats.org/officeDocument/2006/relationships/notesMaster" Target="/ppt/notesMasters/notesMaster1.xml" Id="Rba2b14a31b144f41" /></Relationships>
</file>

<file path=ppt/notesSlides/_rels/notesSlide2.xml.rels>&#65279;<?xml version="1.0" encoding="utf-8"?><Relationships xmlns="http://schemas.openxmlformats.org/package/2006/relationships"><Relationship Type="http://schemas.openxmlformats.org/officeDocument/2006/relationships/slide" Target="/ppt/slides/slide2.xml" Id="R1b15f2ae15d74d0b" /><Relationship Type="http://schemas.openxmlformats.org/officeDocument/2006/relationships/notesMaster" Target="/ppt/notesMasters/notesMaster1.xml" Id="R909763339d734613" /></Relationships>
</file>

<file path=ppt/notesSlides/_rels/notesSlide3.xml.rels>&#65279;<?xml version="1.0" encoding="utf-8"?><Relationships xmlns="http://schemas.openxmlformats.org/package/2006/relationships"><Relationship Type="http://schemas.openxmlformats.org/officeDocument/2006/relationships/slide" Target="/ppt/slides/slide3.xml" Id="Rb4016d5ad09348b1" /><Relationship Type="http://schemas.openxmlformats.org/officeDocument/2006/relationships/notesMaster" Target="/ppt/notesMasters/notesMaster1.xml" Id="R36905cef97084561" /></Relationships>
</file>

<file path=ppt/notesSlides/_rels/notesSlide4.xml.rels>&#65279;<?xml version="1.0" encoding="utf-8"?><Relationships xmlns="http://schemas.openxmlformats.org/package/2006/relationships"><Relationship Type="http://schemas.openxmlformats.org/officeDocument/2006/relationships/slide" Target="/ppt/slides/slide4.xml" Id="Rf765567e6abe4c8b" /><Relationship Type="http://schemas.openxmlformats.org/officeDocument/2006/relationships/notesMaster" Target="/ppt/notesMasters/notesMaster1.xml" Id="Ra5ba66e26c28490b" /></Relationships>
</file>

<file path=ppt/notesSlides/_rels/notesSlide5.xml.rels>&#65279;<?xml version="1.0" encoding="utf-8"?><Relationships xmlns="http://schemas.openxmlformats.org/package/2006/relationships"><Relationship Type="http://schemas.openxmlformats.org/officeDocument/2006/relationships/slide" Target="/ppt/slides/slide5.xml" Id="Rf6df1846f3ee42c0" /><Relationship Type="http://schemas.openxmlformats.org/officeDocument/2006/relationships/notesMaster" Target="/ppt/notesMasters/notesMaster1.xml" Id="Rfc31f1aa1caf4546" /></Relationships>
</file>

<file path=ppt/notesSlides/_rels/notesSlide6.xml.rels>&#65279;<?xml version="1.0" encoding="utf-8"?><Relationships xmlns="http://schemas.openxmlformats.org/package/2006/relationships"><Relationship Type="http://schemas.openxmlformats.org/officeDocument/2006/relationships/slide" Target="/ppt/slides/slide6.xml" Id="R7f7d103543fc4fb6" /><Relationship Type="http://schemas.openxmlformats.org/officeDocument/2006/relationships/notesMaster" Target="/ppt/notesMasters/notesMaster1.xml" Id="R0309c2824fdb4cea" /></Relationships>
</file>

<file path=ppt/notesSlides/_rels/notesSlide7.xml.rels>&#65279;<?xml version="1.0" encoding="utf-8"?><Relationships xmlns="http://schemas.openxmlformats.org/package/2006/relationships"><Relationship Type="http://schemas.openxmlformats.org/officeDocument/2006/relationships/slide" Target="/ppt/slides/slide7.xml" Id="Rbf653ed817344c30" /><Relationship Type="http://schemas.openxmlformats.org/officeDocument/2006/relationships/notesMaster" Target="/ppt/notesMasters/notesMaster1.xml" Id="R66892d18ca8e4fd3" /></Relationships>
</file>

<file path=ppt/notesSlides/_rels/notesSlide8.xml.rels>&#65279;<?xml version="1.0" encoding="utf-8"?><Relationships xmlns="http://schemas.openxmlformats.org/package/2006/relationships"><Relationship Type="http://schemas.openxmlformats.org/officeDocument/2006/relationships/slide" Target="/ppt/slides/slide8.xml" Id="R81798d1f231a4726" /><Relationship Type="http://schemas.openxmlformats.org/officeDocument/2006/relationships/notesMaster" Target="/ppt/notesMasters/notesMaster1.xml" Id="Re53150872e284d10" /></Relationships>
</file>

<file path=ppt/notesSlides/_rels/notesSlide9.xml.rels>&#65279;<?xml version="1.0" encoding="utf-8"?><Relationships xmlns="http://schemas.openxmlformats.org/package/2006/relationships"><Relationship Type="http://schemas.openxmlformats.org/officeDocument/2006/relationships/slide" Target="/ppt/slides/slide9.xml" Id="R92870fedba1e413d" /><Relationship Type="http://schemas.openxmlformats.org/officeDocument/2006/relationships/notesMaster" Target="/ppt/notesMasters/notesMaster1.xml" Id="Rbd136f53ceff4c3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4659097fd8b4f0b" /><Relationship Type="http://schemas.openxmlformats.org/officeDocument/2006/relationships/notesMaster" Target="/ppt/notesMasters/notesMaster1.xml" Id="R322405d5b67f426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5c5cafa774640b4" /><Relationship Type="http://schemas.openxmlformats.org/officeDocument/2006/relationships/notesMaster" Target="/ppt/notesMasters/notesMaster1.xml" Id="Rbdcfdfe54cb3457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4263679796843fb" /><Relationship Type="http://schemas.openxmlformats.org/officeDocument/2006/relationships/notesMaster" Target="/ppt/notesMasters/notesMaster1.xml" Id="R4833d5f5dba5416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e7e50425a8f4cc3" /><Relationship Type="http://schemas.openxmlformats.org/officeDocument/2006/relationships/notesMaster" Target="/ppt/notesMasters/notesMaster1.xml" Id="R49be27dd2a724e5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46549ed5a5b4771" /><Relationship Type="http://schemas.openxmlformats.org/officeDocument/2006/relationships/notesMaster" Target="/ppt/notesMasters/notesMaster1.xml" Id="Re45b2c0f56e546f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0d9578dc7c341a7" /><Relationship Type="http://schemas.openxmlformats.org/officeDocument/2006/relationships/notesMaster" Target="/ppt/notesMasters/notesMaster1.xml" Id="R7f3a4cd5dbda4c5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bcdb654ffd74a7d" /><Relationship Type="http://schemas.openxmlformats.org/officeDocument/2006/relationships/notesMaster" Target="/ppt/notesMasters/notesMaster1.xml" Id="R0fe6033f24894f6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6fb05c790144bb5" /><Relationship Type="http://schemas.openxmlformats.org/officeDocument/2006/relationships/notesMaster" Target="/ppt/notesMasters/notesMaster1.xml" Id="Rd829b7dff148447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032b5e84f354c86" /><Relationship Type="http://schemas.openxmlformats.org/officeDocument/2006/relationships/notesMaster" Target="/ppt/notesMasters/notesMaster1.xml" Id="Rca4557b044af4c6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ec07bba9f1445cc" /><Relationship Type="http://schemas.openxmlformats.org/officeDocument/2006/relationships/notesMaster" Target="/ppt/notesMasters/notesMaster1.xml" Id="R1e33ed148048467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9e5f752a2b447a4" /><Relationship Type="http://schemas.openxmlformats.org/officeDocument/2006/relationships/notesMaster" Target="/ppt/notesMasters/notesMaster1.xml" Id="R153928143e0d484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94d7ddfbb254a19" /><Relationship Type="http://schemas.openxmlformats.org/officeDocument/2006/relationships/notesMaster" Target="/ppt/notesMasters/notesMaster1.xml" Id="Rdbd641fc52394b6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8cbe6cc2cc44616" /><Relationship Type="http://schemas.openxmlformats.org/officeDocument/2006/relationships/notesMaster" Target="/ppt/notesMasters/notesMaster1.xml" Id="R2dd84edaa7a54f2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a3f123975ad4b83" /><Relationship Type="http://schemas.openxmlformats.org/officeDocument/2006/relationships/notesMaster" Target="/ppt/notesMasters/notesMaster1.xml" Id="Re0f1764fb1854cf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f10a2470894d46c3" /><Relationship Type="http://schemas.openxmlformats.org/officeDocument/2006/relationships/notesMaster" Target="/ppt/notesMasters/notesMaster1.xml" Id="R6c0d139453d24de9"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dfcb4c10db274290" /><Relationship Type="http://schemas.openxmlformats.org/officeDocument/2006/relationships/notesMaster" Target="/ppt/notesMasters/notesMaster1.xml" Id="R7b05a3e146954fb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Presentación para discusión de tesis. Resultados deterministas del modelo existente a azimut congelado. Morris del 6 de octubre y comprobación complementaria del 14 de octubre de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pregunta compara la influencia de propiedades de palas y velocidad en respuestas modales. La superficie de la turbina es ilustrativa. La malla del solver es de vigas y cuerpos rígidos. Se conserva el eje real 129–130 y la orientación nominal.</a:t>
            </a:r>
          </a:p>
          <a:p xmlns:a="http://schemas.openxmlformats.org/drawingml/2006/main">
            <a:r>
              <a:t/>
            </a:r>
          </a:p>
          <a:p xmlns:a="http://schemas.openxmlformats.org/drawingml/2006/main">
            <a:r>
              <a:t>Fuentes:</a:t>
            </a:r>
          </a:p>
          <a:p xmlns:a="http://schemas.openxmlformats.org/drawingml/2006/main">
            <a:r>
              <a:t>/Users/nuseche/Desktop/Tesis_codigos/docs/sensibilidad_morris_20261006/report_data.json</a:t>
            </a:r>
          </a:p>
          <a:p xmlns:a="http://schemas.openxmlformats.org/drawingml/2006/main">
            <a:r>
              <a:t>/Users/nuseche/Desktop/Tesis_codigos/postprocessing/tecplot_20261007/catalog.json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Los factores de masa escalan masa por longitud e inercias de todas las palas a geometría fija. La rigidez escala conjuntamente EA, GAy, GAz, GJ, EIy y EIz. El factor de velocidad multiplica 12 rpm. Los rangos son escenarios aprobados, no incertidumbres medidas.</a:t>
            </a:r>
          </a:p>
          <a:p xmlns:a="http://schemas.openxmlformats.org/drawingml/2006/main">
            <a:r>
              <a:t/>
            </a:r>
          </a:p>
          <a:p xmlns:a="http://schemas.openxmlformats.org/drawingml/2006/main">
            <a:r>
              <a:t>Fuentes:</a:t>
            </a:r>
          </a:p>
          <a:p xmlns:a="http://schemas.openxmlformats.org/drawingml/2006/main">
            <a:r>
              <a:t>/Users/nuseche/Desktop/Tesis_codigos/+sensitivity/apply_parameters.m</a:t>
            </a:r>
          </a:p>
          <a:p xmlns:a="http://schemas.openxmlformats.org/drawingml/2006/main">
            <a:r>
              <a:t>/Users/nuseche/Desktop/Tesis_codigos/+sensitivity/config_morris.m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 utiliza q proporcional a phi exp(lambda t), frecuencia amortiguada y crecimiento real. D incluye amortiguamiento, giroscopía y transporte. La frecuencia no informa por sí sola la estabilidad.</a:t>
            </a:r>
          </a:p>
          <a:p xmlns:a="http://schemas.openxmlformats.org/drawingml/2006/main">
            <a:r>
              <a:t/>
            </a:r>
          </a:p>
          <a:p xmlns:a="http://schemas.openxmlformats.org/drawingml/2006/main">
            <a:r>
              <a:t>Fuentes:</a:t>
            </a:r>
          </a:p>
          <a:p xmlns:a="http://schemas.openxmlformats.org/drawingml/2006/main">
            <a:r>
              <a:t>/Users/nuseche/Desktop/Tesis_codigos/+sensitivity/summarize_morris.m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Los números son ramas de la referencia. Los grupos se construyen por proximidad de raíces en el dominio y seguimiento de subespacios. Su respuesta es una media de frecuencias, no un autovector promedio. La identidad no se redefine ordenando frecuencias en cada caso.</a:t>
            </a:r>
          </a:p>
          <a:p xmlns:a="http://schemas.openxmlformats.org/drawingml/2006/main">
            <a:r>
              <a:t/>
            </a:r>
          </a:p>
          <a:p xmlns:a="http://schemas.openxmlformats.org/drawingml/2006/main">
            <a:r>
              <a:t>Fuentes:</a:t>
            </a:r>
          </a:p>
          <a:p xmlns:a="http://schemas.openxmlformats.org/drawingml/2006/main">
            <a:r>
              <a:t>/Users/nuseche/Desktop/Tesis_codigos/docs/sensibilidad_morris_20261006/report_data.json</a:t>
            </a:r>
          </a:p>
          <a:p xmlns:a="http://schemas.openxmlformats.org/drawingml/2006/main">
            <a:r>
              <a:t>/Users/nuseche/Desktop/Tesis_codigos/+sensitivity/track_modes.m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 99 evaluaciones iniciales incluyen varias campañas locales y de verificación. El Morris tiene 170 evaluaciones. La nueva etapa reutiliza 58 puntos distintos y añade 6 puntos y 3 controles, sin modificar intervalos ni rutinas físicas. No se interpretan refinamiento de malla ni paso temporal como parámetros inciertos.</a:t>
            </a:r>
          </a:p>
          <a:p xmlns:a="http://schemas.openxmlformats.org/drawingml/2006/main">
            <a:r>
              <a:t/>
            </a:r>
          </a:p>
          <a:p xmlns:a="http://schemas.openxmlformats.org/drawingml/2006/main">
            <a:r>
              <a:t>Fuentes:</a:t>
            </a:r>
          </a:p>
          <a:p xmlns:a="http://schemas.openxmlformats.org/drawingml/2006/main">
            <a:r>
              <a:t>/Users/nuseche/Desktop/Tesis_codigos/docs/sensibilidad_20261005/LEEME.md</a:t>
            </a:r>
          </a:p>
          <a:p xmlns:a="http://schemas.openxmlformats.org/drawingml/2006/main">
            <a:r>
              <a:t>/Users/nuseche/Desktop/Tesis_codigos/docs/sensibilidad_morris_20261006/report_data.json</a:t>
            </a:r>
          </a:p>
          <a:p xmlns:a="http://schemas.openxmlformats.org/drawingml/2006/main">
            <a:r>
              <a:t>/Users/nuseche/Desktop/Tesis_codigos/docs/sensibilidad_complementaria_20261014/analysis_summary.json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Primera trayectoria real. Las coordenadas del diseño recorren cuatro niveles. Cada tramo conserva los otros dos factores. El paso normalizado es 2/3 y el paso del factor físico es 0.13333. Los segmentos representan escenarios independientes, no tiempo.</a:t>
            </a:r>
          </a:p>
          <a:p xmlns:a="http://schemas.openxmlformats.org/drawingml/2006/main">
            <a:r>
              <a:t/>
            </a:r>
          </a:p>
          <a:p xmlns:a="http://schemas.openxmlformats.org/drawingml/2006/main">
            <a:r>
              <a:t>Fuentes:</a:t>
            </a:r>
          </a:p>
          <a:p xmlns:a="http://schemas.openxmlformats.org/drawingml/2006/main">
            <a:r>
              <a:t>/Users/nuseche/Desktop/Tesis_codigos/runs/sensitivity/morris_20261006/morris_vertices.csv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Morris 1991 emplea media y desviación estándar de efectos elementales. Campolongo et al. 2007 presentan mu estrella para evitar cancelación de signos. Los filtros adicionales de ruido, seguimiento y prefijos son decisiones de implementación.</a:t>
            </a:r>
          </a:p>
          <a:p xmlns:a="http://schemas.openxmlformats.org/drawingml/2006/main">
            <a:r>
              <a:t/>
            </a:r>
          </a:p>
          <a:p xmlns:a="http://schemas.openxmlformats.org/drawingml/2006/main">
            <a:r>
              <a:t>Fuentes:</a:t>
            </a:r>
          </a:p>
          <a:p xmlns:a="http://schemas.openxmlformats.org/drawingml/2006/main">
            <a:r>
              <a:t>https://stat.cmu.edu/technometrics/90-00/vol-33-02/v3302161.pdf</a:t>
            </a:r>
          </a:p>
          <a:p xmlns:a="http://schemas.openxmlformats.org/drawingml/2006/main">
            <a:r>
              <a:t>https://doi.org/10.1016/j.envsoft.2006.10.004</a:t>
            </a:r>
          </a:p>
          <a:p xmlns:a="http://schemas.openxmlformats.org/drawingml/2006/main">
            <a:r>
              <a:t>/Users/nuseche/Desktop/Tesis_codigos/+sensitivity/morris_statistics.m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Estimadores originales de Morris divididos por el ancho físico 0.20. Círculos masa, diamantes rigidez y cuadrados velocidad. Marcador lleno aceptado, vacío no resuelto. Grupo 12 excluido. No se reinterpretan los símbolos vacíos como cero.</a:t>
            </a:r>
          </a:p>
          <a:p xmlns:a="http://schemas.openxmlformats.org/drawingml/2006/main">
            <a:r>
              <a:t/>
            </a:r>
          </a:p>
          <a:p xmlns:a="http://schemas.openxmlformats.org/drawingml/2006/main">
            <a:r>
              <a:t>Fuentes:</a:t>
            </a:r>
          </a:p>
          <a:p xmlns:a="http://schemas.openxmlformats.org/drawingml/2006/main">
            <a:r>
              <a:t>/Users/nuseche/Desktop/Tesis_codigos/docs/sensibilidad_morris_20261006/report_data.json</a:t>
            </a:r>
          </a:p>
          <a:p xmlns:a="http://schemas.openxmlformats.org/drawingml/2006/main">
            <a:r>
              <a:t>/Users/nuseche/Desktop/Tesis_codigos/docs/sensibilidad_complementaria_20261014/figure_catalog.json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Prefijos 10, 20 y 40 del mismo diseño, con el mismo agrupamiento final. Cambio máximo de mu estrella de 20 a 40 entre las 14 influencias aceptadas: 0.796225 %. Umbral de prefijos 10 %. No es convergencia espacial ni garantía asintótica.</a:t>
            </a:r>
          </a:p>
          <a:p xmlns:a="http://schemas.openxmlformats.org/drawingml/2006/main">
            <a:r>
              <a:t/>
            </a:r>
          </a:p>
          <a:p xmlns:a="http://schemas.openxmlformats.org/drawingml/2006/main">
            <a:r>
              <a:t>Fuentes:</a:t>
            </a:r>
          </a:p>
          <a:p xmlns:a="http://schemas.openxmlformats.org/drawingml/2006/main">
            <a:r>
              <a:t>/Users/nuseche/Desktop/Tesis_codigos/docs/sensibilidad_morris_20261006/report_data.json</a:t>
            </a:r>
          </a:p>
          <a:p xmlns:a="http://schemas.openxmlformats.org/drawingml/2006/main">
            <a:r>
              <a:t>/Users/nuseche/Desktop/Tesis_codigos/runs/sensitivity/morris_20261006/morris_estimators.csv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media absoluta debe superar diez veces su envolvente empírica. Los índices de la figura se explican debajo. Repetición, QEP estricto y directo frente a continuación proporcionan la envolvente, que no es una cota rigurosa del error en todo el dominio.</a:t>
            </a:r>
          </a:p>
          <a:p xmlns:a="http://schemas.openxmlformats.org/drawingml/2006/main">
            <a:r>
              <a:t/>
            </a:r>
          </a:p>
          <a:p xmlns:a="http://schemas.openxmlformats.org/drawingml/2006/main">
            <a:r>
              <a:t>Fuentes:</a:t>
            </a:r>
          </a:p>
          <a:p xmlns:a="http://schemas.openxmlformats.org/drawingml/2006/main">
            <a:r>
              <a:t>/Users/nuseche/Desktop/Tesis_codigos/runs/sensitivity/morris_20261006/morris_noise.csv</a:t>
            </a:r>
          </a:p>
          <a:p xmlns:a="http://schemas.openxmlformats.org/drawingml/2006/main">
            <a:r>
              <a:t>/Users/nuseche/Desktop/Tesis_codigos/docs/sensibilidad_morris_20261006/report_data.json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Participaciones cuadráticas de masa y rigidez elástica nominal. No son una descomposición de toda la energía rotacional. Esta evidencia independiente respalda sensibilidad a propiedades de palas, sin convertir los modos en movimientos aislados de un componente.</a:t>
            </a:r>
          </a:p>
          <a:p xmlns:a="http://schemas.openxmlformats.org/drawingml/2006/main">
            <a:r>
              <a:t/>
            </a:r>
          </a:p>
          <a:p xmlns:a="http://schemas.openxmlformats.org/drawingml/2006/main">
            <a:r>
              <a:t>Fuentes:</a:t>
            </a:r>
          </a:p>
          <a:p xmlns:a="http://schemas.openxmlformats.org/drawingml/2006/main">
            <a:r>
              <a:t>/Users/nuseche/Desktop/Tesis_codigos/runs/sensitivity/initial_20261005/local/modal_energy_evidence.csv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 calcula delta f aproximadamente f0 multiplicado por mu/0.20 y por delta del factor. Son secantes medias del dominio, no derivadas locales certificadas ni evaluaciones nuevas de factores al 1 %. Frecuencia nominal del grupo 1.2254297847 Hz.</a:t>
            </a:r>
          </a:p>
          <a:p xmlns:a="http://schemas.openxmlformats.org/drawingml/2006/main">
            <a:r>
              <a:t/>
            </a:r>
          </a:p>
          <a:p xmlns:a="http://schemas.openxmlformats.org/drawingml/2006/main">
            <a:r>
              <a:t>Fuentes:</a:t>
            </a:r>
          </a:p>
          <a:p xmlns:a="http://schemas.openxmlformats.org/drawingml/2006/main">
            <a:r>
              <a:t>/Users/nuseche/Desktop/Tesis_codigos/docs/sensibilidad_morris_20261006/report_data.json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 reutilizaron 58 combinaciones distintas de Morris. Se resolvieron 6 faltantes, QEP estricto y continuación en un nuevo punto, y una repetición nominal. Los nueve casos convergieron. Costo de solve 77.485 s, con límite operacional de 300 s. Se verificaron 175 huellas de fuente sin cambios.</a:t>
            </a:r>
          </a:p>
          <a:p xmlns:a="http://schemas.openxmlformats.org/drawingml/2006/main">
            <a:r>
              <a:t/>
            </a:r>
          </a:p>
          <a:p xmlns:a="http://schemas.openxmlformats.org/drawingml/2006/main">
            <a:r>
              <a:t>Fuentes:</a:t>
            </a:r>
          </a:p>
          <a:p xmlns:a="http://schemas.openxmlformats.org/drawingml/2006/main">
            <a:r>
              <a:t>/Users/nuseche/Desktop/Tesis_codigos/docs/sensibilidad_complementaria_20261014/analysis_summary.json</a:t>
            </a:r>
          </a:p>
          <a:p xmlns:a="http://schemas.openxmlformats.org/drawingml/2006/main">
            <a:r>
              <a:t>/Users/nuseche/Desktop/Tesis_codigos/runs/sensitivity/grid_completion_20261014/case_status.csv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Mínimos y máximos calculados entre los 64 puntos. No son cuantiles, intervalos de confianza ni extremos certificados del dominio continuo. Las combinaciones modifican simultáneamente los tres factores.</a:t>
            </a:r>
          </a:p>
          <a:p xmlns:a="http://schemas.openxmlformats.org/drawingml/2006/main">
            <a:r>
              <a:t/>
            </a:r>
          </a:p>
          <a:p xmlns:a="http://schemas.openxmlformats.org/drawingml/2006/main">
            <a:r>
              <a:t>Fuentes:</a:t>
            </a:r>
          </a:p>
          <a:p xmlns:a="http://schemas.openxmlformats.org/drawingml/2006/main">
            <a:r>
              <a:t>/Users/nuseche/Desktop/Tesis_codigos/docs/sensibilidad_complementaria_20261014/analysis_summary.json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 toman las cuatro combinaciones diagonales xi_rho=xi_K a cada una de las cuatro velocidades. Cada curva usa como origen su propia frecuencia al factor 0.90. La variación normalizada por f0 queda entre 0.404 y 0.423 %, mientras las entradas abarcan 0.90 a 1.10. No establece una ley de compensación universal ni una identificación única.</a:t>
            </a:r>
          </a:p>
          <a:p xmlns:a="http://schemas.openxmlformats.org/drawingml/2006/main">
            <a:r>
              <a:t/>
            </a:r>
          </a:p>
          <a:p xmlns:a="http://schemas.openxmlformats.org/drawingml/2006/main">
            <a:r>
              <a:t>Fuentes:</a:t>
            </a:r>
          </a:p>
          <a:p xmlns:a="http://schemas.openxmlformats.org/drawingml/2006/main">
            <a:r>
              <a:t>/Users/nuseche/Desktop/Tesis_codigos/docs/sensibilidad_complementaria_20261014/analysis_summary.json</a:t>
            </a:r>
          </a:p>
          <a:p xmlns:a="http://schemas.openxmlformats.org/drawingml/2006/main">
            <a:r>
              <a:t>/Users/nuseche/Desktop/Tesis_codigos/docs/sensibilidad_complementaria_20261014/equal_factor_compensation.csv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Contraste rectangular en los extremos de los factores i,j, con el tercero fijo. Si f es aditiva en estos dos factores, el contraste es cero aunque exista curvatura individual. Un contraste resuelto demuestra no aditividad en esos puntos y respuesta, sin atribuir un término concreto del operador. Se propaga la envolvente como b=4 eta y se exige |I| &gt;=10b.</a:t>
            </a:r>
          </a:p>
          <a:p xmlns:a="http://schemas.openxmlformats.org/drawingml/2006/main">
            <a:r>
              <a:t/>
            </a:r>
          </a:p>
          <a:p xmlns:a="http://schemas.openxmlformats.org/drawingml/2006/main">
            <a:r>
              <a:t>Fuentes:</a:t>
            </a:r>
          </a:p>
          <a:p xmlns:a="http://schemas.openxmlformats.org/drawingml/2006/main">
            <a:r>
              <a:t>/Users/nuseche/Desktop/Tesis_codigos/docs/sensibilidad_complementaria_20261014/analysis_summary.json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 líneas describen cuatro contrastes calculados para cada par. El eje horizontal indica el factor que permanece fijo, distinto entre curvas. Puntos llenos superan la puerta de ruido; vacíos no. El par masa–velocidad es marginal y depende de la envolvente empírica. La escala es porcentaje de f0, no porcentaje de varianza explicada.</a:t>
            </a:r>
          </a:p>
          <a:p xmlns:a="http://schemas.openxmlformats.org/drawingml/2006/main">
            <a:r>
              <a:t/>
            </a:r>
          </a:p>
          <a:p xmlns:a="http://schemas.openxmlformats.org/drawingml/2006/main">
            <a:r>
              <a:t>Fuentes:</a:t>
            </a:r>
          </a:p>
          <a:p xmlns:a="http://schemas.openxmlformats.org/drawingml/2006/main">
            <a:r>
              <a:t>/Users/nuseche/Desktop/Tesis_codigos/docs/sensibilidad_complementaria_20261014/analysis_summary.json</a:t>
            </a:r>
          </a:p>
          <a:p xmlns:a="http://schemas.openxmlformats.org/drawingml/2006/main">
            <a:r>
              <a:t>/Users/nuseche/Desktop/Tesis_codigos/docs/sensibilidad_complementaria_20261014/mixed_contrasts.csv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clasificación de dominancia se limita a tres factores y dominio ±10 %. Los signos detallados se refieren a estimadores originales aceptados. La rejilla conserva la clasificación por magnitud de las secantes de extremo para los cinco grupos principales. La interacción masa-rigidez se demuestra por contraste finito en 10+11 y cuatro velocidades, con la envolvente empírica declarada.</a:t>
            </a:r>
          </a:p>
          <a:p xmlns:a="http://schemas.openxmlformats.org/drawingml/2006/main">
            <a:r>
              <a:t/>
            </a:r>
          </a:p>
          <a:p xmlns:a="http://schemas.openxmlformats.org/drawingml/2006/main">
            <a:r>
              <a:t>Fuentes:</a:t>
            </a:r>
          </a:p>
          <a:p xmlns:a="http://schemas.openxmlformats.org/drawingml/2006/main">
            <a:r>
              <a:t>/Users/nuseche/Desktop/Tesis_codigos/docs/sensibilidad_morris_20261006/report_data.json</a:t>
            </a:r>
          </a:p>
          <a:p xmlns:a="http://schemas.openxmlformats.org/drawingml/2006/main">
            <a:r>
              <a:t>/Users/nuseche/Desktop/Tesis_codigos/docs/sensibilidad_complementaria_20261014/analysis_summary.json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envolvente procede de controles concretos, no de una prueba rigurosa del error de todo el dominio. La convergencia de malla previa corresponde al rotor detenido. El módulo de refinamiento actual no permite rotor girando; no se alteró esa limitación. Las raíces retornadas tienen parte real negativa pero el espectro y análisis congelados no prueban estabilidad de todo el ciclo.</a:t>
            </a:r>
          </a:p>
          <a:p xmlns:a="http://schemas.openxmlformats.org/drawingml/2006/main">
            <a:r>
              <a:t/>
            </a:r>
          </a:p>
          <a:p xmlns:a="http://schemas.openxmlformats.org/drawingml/2006/main">
            <a:r>
              <a:t>Fuentes:</a:t>
            </a:r>
          </a:p>
          <a:p xmlns:a="http://schemas.openxmlformats.org/drawingml/2006/main">
            <a:r>
              <a:t>/Users/nuseche/Desktop/Tesis_codigos/+sensitivity/evaluate_case.m</a:t>
            </a:r>
          </a:p>
          <a:p xmlns:a="http://schemas.openxmlformats.org/drawingml/2006/main">
            <a:r>
              <a:t>/Users/nuseche/Desktop/Tesis_codigos/docs/sensibilidad_complementaria_20261014/analysis_summary.json</a:t>
            </a:r>
          </a:p>
          <a:p xmlns:a="http://schemas.openxmlformats.org/drawingml/2006/main">
            <a:r>
              <a:t>/Users/nuseche/Desktop/Tesis_codigos/docs/sensibilidad_morris_20261006/report_data.json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 propuestas son decisiones científicas pendientes, no campañas ejecutadas. Para estabilidad periódica se requiere un análisis adecuado al sistema periódico. Las propiedades del conjunto existente no equivalen a una turbina comercial calibrada. Cambiar el número de ramas permite estudiar el cierre espectral, pero debe verificarse identidad y costo.</a:t>
            </a:r>
          </a:p>
          <a:p xmlns:a="http://schemas.openxmlformats.org/drawingml/2006/main">
            <a:r>
              <a:t/>
            </a:r>
          </a:p>
          <a:p xmlns:a="http://schemas.openxmlformats.org/drawingml/2006/main">
            <a:r>
              <a:t>Fuentes:</a:t>
            </a:r>
          </a:p>
          <a:p xmlns:a="http://schemas.openxmlformats.org/drawingml/2006/main">
            <a:r>
              <a:t>/Users/nuseche/Desktop/Tesis_codigos/docs/sensibilidad_morris_20261006/SECCION_MORRIS_REVISION.tex</a:t>
            </a:r>
          </a:p>
          <a:p xmlns:a="http://schemas.openxmlformats.org/drawingml/2006/main">
            <a:r>
              <a:t>/Users/nuseche/Desktop/Tesis_codigos/docs/sensibilidad_complementaria_20261014/analysis_summary.json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C=f(next)-2f(center)+f(previous) a pasos iguales. En 10+11 se resolvieron 6 de 32 contrastes de masa/inercia. Los otros contrastes no superaron diez veces 4eta. No se concluye linealidad a partir de ausencia de resolución. Estas diferencias no separan curvatura de todos los órdenes ni establecen monotonicidad continua.</a:t>
            </a:r>
          </a:p>
          <a:p xmlns:a="http://schemas.openxmlformats.org/drawingml/2006/main">
            <a:r>
              <a:t/>
            </a:r>
          </a:p>
          <a:p xmlns:a="http://schemas.openxmlformats.org/drawingml/2006/main">
            <a:r>
              <a:t>Fuentes:</a:t>
            </a:r>
          </a:p>
          <a:p xmlns:a="http://schemas.openxmlformats.org/drawingml/2006/main">
            <a:r>
              <a:t>/Users/nuseche/Desktop/Tesis_codigos/docs/sensibilidad_complementaria_20261014/pure_curvature.csv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Residuos máximos sobre la rejilla de 64 puntos. La norma dual de masa escala fuerzas y momentos. Se verificó grupo cerrado y métricas de seguimiento con ref de masa nominal. Las 17 pruebas del módulo y regresión 155/155 son evidencia histórica, no pruebas ejecutadas hoy. Hoy se verifican los 9 casos y los 175 hashes del código existente.</a:t>
            </a:r>
          </a:p>
          <a:p xmlns:a="http://schemas.openxmlformats.org/drawingml/2006/main">
            <a:r>
              <a:t/>
            </a:r>
          </a:p>
          <a:p xmlns:a="http://schemas.openxmlformats.org/drawingml/2006/main">
            <a:r>
              <a:t>Fuentes:</a:t>
            </a:r>
          </a:p>
          <a:p xmlns:a="http://schemas.openxmlformats.org/drawingml/2006/main">
            <a:r>
              <a:t>/Users/nuseche/Desktop/Tesis_codigos/docs/sensibilidad_complementaria_20261014/analysis_summary.json</a:t>
            </a:r>
          </a:p>
          <a:p xmlns:a="http://schemas.openxmlformats.org/drawingml/2006/main">
            <a:r>
              <a:t>/Users/nuseche/Desktop/Tesis_codigos/runs/sensitivity/grid_completion_20261014/grid_residuals.csv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 comparan mu/0.20 de Morris y media de secantes entre extremos 0.90 y 1.10 en las 16 combinaciones del resto de factores. Los pasos y las ponderaciones son distintos, por lo que no se exige igualdad numérica. Son medias descriptivas de un diseño definido, sin interpretación probabilística física.</a:t>
            </a:r>
          </a:p>
          <a:p xmlns:a="http://schemas.openxmlformats.org/drawingml/2006/main">
            <a:r>
              <a:t/>
            </a:r>
          </a:p>
          <a:p xmlns:a="http://schemas.openxmlformats.org/drawingml/2006/main">
            <a:r>
              <a:t>Fuentes:</a:t>
            </a:r>
          </a:p>
          <a:p xmlns:a="http://schemas.openxmlformats.org/drawingml/2006/main">
            <a:r>
              <a:t>/Users/nuseche/Desktop/Tesis_codigos/docs/sensibilidad_morris_20261006/report_data.json</a:t>
            </a:r>
          </a:p>
          <a:p xmlns:a="http://schemas.openxmlformats.org/drawingml/2006/main">
            <a:r>
              <a:t>/Users/nuseche/Desktop/Tesis_codigos/docs/sensibilidad_complementaria_20261014/analysis_summary.json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 referencias respaldan el método de cribado y la extensión mu estrella. Datos de sensibilidad en el solver existente, carpetas initial_20261005, morris_20261006 y grid_completion_20261014. Las figuras anteriores vienen de Tecplot 2025 R2. El usuario autorizó generar nuevas figuras monocromáticas con otro motor ante la licencia expirada. Los nuevos gráficos identifican su motor en figure_catalog.json.</a:t>
            </a:r>
          </a:p>
          <a:p xmlns:a="http://schemas.openxmlformats.org/drawingml/2006/main">
            <a:r>
              <a:t/>
            </a:r>
          </a:p>
          <a:p xmlns:a="http://schemas.openxmlformats.org/drawingml/2006/main">
            <a:r>
              <a:t>Fuentes:</a:t>
            </a:r>
          </a:p>
          <a:p xmlns:a="http://schemas.openxmlformats.org/drawingml/2006/main">
            <a:r>
              <a:t>https://doi.org/10.1080/00401706.1991.10484804</a:t>
            </a:r>
          </a:p>
          <a:p xmlns:a="http://schemas.openxmlformats.org/drawingml/2006/main">
            <a:r>
              <a:t>https://doi.org/10.1016/j.envsoft.2006.10.004</a:t>
            </a:r>
          </a:p>
          <a:p xmlns:a="http://schemas.openxmlformats.org/drawingml/2006/main">
            <a:r>
              <a:t>/Users/nuseche/Desktop/Tesis_codigos/docs/sensibilidad_complementaria_20261014/analysis_summary.json</a:t>
            </a:r>
          </a:p>
          <a:p xmlns:a="http://schemas.openxmlformats.org/drawingml/2006/main">
            <a:r>
              <a:t>/Users/nuseche/Desktop/Tesis_codigos/docs/sensibilidad_morris_20261006/report_data.json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5a0d0a7581c4fc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0be8f447169446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053271245f14f3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1a455e163d5477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8e7a0eabdf94b0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4bc18298c4b4e7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2E33807-4B27-4C9E-B4BE-FD96CC0CBB7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08B68C7-A3A0-4967-9AC0-DB07DD3221E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B0C3C59-FFA3-4FAA-B304-43ABF265BCC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7FD91FB-E545-4BC7-A344-2DC36BC97E2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2A19DA8-9063-4314-A913-3A22CE5C72B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C8542BE-3F3E-4014-9225-72BF4633FF7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C4E92BC-687D-4E93-A6C0-3BBAB1E8893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846EFD3-5776-4005-ADA4-FD6A57A5174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E842E03-E5EC-4E04-958F-F9722CB2F52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BDDFDCD-55BA-428C-8B6A-AFA8293787C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3c5782f7d9948d8" /><Relationship Type="http://schemas.openxmlformats.org/officeDocument/2006/relationships/slideLayout" Target="/ppt/slideLayouts/slideLayout1.xml" Id="Reeb20e8f3b0a4af3" /><Relationship Type="http://schemas.openxmlformats.org/officeDocument/2006/relationships/slideLayout" Target="/ppt/slideLayouts/slideLayout2.xml" Id="R2cc235fbe9ed416c" /><Relationship Type="http://schemas.openxmlformats.org/officeDocument/2006/relationships/slideLayout" Target="/ppt/slideLayouts/slideLayout3.xml" Id="R04a14f4c87b4423c" /><Relationship Type="http://schemas.openxmlformats.org/officeDocument/2006/relationships/slideLayout" Target="/ppt/slideLayouts/slideLayout4.xml" Id="R79073d336ac945b7" /><Relationship Type="http://schemas.openxmlformats.org/officeDocument/2006/relationships/slideLayout" Target="/ppt/slideLayouts/slideLayout5.xml" Id="R38a3ea7d28334613" /><Relationship Type="http://schemas.openxmlformats.org/officeDocument/2006/relationships/slideLayout" Target="/ppt/slideLayouts/slideLayout6.xml" Id="Rb7aaaf490fd24f2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eb20e8f3b0a4af3"/>
    <p:sldLayoutId xmlns:r="http://schemas.openxmlformats.org/officeDocument/2006/relationships" id="2147483650" r:id="R2cc235fbe9ed416c"/>
    <p:sldLayoutId xmlns:r="http://schemas.openxmlformats.org/officeDocument/2006/relationships" id="2147483651" r:id="R04a14f4c87b4423c"/>
    <p:sldLayoutId xmlns:r="http://schemas.openxmlformats.org/officeDocument/2006/relationships" id="2147483652" r:id="R79073d336ac945b7"/>
    <p:sldLayoutId xmlns:r="http://schemas.openxmlformats.org/officeDocument/2006/relationships" id="2147483653" r:id="R38a3ea7d28334613"/>
    <p:sldLayoutId xmlns:r="http://schemas.openxmlformats.org/officeDocument/2006/relationships" id="2147483654" r:id="Rb7aaaf490fd24f2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857a2cc941c49e5" /><Relationship Type="http://schemas.openxmlformats.org/officeDocument/2006/relationships/notesSlide" Target="/ppt/notesSlides/notesSlide1.xml" Id="R627bee5e7aee4ee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1fbf6ab5f98496e" /><Relationship Type="http://schemas.openxmlformats.org/officeDocument/2006/relationships/image" Target="/ppt/media/image.png" Id="Rdfeefb49c57b475c" /><Relationship Type="http://schemas.openxmlformats.org/officeDocument/2006/relationships/notesSlide" Target="/ppt/notesSlides/notesSlide2.xml" Id="R51d13b5936334ff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b1895aa9e074f1b" /><Relationship Type="http://schemas.openxmlformats.org/officeDocument/2006/relationships/notesSlide" Target="/ppt/notesSlides/notesSlide3.xml" Id="Rac83aa6030944f9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d8080b785ea4184" /><Relationship Type="http://schemas.openxmlformats.org/officeDocument/2006/relationships/notesSlide" Target="/ppt/notesSlides/notesSlide4.xml" Id="R0673dfd72a93484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ee05904151644b3" /><Relationship Type="http://schemas.openxmlformats.org/officeDocument/2006/relationships/notesSlide" Target="/ppt/notesSlides/notesSlide5.xml" Id="Ra6299aa2bd254c6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81c69c46d1744b4" /><Relationship Type="http://schemas.openxmlformats.org/officeDocument/2006/relationships/notesSlide" Target="/ppt/notesSlides/notesSlide6.xml" Id="R91da29a97b074ba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bb0f977277e4a4d" /><Relationship Type="http://schemas.openxmlformats.org/officeDocument/2006/relationships/image" Target="/ppt/media/image2.png" Id="R1674a1ec863f4be1" /><Relationship Type="http://schemas.openxmlformats.org/officeDocument/2006/relationships/notesSlide" Target="/ppt/notesSlides/notesSlide7.xml" Id="R6b8f77d954884f5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7f3f2cfea8b4068" /><Relationship Type="http://schemas.openxmlformats.org/officeDocument/2006/relationships/notesSlide" Target="/ppt/notesSlides/notesSlide8.xml" Id="R89899d12722744e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9033f3bd71b4b02" /><Relationship Type="http://schemas.openxmlformats.org/officeDocument/2006/relationships/image" Target="/ppt/media/image3.png" Id="R8ec2a973e0d54de5" /><Relationship Type="http://schemas.openxmlformats.org/officeDocument/2006/relationships/notesSlide" Target="/ppt/notesSlides/notesSlide9.xml" Id="Ra64c38e2daf1469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05cce95eff04abc" /><Relationship Type="http://schemas.openxmlformats.org/officeDocument/2006/relationships/image" Target="/ppt/media/image4.png" Id="R89a9ff4d188e4159" /><Relationship Type="http://schemas.openxmlformats.org/officeDocument/2006/relationships/notesSlide" Target="/ppt/notesSlides/notesSlide10.xml" Id="Rea1f24dd3e004d8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7ff99bf38524959" /><Relationship Type="http://schemas.openxmlformats.org/officeDocument/2006/relationships/image" Target="/ppt/media/image5.png" Id="Re667a6377b9d443c" /><Relationship Type="http://schemas.openxmlformats.org/officeDocument/2006/relationships/notesSlide" Target="/ppt/notesSlides/notesSlide11.xml" Id="Rb944c691b86f470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9cb2eea788b447ef" /><Relationship Type="http://schemas.openxmlformats.org/officeDocument/2006/relationships/image" Target="/ppt/media/image6.png" Id="R735138641bfa43be" /><Relationship Type="http://schemas.openxmlformats.org/officeDocument/2006/relationships/notesSlide" Target="/ppt/notesSlides/notesSlide12.xml" Id="R04dbfcb76c31443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05225063a4454c78" /><Relationship Type="http://schemas.openxmlformats.org/officeDocument/2006/relationships/notesSlide" Target="/ppt/notesSlides/notesSlide13.xml" Id="R5e9ba65777f6414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e0518cf468454785" /><Relationship Type="http://schemas.openxmlformats.org/officeDocument/2006/relationships/notesSlide" Target="/ppt/notesSlides/notesSlide14.xml" Id="R3fcf868a457d4bc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5944a4c67ea64c8a" /><Relationship Type="http://schemas.openxmlformats.org/officeDocument/2006/relationships/notesSlide" Target="/ppt/notesSlides/notesSlide15.xml" Id="R9772aeb3cd5041f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c85c3bb5c5e847db" /><Relationship Type="http://schemas.openxmlformats.org/officeDocument/2006/relationships/image" Target="/ppt/media/image7.png" Id="R78fca3ef6cec485d" /><Relationship Type="http://schemas.openxmlformats.org/officeDocument/2006/relationships/notesSlide" Target="/ppt/notesSlides/notesSlide16.xml" Id="R4dc00a990943405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d6623d93434f424f" /><Relationship Type="http://schemas.openxmlformats.org/officeDocument/2006/relationships/notesSlide" Target="/ppt/notesSlides/notesSlide17.xml" Id="R8cb29b6ed89443d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7f45e90c9d8942e0" /><Relationship Type="http://schemas.openxmlformats.org/officeDocument/2006/relationships/image" Target="/ppt/media/image8.png" Id="Rcce80cc32fe4464d" /><Relationship Type="http://schemas.openxmlformats.org/officeDocument/2006/relationships/notesSlide" Target="/ppt/notesSlides/notesSlide18.xml" Id="Rf911f2788d40433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0d260f3bb7d844eb" /><Relationship Type="http://schemas.openxmlformats.org/officeDocument/2006/relationships/notesSlide" Target="/ppt/notesSlides/notesSlide19.xml" Id="R34760a693195471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2ac54a1be4d84bed" /><Relationship Type="http://schemas.openxmlformats.org/officeDocument/2006/relationships/notesSlide" Target="/ppt/notesSlides/notesSlide20.xml" Id="Rd87d02eaebf3455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d88a452eb9e346c6" /><Relationship Type="http://schemas.openxmlformats.org/officeDocument/2006/relationships/notesSlide" Target="/ppt/notesSlides/notesSlide21.xml" Id="R167ccb37bc2e43c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284c546d88204153" /><Relationship Type="http://schemas.openxmlformats.org/officeDocument/2006/relationships/notesSlide" Target="/ppt/notesSlides/notesSlide22.xml" Id="R54f123494a804dd9"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ae7edaf06f914e15" /><Relationship Type="http://schemas.openxmlformats.org/officeDocument/2006/relationships/notesSlide" Target="/ppt/notesSlides/notesSlide23.xml" Id="Rd013a40aa41f426f"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e1c94e45b48f46eb" /><Relationship Type="http://schemas.openxmlformats.org/officeDocument/2006/relationships/notesSlide" Target="/ppt/notesSlides/notesSlide24.xml" Id="Rdc8e75be99cd417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5252c730b6454d30" /><Relationship Type="http://schemas.openxmlformats.org/officeDocument/2006/relationships/notesSlide" Target="/ppt/notesSlides/notesSlide25.xml" Id="R6de80f8d9d3e428a"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EE5C246-937A-4AE3-AEA0-AB0C991F76BE}"/>
              </a:ext>
            </a:extLst>
          </p:cNvPr>
          <p:cNvSpPr>
            <a:spLocks xmlns:a="http://schemas.openxmlformats.org/drawingml/2006/main" noGrp="1"/>
          </p:cNvSpPr>
          <p:nvPr/>
        </p:nvSpPr>
        <p:spPr>
          <a:xfrm xmlns:a="http://schemas.openxmlformats.org/drawingml/2006/main">
            <a:off x="666750" y="161925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4500" b="1">
                <a:solidFill>
                  <a:srgbClr val="151515"/>
                </a:solidFill>
                <a:latin typeface="Arial"/>
                <a:ea typeface="Arial"/>
                <a:cs typeface="Arial"/>
              </a:defRPr>
            </a:defPPr>
          </a:lstStyle>
          <a:p xmlns:a="http://schemas.openxmlformats.org/drawingml/2006/main">
            <a:pPr>
              <a:lnSpc>
                <a:spcPct val="112000"/>
              </a:lnSpc>
              <a:buNone/>
              <a:defRPr sz="4500" b="1">
                <a:solidFill>
                  <a:srgbClr val="151515"/>
                </a:solidFill>
                <a:latin typeface="Arial"/>
                <a:ea typeface="Arial"/>
                <a:cs typeface="Arial"/>
              </a:defRPr>
            </a:pPr>
            <a:r>
              <a:rPr sz="4500" b="1">
                <a:solidFill>
                  <a:srgbClr val="151515"/>
                </a:solidFill>
                <a:latin typeface="Arial"/>
                <a:ea typeface="Arial"/>
                <a:cs typeface="Arial"/>
              </a:rPr>
              <a:t>Sensibilidad del aerogenerador</a:t>
            </a:r>
          </a:p>
        </p:txBody>
      </p:sp>
      <p:sp>
        <p:nvSpPr>
          <p:cNvPr id="2" name="">
            <a:extLst xmlns:a="http://schemas.openxmlformats.org/drawingml/2006/main">
              <a:ext uri="{FF2B5EF4-FFF2-40B4-BE49-F238E27FC236}">
                <a16:creationId xmlns:a16="http://schemas.microsoft.com/office/drawing/2014/main" id="{26CB8408-1EA6-4A9A-B991-870C3E9B50EA}"/>
              </a:ext>
            </a:extLst>
          </p:cNvPr>
          <p:cNvSpPr>
            <a:spLocks xmlns:a="http://schemas.openxmlformats.org/drawingml/2006/main" noGrp="1"/>
          </p:cNvSpPr>
          <p:nvPr/>
        </p:nvSpPr>
        <p:spPr>
          <a:xfrm xmlns:a="http://schemas.openxmlformats.org/drawingml/2006/main">
            <a:off x="704850" y="2743200"/>
            <a:ext cx="10382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0">
                <a:solidFill>
                  <a:srgbClr val="151515"/>
                </a:solidFill>
                <a:latin typeface="Arial"/>
                <a:ea typeface="Arial"/>
                <a:cs typeface="Arial"/>
              </a:defRPr>
            </a:defPPr>
          </a:lstStyle>
          <a:p xmlns:a="http://schemas.openxmlformats.org/drawingml/2006/main">
            <a:pPr>
              <a:lnSpc>
                <a:spcPct val="112000"/>
              </a:lnSpc>
              <a:buNone/>
              <a:defRPr sz="2850" b="0">
                <a:solidFill>
                  <a:srgbClr val="151515"/>
                </a:solidFill>
                <a:latin typeface="Arial"/>
                <a:ea typeface="Arial"/>
                <a:cs typeface="Arial"/>
              </a:defRPr>
            </a:pPr>
            <a:r>
              <a:rPr sz="2850" b="0">
                <a:solidFill>
                  <a:srgbClr val="151515"/>
                </a:solidFill>
                <a:latin typeface="Arial"/>
                <a:ea typeface="Arial"/>
                <a:cs typeface="Arial"/>
              </a:rPr>
              <a:t>Método, resultados y comprobación de efectos combinados</a:t>
            </a:r>
          </a:p>
        </p:txBody>
      </p:sp>
      <p:sp>
        <p:nvSpPr>
          <p:cNvPr id="3" name="">
            <a:extLst xmlns:a="http://schemas.openxmlformats.org/drawingml/2006/main">
              <a:ext uri="{FF2B5EF4-FFF2-40B4-BE49-F238E27FC236}">
                <a16:creationId xmlns:a16="http://schemas.microsoft.com/office/drawing/2014/main" id="{558073AB-FB85-4C1A-8795-C99D58ECF696}"/>
              </a:ext>
            </a:extLst>
          </p:cNvPr>
          <p:cNvSpPr>
            <a:spLocks xmlns:a="http://schemas.openxmlformats.org/drawingml/2006/main" noGrp="1"/>
          </p:cNvSpPr>
          <p:nvPr/>
        </p:nvSpPr>
        <p:spPr>
          <a:xfrm xmlns:a="http://schemas.openxmlformats.org/drawingml/2006/main">
            <a:off x="704850" y="4495800"/>
            <a:ext cx="1009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0">
                <a:solidFill>
                  <a:srgbClr val="151515"/>
                </a:solidFill>
                <a:latin typeface="Arial"/>
                <a:ea typeface="Arial"/>
                <a:cs typeface="Arial"/>
              </a:defRPr>
            </a:defPPr>
          </a:lstStyle>
          <a:p xmlns:a="http://schemas.openxmlformats.org/drawingml/2006/main">
            <a:pPr>
              <a:lnSpc>
                <a:spcPct val="112000"/>
              </a:lnSpc>
              <a:buNone/>
              <a:defRPr sz="2250" b="0">
                <a:solidFill>
                  <a:srgbClr val="151515"/>
                </a:solidFill>
                <a:latin typeface="Arial"/>
                <a:ea typeface="Arial"/>
                <a:cs typeface="Arial"/>
              </a:defRPr>
            </a:pPr>
            <a:r>
              <a:rPr sz="2250" b="0">
                <a:solidFill>
                  <a:srgbClr val="151515"/>
                </a:solidFill>
                <a:latin typeface="Arial"/>
                <a:ea typeface="Arial"/>
                <a:cs typeface="Arial"/>
              </a:rPr>
              <a:t>Nicolás Andrés Useche Castillo</a:t>
            </a:r>
          </a:p>
        </p:txBody>
      </p:sp>
      <p:sp>
        <p:nvSpPr>
          <p:cNvPr id="4" name="">
            <a:extLst xmlns:a="http://schemas.openxmlformats.org/drawingml/2006/main">
              <a:ext uri="{FF2B5EF4-FFF2-40B4-BE49-F238E27FC236}">
                <a16:creationId xmlns:a16="http://schemas.microsoft.com/office/drawing/2014/main" id="{A28F9E32-84A4-4DCB-B932-5B3DD0C37056}"/>
              </a:ext>
            </a:extLst>
          </p:cNvPr>
          <p:cNvSpPr>
            <a:spLocks xmlns:a="http://schemas.openxmlformats.org/drawingml/2006/main" noGrp="1"/>
          </p:cNvSpPr>
          <p:nvPr/>
        </p:nvSpPr>
        <p:spPr>
          <a:xfrm xmlns:a="http://schemas.openxmlformats.org/drawingml/2006/main">
            <a:off x="704850" y="5105400"/>
            <a:ext cx="1038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555555"/>
                </a:solidFill>
                <a:latin typeface="Arial"/>
                <a:ea typeface="Arial"/>
                <a:cs typeface="Arial"/>
              </a:defRPr>
            </a:defPPr>
          </a:lstStyle>
          <a:p xmlns:a="http://schemas.openxmlformats.org/drawingml/2006/main">
            <a:pPr>
              <a:lnSpc>
                <a:spcPct val="112000"/>
              </a:lnSpc>
              <a:buNone/>
              <a:defRPr sz="2100" b="0">
                <a:solidFill>
                  <a:srgbClr val="555555"/>
                </a:solidFill>
                <a:latin typeface="Arial"/>
                <a:ea typeface="Arial"/>
                <a:cs typeface="Arial"/>
              </a:defRPr>
            </a:pPr>
            <a:r>
              <a:rPr sz="2100" b="0">
                <a:solidFill>
                  <a:srgbClr val="555555"/>
                </a:solidFill>
                <a:latin typeface="Arial"/>
                <a:ea typeface="Arial"/>
                <a:cs typeface="Arial"/>
              </a:rPr>
              <a:t>Actualización del 14 de octubre de 2026</a:t>
            </a:r>
          </a:p>
        </p:txBody>
      </p:sp>
    </p:spTree>
    <p:extLst>
      <p:ext uri="{BB962C8B-B14F-4D97-AF65-F5344CB8AC3E}">
        <p14:creationId xmlns:p14="http://schemas.microsoft.com/office/powerpoint/2010/main" val="191643801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FF5A009-3AEF-4E58-BAD9-825D538A805A}"/>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Pregunta y alcance del estudio</a:t>
            </a:r>
          </a:p>
        </p:txBody>
      </p:sp>
      <p:sp>
        <p:nvSpPr>
          <p:cNvPr id="2" name="">
            <a:extLst xmlns:a="http://schemas.openxmlformats.org/drawingml/2006/main">
              <a:ext uri="{FF2B5EF4-FFF2-40B4-BE49-F238E27FC236}">
                <a16:creationId xmlns:a16="http://schemas.microsoft.com/office/drawing/2014/main" id="{4E891370-4237-4400-9CD6-1A99D7103A4B}"/>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02</a:t>
            </a:r>
          </a:p>
        </p:txBody>
      </p:sp>
      <p:pic>
        <p:nvPicPr>
          <p:cNvPr id="3" name="">
            <a:extLst xmlns:a="http://schemas.openxmlformats.org/drawingml/2006/main">
              <a:ext uri="{FF2B5EF4-FFF2-40B4-BE49-F238E27FC236}">
                <a16:creationId xmlns:a16="http://schemas.microsoft.com/office/drawing/2014/main" id="{758C85F6-EB94-4432-AB84-144C9667B69F}"/>
              </a:ext>
            </a:extLst>
          </p:cNvPr>
          <p:cNvPicPr>
            <a:picLocks xmlns:a="http://schemas.openxmlformats.org/drawingml/2006/main" noChangeAspect="1"/>
          </p:cNvPicPr>
          <p:nvPr/>
        </p:nvPicPr>
        <p:blipFill>
          <a:blip xmlns:r="http://schemas.openxmlformats.org/officeDocument/2006/relationships" xmlns:a="http://schemas.openxmlformats.org/drawingml/2006/main" r:embed="Rdfeefb49c57b475c"/>
          <a:stretch xmlns:a="http://schemas.openxmlformats.org/drawingml/2006/main"/>
        </p:blipFill>
        <p:spPr>
          <a:xfrm xmlns:a="http://schemas.openxmlformats.org/drawingml/2006/main">
            <a:off x="1321594" y="1371600"/>
            <a:ext cx="4167188" cy="45243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A512158-21CA-49FE-959B-97CFAE25AD0A}"/>
              </a:ext>
            </a:extLst>
          </p:cNvPr>
          <p:cNvSpPr>
            <a:spLocks xmlns:a="http://schemas.openxmlformats.org/drawingml/2006/main" noGrp="1"/>
          </p:cNvSpPr>
          <p:nvPr/>
        </p:nvSpPr>
        <p:spPr>
          <a:xfrm xmlns:a="http://schemas.openxmlformats.org/drawingml/2006/main">
            <a:off x="6572250" y="1581150"/>
            <a:ext cx="485775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1">
                <a:solidFill>
                  <a:srgbClr val="151515"/>
                </a:solidFill>
                <a:latin typeface="Arial"/>
                <a:ea typeface="Arial"/>
                <a:cs typeface="Arial"/>
              </a:defRPr>
            </a:defPPr>
          </a:lstStyle>
          <a:p xmlns:a="http://schemas.openxmlformats.org/drawingml/2006/main">
            <a:pPr>
              <a:lnSpc>
                <a:spcPct val="112000"/>
              </a:lnSpc>
              <a:buNone/>
              <a:defRPr sz="2550" b="1">
                <a:solidFill>
                  <a:srgbClr val="151515"/>
                </a:solidFill>
                <a:latin typeface="Arial"/>
                <a:ea typeface="Arial"/>
                <a:cs typeface="Arial"/>
              </a:defRPr>
            </a:pPr>
            <a:r>
              <a:rPr sz="2550" b="1">
                <a:solidFill>
                  <a:srgbClr val="151515"/>
                </a:solidFill>
                <a:latin typeface="Arial"/>
                <a:ea typeface="Arial"/>
                <a:cs typeface="Arial"/>
              </a:rPr>
              <a:t>Influencia de masa/inercia, rigidez de palas y velocidad del rotor</a:t>
            </a:r>
          </a:p>
        </p:txBody>
      </p:sp>
      <p:sp>
        <p:nvSpPr>
          <p:cNvPr id="5" name="">
            <a:extLst xmlns:a="http://schemas.openxmlformats.org/drawingml/2006/main">
              <a:ext uri="{FF2B5EF4-FFF2-40B4-BE49-F238E27FC236}">
                <a16:creationId xmlns:a16="http://schemas.microsoft.com/office/drawing/2014/main" id="{A660E742-7189-4F5B-944E-BFDCF8C83C12}"/>
              </a:ext>
            </a:extLst>
          </p:cNvPr>
          <p:cNvSpPr>
            <a:spLocks xmlns:a="http://schemas.openxmlformats.org/drawingml/2006/main" noGrp="1"/>
          </p:cNvSpPr>
          <p:nvPr/>
        </p:nvSpPr>
        <p:spPr>
          <a:xfrm xmlns:a="http://schemas.openxmlformats.org/drawingml/2006/main">
            <a:off x="6572250" y="3143250"/>
            <a:ext cx="48577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0">
                <a:solidFill>
                  <a:srgbClr val="151515"/>
                </a:solidFill>
                <a:latin typeface="Arial"/>
                <a:ea typeface="Arial"/>
                <a:cs typeface="Arial"/>
              </a:defRPr>
            </a:defPPr>
          </a:lstStyle>
          <a:p xmlns:a="http://schemas.openxmlformats.org/drawingml/2006/main">
            <a:pPr>
              <a:lnSpc>
                <a:spcPct val="112000"/>
              </a:lnSpc>
              <a:buNone/>
              <a:defRPr sz="2400" b="0">
                <a:solidFill>
                  <a:srgbClr val="151515"/>
                </a:solidFill>
                <a:latin typeface="Arial"/>
                <a:ea typeface="Arial"/>
                <a:cs typeface="Arial"/>
              </a:defRPr>
            </a:pPr>
            <a:r>
              <a:rPr sz="2400" b="0">
                <a:solidFill>
                  <a:srgbClr val="151515"/>
                </a:solidFill>
                <a:latin typeface="Arial"/>
                <a:ea typeface="Arial"/>
                <a:cs typeface="Arial"/>
              </a:rPr>
              <a:t>Cada escenario recalcula el equilibrio y las propiedades modales</a:t>
            </a:r>
          </a:p>
        </p:txBody>
      </p:sp>
      <p:sp>
        <p:nvSpPr>
          <p:cNvPr id="6" name="">
            <a:extLst xmlns:a="http://schemas.openxmlformats.org/drawingml/2006/main">
              <a:ext uri="{FF2B5EF4-FFF2-40B4-BE49-F238E27FC236}">
                <a16:creationId xmlns:a16="http://schemas.microsoft.com/office/drawing/2014/main" id="{462B4C39-F43A-49F5-8D08-D6DC6F2B4CDA}"/>
              </a:ext>
            </a:extLst>
          </p:cNvPr>
          <p:cNvSpPr>
            <a:spLocks xmlns:a="http://schemas.openxmlformats.org/drawingml/2006/main" noGrp="1"/>
          </p:cNvSpPr>
          <p:nvPr/>
        </p:nvSpPr>
        <p:spPr>
          <a:xfrm xmlns:a="http://schemas.openxmlformats.org/drawingml/2006/main">
            <a:off x="6572250" y="4657725"/>
            <a:ext cx="4857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0">
                <a:solidFill>
                  <a:srgbClr val="151515"/>
                </a:solidFill>
                <a:latin typeface="Arial"/>
                <a:ea typeface="Arial"/>
                <a:cs typeface="Arial"/>
              </a:defRPr>
            </a:defPPr>
          </a:lstStyle>
          <a:p xmlns:a="http://schemas.openxmlformats.org/drawingml/2006/main">
            <a:pPr>
              <a:lnSpc>
                <a:spcPct val="112000"/>
              </a:lnSpc>
              <a:buNone/>
              <a:defRPr sz="2250" b="0">
                <a:solidFill>
                  <a:srgbClr val="151515"/>
                </a:solidFill>
                <a:latin typeface="Arial"/>
                <a:ea typeface="Arial"/>
                <a:cs typeface="Arial"/>
              </a:defRPr>
            </a:pPr>
            <a:r>
              <a:rPr sz="2250" b="0">
                <a:solidFill>
                  <a:srgbClr val="151515"/>
                </a:solidFill>
                <a:latin typeface="Arial"/>
                <a:ea typeface="Arial"/>
                <a:cs typeface="Arial"/>
              </a:rPr>
              <a:t>Giro prescrito, azimut congelado y espectro parcial</a:t>
            </a:r>
          </a:p>
        </p:txBody>
      </p:sp>
    </p:spTree>
    <p:extLst>
      <p:ext uri="{BB962C8B-B14F-4D97-AF65-F5344CB8AC3E}">
        <p14:creationId xmlns:p14="http://schemas.microsoft.com/office/powerpoint/2010/main" val="109151677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F5EACA3-9BD2-4955-B381-7763DED51C7E}"/>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Parámetros y dominio exploratorio</a:t>
            </a:r>
          </a:p>
        </p:txBody>
      </p:sp>
      <p:sp>
        <p:nvSpPr>
          <p:cNvPr id="2" name="">
            <a:extLst xmlns:a="http://schemas.openxmlformats.org/drawingml/2006/main">
              <a:ext uri="{FF2B5EF4-FFF2-40B4-BE49-F238E27FC236}">
                <a16:creationId xmlns:a16="http://schemas.microsoft.com/office/drawing/2014/main" id="{54071998-D213-405D-AAFF-9586B5DE892F}"/>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03</a:t>
            </a:r>
          </a:p>
        </p:txBody>
      </p:sp>
      <p:graphicFrame>
        <p:nvGraphicFramePr>
          <p:cNvPr id="3" name="">
            <a:extLst xmlns:a="http://schemas.openxmlformats.org/drawingml/2006/main">
              <a:ext uri="{FF2B5EF4-FFF2-40B4-BE49-F238E27FC236}">
                <a16:creationId xmlns:a16="http://schemas.microsoft.com/office/drawing/2014/main" id="{C07FCFE8-46F2-4000-AF3A-0176C6AACD83}"/>
              </a:ext>
            </a:extLst>
          </p:cNvPr>
          <p:cNvGraphicFramePr/>
          <p:nvPr/>
        </p:nvGraphicFramePr>
        <p:xfrm>
          <a:off xmlns:a="http://schemas.openxmlformats.org/drawingml/2006/main" x="609600" y="1504950"/>
          <a:ext xmlns:a="http://schemas.openxmlformats.org/drawingml/2006/main" cx="10972800" cy="3143250"/>
        </p:xfrm>
        <a:graphic xmlns:a="http://schemas.openxmlformats.org/drawingml/2006/main">
          <a:graphicData uri="http://schemas.openxmlformats.org/drawingml/2006/table">
            <a:tbl>
              <a:tblPr/>
              <a:tblGrid>
                <a:gridCol w="2324100"/>
                <a:gridCol w="5981700"/>
                <a:gridCol w="2667000"/>
              </a:tblGrid>
              <a:tr h="785813">
                <a:tc>
                  <a:txBody>
                    <a:bodyPr>
                      <a:noAutofit/>
                    </a:bodyPr>
                    <a:lstStyle/>
                    <a:p>
                      <a:r>
                        <a:rPr sz="2175" b="1">
                          <a:solidFill>
                            <a:srgbClr val="151515"/>
                          </a:solidFill>
                          <a:latin typeface="Arial"/>
                          <a:ea typeface="Arial"/>
                          <a:cs typeface="Arial"/>
                        </a:rPr>
                        <a:t>Factor</a:t>
                      </a:r>
                    </a:p>
                  </a:txBody>
                  <a:tcPr marL="91440" marR="91440" marT="45720" marB="45720" anchor="ctr">
                    <a:solidFill>
                      <a:srgbClr val="EEEEEE"/>
                    </a:solidFill>
                  </a:tcPr>
                </a:tc>
                <a:tc>
                  <a:txBody>
                    <a:bodyPr>
                      <a:noAutofit/>
                    </a:bodyPr>
                    <a:lstStyle/>
                    <a:p>
                      <a:r>
                        <a:rPr sz="2175" b="1">
                          <a:solidFill>
                            <a:srgbClr val="151515"/>
                          </a:solidFill>
                          <a:latin typeface="Arial"/>
                          <a:ea typeface="Arial"/>
                          <a:cs typeface="Arial"/>
                        </a:rPr>
                        <a:t>Propiedades que cambian</a:t>
                      </a:r>
                    </a:p>
                  </a:txBody>
                  <a:tcPr marL="91440" marR="91440" marT="45720" marB="45720" anchor="ctr">
                    <a:solidFill>
                      <a:srgbClr val="EEEEEE"/>
                    </a:solidFill>
                  </a:tcPr>
                </a:tc>
                <a:tc>
                  <a:txBody>
                    <a:bodyPr>
                      <a:noAutofit/>
                    </a:bodyPr>
                    <a:lstStyle/>
                    <a:p>
                      <a:r>
                        <a:rPr sz="2175" b="1">
                          <a:solidFill>
                            <a:srgbClr val="151515"/>
                          </a:solidFill>
                          <a:latin typeface="Arial"/>
                          <a:ea typeface="Arial"/>
                          <a:cs typeface="Arial"/>
                        </a:rPr>
                        <a:t>Intervalo</a:t>
                      </a:r>
                    </a:p>
                  </a:txBody>
                  <a:tcPr marL="91440" marR="91440" marT="45720" marB="45720" anchor="ctr">
                    <a:solidFill>
                      <a:srgbClr val="EEEEEE"/>
                    </a:solidFill>
                  </a:tcPr>
                </a:tc>
              </a:tr>
              <a:tr h="785813">
                <a:tc>
                  <a:txBody>
                    <a:bodyPr>
                      <a:noAutofit/>
                    </a:bodyPr>
                    <a:lstStyle/>
                    <a:p>
                      <a:r>
                        <a:rPr sz="2175" b="0">
                          <a:solidFill>
                            <a:srgbClr val="151515"/>
                          </a:solidFill>
                          <a:latin typeface="Arial"/>
                          <a:ea typeface="Arial"/>
                          <a:cs typeface="Arial"/>
                        </a:rPr>
                        <a:t>Masa/inercia</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Masa e inercias de las tres palas</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0.90–1.10</a:t>
                      </a:r>
                    </a:p>
                  </a:txBody>
                  <a:tcPr marL="91440" marR="91440" marT="45720" marB="45720" anchor="ctr">
                    <a:solidFill>
                      <a:srgbClr val="FFFFFF"/>
                    </a:solidFill>
                  </a:tcPr>
                </a:tc>
              </a:tr>
              <a:tr h="785813">
                <a:tc>
                  <a:txBody>
                    <a:bodyPr>
                      <a:noAutofit/>
                    </a:bodyPr>
                    <a:lstStyle/>
                    <a:p>
                      <a:r>
                        <a:rPr sz="2175" b="0">
                          <a:solidFill>
                            <a:srgbClr val="151515"/>
                          </a:solidFill>
                          <a:latin typeface="Arial"/>
                          <a:ea typeface="Arial"/>
                          <a:cs typeface="Arial"/>
                        </a:rPr>
                        <a:t>Rigidez</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Seis rigideces seccionales de palas</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0.90–1.10</a:t>
                      </a:r>
                    </a:p>
                  </a:txBody>
                  <a:tcPr marL="91440" marR="91440" marT="45720" marB="45720" anchor="ctr">
                    <a:solidFill>
                      <a:srgbClr val="FFFFFF"/>
                    </a:solidFill>
                  </a:tcPr>
                </a:tc>
              </a:tr>
              <a:tr h="785813">
                <a:tc>
                  <a:txBody>
                    <a:bodyPr>
                      <a:noAutofit/>
                    </a:bodyPr>
                    <a:lstStyle/>
                    <a:p>
                      <a:r>
                        <a:rPr sz="2175" b="0">
                          <a:solidFill>
                            <a:srgbClr val="151515"/>
                          </a:solidFill>
                          <a:latin typeface="Arial"/>
                          <a:ea typeface="Arial"/>
                          <a:cs typeface="Arial"/>
                        </a:rPr>
                        <a:t>Velocidad</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Velocidad angular prescrita</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10.8–13.2 rpm</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2CC56AEE-FE80-46B5-95F4-F845418113DD}"/>
              </a:ext>
            </a:extLst>
          </p:cNvPr>
          <p:cNvSpPr>
            <a:spLocks xmlns:a="http://schemas.openxmlformats.org/drawingml/2006/main" noGrp="1"/>
          </p:cNvSpPr>
          <p:nvPr/>
        </p:nvSpPr>
        <p:spPr>
          <a:xfrm xmlns:a="http://schemas.openxmlformats.org/drawingml/2006/main">
            <a:off x="685800" y="5095875"/>
            <a:ext cx="10572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1515"/>
                </a:solidFill>
                <a:latin typeface="Arial"/>
                <a:ea typeface="Arial"/>
                <a:cs typeface="Arial"/>
              </a:defRPr>
            </a:defPPr>
          </a:lstStyle>
          <a:p xmlns:a="http://schemas.openxmlformats.org/drawingml/2006/main">
            <a:pPr>
              <a:lnSpc>
                <a:spcPct val="112000"/>
              </a:lnSpc>
              <a:buNone/>
              <a:defRPr sz="2100" b="0">
                <a:solidFill>
                  <a:srgbClr val="151515"/>
                </a:solidFill>
                <a:latin typeface="Arial"/>
                <a:ea typeface="Arial"/>
                <a:cs typeface="Arial"/>
              </a:defRPr>
            </a:pPr>
            <a:r>
              <a:rPr sz="2100" b="0">
                <a:solidFill>
                  <a:srgbClr val="151515"/>
                </a:solidFill>
                <a:latin typeface="Arial"/>
                <a:ea typeface="Arial"/>
                <a:cs typeface="Arial"/>
              </a:rPr>
              <a:t>Nominal de los factores: 1.00</a:t>
            </a:r>
          </a:p>
        </p:txBody>
      </p:sp>
      <p:sp>
        <p:nvSpPr>
          <p:cNvPr id="5" name="">
            <a:extLst xmlns:a="http://schemas.openxmlformats.org/drawingml/2006/main">
              <a:ext uri="{FF2B5EF4-FFF2-40B4-BE49-F238E27FC236}">
                <a16:creationId xmlns:a16="http://schemas.microsoft.com/office/drawing/2014/main" id="{B7F8CB49-6B09-404C-BE77-8A388F3FF56A}"/>
              </a:ext>
            </a:extLst>
          </p:cNvPr>
          <p:cNvSpPr>
            <a:spLocks xmlns:a="http://schemas.openxmlformats.org/drawingml/2006/main" noGrp="1"/>
          </p:cNvSpPr>
          <p:nvPr/>
        </p:nvSpPr>
        <p:spPr>
          <a:xfrm xmlns:a="http://schemas.openxmlformats.org/drawingml/2006/main">
            <a:off x="685800" y="5638800"/>
            <a:ext cx="10572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1515"/>
                </a:solidFill>
                <a:latin typeface="Arial"/>
                <a:ea typeface="Arial"/>
                <a:cs typeface="Arial"/>
              </a:defRPr>
            </a:defPPr>
          </a:lstStyle>
          <a:p xmlns:a="http://schemas.openxmlformats.org/drawingml/2006/main">
            <a:pPr>
              <a:lnSpc>
                <a:spcPct val="112000"/>
              </a:lnSpc>
              <a:buNone/>
              <a:defRPr sz="2100" b="0">
                <a:solidFill>
                  <a:srgbClr val="151515"/>
                </a:solidFill>
                <a:latin typeface="Arial"/>
                <a:ea typeface="Arial"/>
                <a:cs typeface="Arial"/>
              </a:defRPr>
            </a:pPr>
            <a:r>
              <a:rPr sz="2100" b="0">
                <a:solidFill>
                  <a:srgbClr val="151515"/>
                </a:solidFill>
                <a:latin typeface="Arial"/>
                <a:ea typeface="Arial"/>
                <a:cs typeface="Arial"/>
              </a:rPr>
              <a:t>Geometría y restantes parámetros físicos: valores existentes</a:t>
            </a:r>
          </a:p>
        </p:txBody>
      </p:sp>
    </p:spTree>
    <p:extLst>
      <p:ext uri="{BB962C8B-B14F-4D97-AF65-F5344CB8AC3E}">
        <p14:creationId xmlns:p14="http://schemas.microsoft.com/office/powerpoint/2010/main" val="37391239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E12B54D-DFF9-4351-BE98-F5861D8C4765}"/>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Respuestas modales</a:t>
            </a:r>
          </a:p>
        </p:txBody>
      </p:sp>
      <p:sp>
        <p:nvSpPr>
          <p:cNvPr id="2" name="">
            <a:extLst xmlns:a="http://schemas.openxmlformats.org/drawingml/2006/main">
              <a:ext uri="{FF2B5EF4-FFF2-40B4-BE49-F238E27FC236}">
                <a16:creationId xmlns:a16="http://schemas.microsoft.com/office/drawing/2014/main" id="{5713F874-7926-44EF-912B-02C1F6D8BB43}"/>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04</a:t>
            </a:r>
          </a:p>
        </p:txBody>
      </p:sp>
      <p:graphicFrame>
        <p:nvGraphicFramePr>
          <p:cNvPr id="3" name="">
            <a:extLst xmlns:a="http://schemas.openxmlformats.org/drawingml/2006/main">
              <a:ext uri="{FF2B5EF4-FFF2-40B4-BE49-F238E27FC236}">
                <a16:creationId xmlns:a16="http://schemas.microsoft.com/office/drawing/2014/main" id="{DF10BB28-FA2A-47FB-ADD8-597693A3258B}"/>
              </a:ext>
            </a:extLst>
          </p:cNvPr>
          <p:cNvGraphicFramePr/>
          <p:nvPr/>
        </p:nvGraphicFramePr>
        <p:xfrm>
          <a:off xmlns:a="http://schemas.openxmlformats.org/drawingml/2006/main" x="609600" y="1504950"/>
          <a:ext xmlns:a="http://schemas.openxmlformats.org/drawingml/2006/main" cx="10972800" cy="3314700"/>
        </p:xfrm>
        <a:graphic xmlns:a="http://schemas.openxmlformats.org/drawingml/2006/main">
          <a:graphicData uri="http://schemas.openxmlformats.org/drawingml/2006/table">
            <a:tbl>
              <a:tblPr/>
              <a:tblGrid>
                <a:gridCol w="2524125"/>
                <a:gridCol w="4067175"/>
                <a:gridCol w="4381500"/>
              </a:tblGrid>
              <a:tr h="828675">
                <a:tc>
                  <a:txBody>
                    <a:bodyPr>
                      <a:noAutofit/>
                    </a:bodyPr>
                    <a:lstStyle/>
                    <a:p>
                      <a:r>
                        <a:rPr sz="2175" b="1">
                          <a:solidFill>
                            <a:srgbClr val="151515"/>
                          </a:solidFill>
                          <a:latin typeface="Arial"/>
                          <a:ea typeface="Arial"/>
                          <a:cs typeface="Arial"/>
                        </a:rPr>
                        <a:t>Respuesta</a:t>
                      </a:r>
                    </a:p>
                  </a:txBody>
                  <a:tcPr marL="91440" marR="91440" marT="45720" marB="45720" anchor="ctr">
                    <a:solidFill>
                      <a:srgbClr val="EEEEEE"/>
                    </a:solidFill>
                  </a:tcPr>
                </a:tc>
                <a:tc>
                  <a:txBody>
                    <a:bodyPr>
                      <a:noAutofit/>
                    </a:bodyPr>
                    <a:lstStyle/>
                    <a:p>
                      <a:r>
                        <a:rPr sz="2175" b="1">
                          <a:solidFill>
                            <a:srgbClr val="151515"/>
                          </a:solidFill>
                          <a:latin typeface="Arial"/>
                          <a:ea typeface="Arial"/>
                          <a:cs typeface="Arial"/>
                        </a:rPr>
                        <a:t>Definición</a:t>
                      </a:r>
                    </a:p>
                  </a:txBody>
                  <a:tcPr marL="91440" marR="91440" marT="45720" marB="45720" anchor="ctr">
                    <a:solidFill>
                      <a:srgbClr val="EEEEEE"/>
                    </a:solidFill>
                  </a:tcPr>
                </a:tc>
                <a:tc>
                  <a:txBody>
                    <a:bodyPr>
                      <a:noAutofit/>
                    </a:bodyPr>
                    <a:lstStyle/>
                    <a:p>
                      <a:r>
                        <a:rPr sz="2175" b="1">
                          <a:solidFill>
                            <a:srgbClr val="151515"/>
                          </a:solidFill>
                          <a:latin typeface="Arial"/>
                          <a:ea typeface="Arial"/>
                          <a:cs typeface="Arial"/>
                        </a:rPr>
                        <a:t>Interpretación</a:t>
                      </a:r>
                    </a:p>
                  </a:txBody>
                  <a:tcPr marL="91440" marR="91440" marT="45720" marB="45720" anchor="ctr">
                    <a:solidFill>
                      <a:srgbClr val="EEEEEE"/>
                    </a:solidFill>
                  </a:tcPr>
                </a:tc>
              </a:tr>
              <a:tr h="828675">
                <a:tc>
                  <a:txBody>
                    <a:bodyPr>
                      <a:noAutofit/>
                    </a:bodyPr>
                    <a:lstStyle/>
                    <a:p>
                      <a:r>
                        <a:rPr sz="2175" b="0">
                          <a:solidFill>
                            <a:srgbClr val="151515"/>
                          </a:solidFill>
                          <a:latin typeface="Arial"/>
                          <a:ea typeface="Arial"/>
                          <a:cs typeface="Arial"/>
                        </a:rPr>
                        <a:t>Frecuencia</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f = |Im λ| / (2π) [Hz]</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Oscilaciones por segundo</a:t>
                      </a:r>
                    </a:p>
                  </a:txBody>
                  <a:tcPr marL="91440" marR="91440" marT="45720" marB="45720" anchor="ctr">
                    <a:solidFill>
                      <a:srgbClr val="FFFFFF"/>
                    </a:solidFill>
                  </a:tcPr>
                </a:tc>
              </a:tr>
              <a:tr h="828675">
                <a:tc>
                  <a:txBody>
                    <a:bodyPr>
                      <a:noAutofit/>
                    </a:bodyPr>
                    <a:lstStyle/>
                    <a:p>
                      <a:r>
                        <a:rPr sz="2175" b="0">
                          <a:solidFill>
                            <a:srgbClr val="151515"/>
                          </a:solidFill>
                          <a:latin typeface="Arial"/>
                          <a:ea typeface="Arial"/>
                          <a:cs typeface="Arial"/>
                        </a:rPr>
                        <a:t>Crecimiento</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γ = Re λ [s⁻¹]</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Evolución de la amplitud</a:t>
                      </a:r>
                    </a:p>
                  </a:txBody>
                  <a:tcPr marL="91440" marR="91440" marT="45720" marB="45720" anchor="ctr">
                    <a:solidFill>
                      <a:srgbClr val="FFFFFF"/>
                    </a:solidFill>
                  </a:tcPr>
                </a:tc>
              </a:tr>
              <a:tr h="828675">
                <a:tc>
                  <a:txBody>
                    <a:bodyPr>
                      <a:noAutofit/>
                    </a:bodyPr>
                    <a:lstStyle/>
                    <a:p>
                      <a:r>
                        <a:rPr sz="2175" b="0">
                          <a:solidFill>
                            <a:srgbClr val="151515"/>
                          </a:solidFill>
                          <a:latin typeface="Arial"/>
                          <a:ea typeface="Arial"/>
                          <a:cs typeface="Arial"/>
                        </a:rPr>
                        <a:t>Amortiguamiento</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ζ = −Re λ / |λ|</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Decaimiento relativo</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E99F2FB5-349A-42F1-9D93-25E0D530E124}"/>
              </a:ext>
            </a:extLst>
          </p:cNvPr>
          <p:cNvSpPr>
            <a:spLocks xmlns:a="http://schemas.openxmlformats.org/drawingml/2006/main" noGrp="1"/>
          </p:cNvSpPr>
          <p:nvPr/>
        </p:nvSpPr>
        <p:spPr>
          <a:xfrm xmlns:a="http://schemas.openxmlformats.org/drawingml/2006/main">
            <a:off x="685800" y="525780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151515"/>
                </a:solidFill>
                <a:latin typeface="Arial"/>
                <a:ea typeface="Arial"/>
                <a:cs typeface="Arial"/>
              </a:defRPr>
            </a:defPPr>
          </a:lstStyle>
          <a:p xmlns:a="http://schemas.openxmlformats.org/drawingml/2006/main">
            <a:pPr>
              <a:lnSpc>
                <a:spcPct val="112000"/>
              </a:lnSpc>
              <a:buNone/>
              <a:defRPr sz="2400" b="1">
                <a:solidFill>
                  <a:srgbClr val="151515"/>
                </a:solidFill>
                <a:latin typeface="Arial"/>
                <a:ea typeface="Arial"/>
                <a:cs typeface="Arial"/>
              </a:defRPr>
            </a:pPr>
            <a:r>
              <a:rPr sz="2400" b="1">
                <a:solidFill>
                  <a:srgbClr val="151515"/>
                </a:solidFill>
                <a:latin typeface="Arial"/>
                <a:ea typeface="Arial"/>
                <a:cs typeface="Arial"/>
              </a:rPr>
              <a:t>La forma modal describe el patrón de movimiento acoplado</a:t>
            </a:r>
          </a:p>
        </p:txBody>
      </p:sp>
    </p:spTree>
    <p:extLst>
      <p:ext uri="{BB962C8B-B14F-4D97-AF65-F5344CB8AC3E}">
        <p14:creationId xmlns:p14="http://schemas.microsoft.com/office/powerpoint/2010/main" val="116381366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D702813-B42C-42BD-AC67-33FFC90DFFB2}"/>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Grupos seguidos por sus formas</a:t>
            </a:r>
          </a:p>
        </p:txBody>
      </p:sp>
      <p:sp>
        <p:nvSpPr>
          <p:cNvPr id="2" name="">
            <a:extLst xmlns:a="http://schemas.openxmlformats.org/drawingml/2006/main">
              <a:ext uri="{FF2B5EF4-FFF2-40B4-BE49-F238E27FC236}">
                <a16:creationId xmlns:a16="http://schemas.microsoft.com/office/drawing/2014/main" id="{814BB7C5-BA43-4CEC-849E-A714F31C7DA9}"/>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05</a:t>
            </a:r>
          </a:p>
        </p:txBody>
      </p:sp>
      <p:graphicFrame>
        <p:nvGraphicFramePr>
          <p:cNvPr id="3" name="">
            <a:extLst xmlns:a="http://schemas.openxmlformats.org/drawingml/2006/main">
              <a:ext uri="{FF2B5EF4-FFF2-40B4-BE49-F238E27FC236}">
                <a16:creationId xmlns:a16="http://schemas.microsoft.com/office/drawing/2014/main" id="{33D03087-DA24-4928-9112-CE9415587B7C}"/>
              </a:ext>
            </a:extLst>
          </p:cNvPr>
          <p:cNvGraphicFramePr/>
          <p:nvPr/>
        </p:nvGraphicFramePr>
        <p:xfrm>
          <a:off xmlns:a="http://schemas.openxmlformats.org/drawingml/2006/main" x="609600" y="1362075"/>
          <a:ext xmlns:a="http://schemas.openxmlformats.org/drawingml/2006/main" cx="10972800" cy="4048125"/>
        </p:xfrm>
        <a:graphic xmlns:a="http://schemas.openxmlformats.org/drawingml/2006/main">
          <a:graphicData uri="http://schemas.openxmlformats.org/drawingml/2006/table">
            <a:tbl>
              <a:tblPr/>
              <a:tblGrid>
                <a:gridCol w="1285875"/>
                <a:gridCol w="2190750"/>
                <a:gridCol w="4219575"/>
                <a:gridCol w="3276600"/>
              </a:tblGrid>
              <a:tr h="506016">
                <a:tc>
                  <a:txBody>
                    <a:bodyPr>
                      <a:noAutofit/>
                    </a:bodyPr>
                    <a:lstStyle/>
                    <a:p>
                      <a:r>
                        <a:rPr sz="1950" b="1">
                          <a:solidFill>
                            <a:srgbClr val="151515"/>
                          </a:solidFill>
                          <a:latin typeface="Arial"/>
                          <a:ea typeface="Arial"/>
                          <a:cs typeface="Arial"/>
                        </a:rPr>
                        <a:t>Grupo</a:t>
                      </a:r>
                    </a:p>
                  </a:txBody>
                  <a:tcPr marL="91440" marR="91440" marT="45720" marB="45720" anchor="ctr">
                    <a:solidFill>
                      <a:srgbClr val="EEEEEE"/>
                    </a:solidFill>
                  </a:tcPr>
                </a:tc>
                <a:tc>
                  <a:txBody>
                    <a:bodyPr>
                      <a:noAutofit/>
                    </a:bodyPr>
                    <a:lstStyle/>
                    <a:p>
                      <a:r>
                        <a:rPr sz="1950" b="1">
                          <a:solidFill>
                            <a:srgbClr val="151515"/>
                          </a:solidFill>
                          <a:latin typeface="Arial"/>
                          <a:ea typeface="Arial"/>
                          <a:cs typeface="Arial"/>
                        </a:rPr>
                        <a:t>f nominal [Hz]</a:t>
                      </a:r>
                    </a:p>
                  </a:txBody>
                  <a:tcPr marL="91440" marR="91440" marT="45720" marB="45720" anchor="ctr">
                    <a:solidFill>
                      <a:srgbClr val="EEEEEE"/>
                    </a:solidFill>
                  </a:tcPr>
                </a:tc>
                <a:tc>
                  <a:txBody>
                    <a:bodyPr>
                      <a:noAutofit/>
                    </a:bodyPr>
                    <a:lstStyle/>
                    <a:p>
                      <a:r>
                        <a:rPr sz="1950" b="1">
                          <a:solidFill>
                            <a:srgbClr val="151515"/>
                          </a:solidFill>
                          <a:latin typeface="Arial"/>
                          <a:ea typeface="Arial"/>
                          <a:cs typeface="Arial"/>
                        </a:rPr>
                        <a:t>Mayor influencia Morris</a:t>
                      </a:r>
                    </a:p>
                  </a:txBody>
                  <a:tcPr marL="91440" marR="91440" marT="45720" marB="45720" anchor="ctr">
                    <a:solidFill>
                      <a:srgbClr val="EEEEEE"/>
                    </a:solidFill>
                  </a:tcPr>
                </a:tc>
                <a:tc>
                  <a:txBody>
                    <a:bodyPr>
                      <a:noAutofit/>
                    </a:bodyPr>
                    <a:lstStyle/>
                    <a:p>
                      <a:r>
                        <a:rPr sz="1950" b="1">
                          <a:solidFill>
                            <a:srgbClr val="151515"/>
                          </a:solidFill>
                          <a:latin typeface="Arial"/>
                          <a:ea typeface="Arial"/>
                          <a:cs typeface="Arial"/>
                        </a:rPr>
                        <a:t>Estado</a:t>
                      </a:r>
                    </a:p>
                  </a:txBody>
                  <a:tcPr marL="91440" marR="91440" marT="45720" marB="45720" anchor="ctr">
                    <a:solidFill>
                      <a:srgbClr val="EEEEEE"/>
                    </a:solidFill>
                  </a:tcPr>
                </a:tc>
              </a:tr>
              <a:tr h="506016">
                <a:tc>
                  <a:txBody>
                    <a:bodyPr>
                      <a:noAutofit/>
                    </a:bodyPr>
                    <a:lstStyle/>
                    <a:p>
                      <a:r>
                        <a:rPr sz="1950" b="0">
                          <a:solidFill>
                            <a:srgbClr val="151515"/>
                          </a:solidFill>
                          <a:latin typeface="Arial"/>
                          <a:ea typeface="Arial"/>
                          <a:cs typeface="Arial"/>
                        </a:rPr>
                        <a:t>1+2</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0.158</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Ninguna aceptada</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Ruido</a:t>
                      </a:r>
                    </a:p>
                  </a:txBody>
                  <a:tcPr marL="91440" marR="91440" marT="45720" marB="45720" anchor="ctr">
                    <a:solidFill>
                      <a:srgbClr val="FFFFFF"/>
                    </a:solidFill>
                  </a:tcPr>
                </a:tc>
              </a:tr>
              <a:tr h="506016">
                <a:tc>
                  <a:txBody>
                    <a:bodyPr>
                      <a:noAutofit/>
                    </a:bodyPr>
                    <a:lstStyle/>
                    <a:p>
                      <a:r>
                        <a:rPr sz="1950" b="0">
                          <a:solidFill>
                            <a:srgbClr val="151515"/>
                          </a:solidFill>
                          <a:latin typeface="Arial"/>
                          <a:ea typeface="Arial"/>
                          <a:cs typeface="Arial"/>
                        </a:rPr>
                        <a:t>3</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0.231</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Masa/inercia</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Aceptado</a:t>
                      </a:r>
                    </a:p>
                  </a:txBody>
                  <a:tcPr marL="91440" marR="91440" marT="45720" marB="45720" anchor="ctr">
                    <a:solidFill>
                      <a:srgbClr val="FFFFFF"/>
                    </a:solidFill>
                  </a:tcPr>
                </a:tc>
              </a:tr>
              <a:tr h="506016">
                <a:tc>
                  <a:txBody>
                    <a:bodyPr>
                      <a:noAutofit/>
                    </a:bodyPr>
                    <a:lstStyle/>
                    <a:p>
                      <a:r>
                        <a:rPr sz="1950" b="0">
                          <a:solidFill>
                            <a:srgbClr val="151515"/>
                          </a:solidFill>
                          <a:latin typeface="Arial"/>
                          <a:ea typeface="Arial"/>
                          <a:cs typeface="Arial"/>
                        </a:rPr>
                        <a:t>4+5</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0.409</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Masa/inercia</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Giro no resuelto</a:t>
                      </a:r>
                    </a:p>
                  </a:txBody>
                  <a:tcPr marL="91440" marR="91440" marT="45720" marB="45720" anchor="ctr">
                    <a:solidFill>
                      <a:srgbClr val="FFFFFF"/>
                    </a:solidFill>
                  </a:tcPr>
                </a:tc>
              </a:tr>
              <a:tr h="506016">
                <a:tc>
                  <a:txBody>
                    <a:bodyPr>
                      <a:noAutofit/>
                    </a:bodyPr>
                    <a:lstStyle/>
                    <a:p>
                      <a:r>
                        <a:rPr sz="1950" b="0">
                          <a:solidFill>
                            <a:srgbClr val="151515"/>
                          </a:solidFill>
                          <a:latin typeface="Arial"/>
                          <a:ea typeface="Arial"/>
                          <a:cs typeface="Arial"/>
                        </a:rPr>
                        <a:t>6+7</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0.587</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Velocidad</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Aceptado</a:t>
                      </a:r>
                    </a:p>
                  </a:txBody>
                  <a:tcPr marL="91440" marR="91440" marT="45720" marB="45720" anchor="ctr">
                    <a:solidFill>
                      <a:srgbClr val="FFFFFF"/>
                    </a:solidFill>
                  </a:tcPr>
                </a:tc>
              </a:tr>
              <a:tr h="506016">
                <a:tc>
                  <a:txBody>
                    <a:bodyPr>
                      <a:noAutofit/>
                    </a:bodyPr>
                    <a:lstStyle/>
                    <a:p>
                      <a:r>
                        <a:rPr sz="1950" b="0">
                          <a:solidFill>
                            <a:srgbClr val="151515"/>
                          </a:solidFill>
                          <a:latin typeface="Arial"/>
                          <a:ea typeface="Arial"/>
                          <a:cs typeface="Arial"/>
                        </a:rPr>
                        <a:t>8+9</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0.844</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Masa/inercia</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Aceptado</a:t>
                      </a:r>
                    </a:p>
                  </a:txBody>
                  <a:tcPr marL="91440" marR="91440" marT="45720" marB="45720" anchor="ctr">
                    <a:solidFill>
                      <a:srgbClr val="FFFFFF"/>
                    </a:solidFill>
                  </a:tcPr>
                </a:tc>
              </a:tr>
              <a:tr h="506016">
                <a:tc>
                  <a:txBody>
                    <a:bodyPr>
                      <a:noAutofit/>
                    </a:bodyPr>
                    <a:lstStyle/>
                    <a:p>
                      <a:r>
                        <a:rPr sz="1950" b="0">
                          <a:solidFill>
                            <a:srgbClr val="151515"/>
                          </a:solidFill>
                          <a:latin typeface="Arial"/>
                          <a:ea typeface="Arial"/>
                          <a:cs typeface="Arial"/>
                        </a:rPr>
                        <a:t>10+11</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1.225</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Masa/inercia</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Aceptado</a:t>
                      </a:r>
                    </a:p>
                  </a:txBody>
                  <a:tcPr marL="91440" marR="91440" marT="45720" marB="45720" anchor="ctr">
                    <a:solidFill>
                      <a:srgbClr val="FFFFFF"/>
                    </a:solidFill>
                  </a:tcPr>
                </a:tc>
              </a:tr>
              <a:tr h="506016">
                <a:tc>
                  <a:txBody>
                    <a:bodyPr>
                      <a:noAutofit/>
                    </a:bodyPr>
                    <a:lstStyle/>
                    <a:p>
                      <a:r>
                        <a:rPr sz="1950" b="0">
                          <a:solidFill>
                            <a:srgbClr val="151515"/>
                          </a:solidFill>
                          <a:latin typeface="Arial"/>
                          <a:ea typeface="Arial"/>
                          <a:cs typeface="Arial"/>
                        </a:rPr>
                        <a:t>12</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1.595</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Sin estimadores</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Frontera espectral</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96393967-7C31-4375-9D29-B1879E2AA4EA}"/>
              </a:ext>
            </a:extLst>
          </p:cNvPr>
          <p:cNvSpPr>
            <a:spLocks xmlns:a="http://schemas.openxmlformats.org/drawingml/2006/main" noGrp="1"/>
          </p:cNvSpPr>
          <p:nvPr/>
        </p:nvSpPr>
        <p:spPr>
          <a:xfrm xmlns:a="http://schemas.openxmlformats.org/drawingml/2006/main">
            <a:off x="647700" y="563880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444444"/>
                </a:solidFill>
                <a:latin typeface="Arial"/>
                <a:ea typeface="Arial"/>
                <a:cs typeface="Arial"/>
              </a:defRPr>
            </a:defPPr>
          </a:lstStyle>
          <a:p xmlns:a="http://schemas.openxmlformats.org/drawingml/2006/main">
            <a:pPr>
              <a:lnSpc>
                <a:spcPct val="112000"/>
              </a:lnSpc>
              <a:buNone/>
              <a:defRPr sz="1800" b="0">
                <a:solidFill>
                  <a:srgbClr val="444444"/>
                </a:solidFill>
                <a:latin typeface="Arial"/>
                <a:ea typeface="Arial"/>
                <a:cs typeface="Arial"/>
              </a:defRPr>
            </a:pPr>
            <a:r>
              <a:rPr sz="1800" b="0">
                <a:solidFill>
                  <a:srgbClr val="444444"/>
                </a:solidFill>
                <a:latin typeface="Arial"/>
                <a:ea typeface="Arial"/>
                <a:cs typeface="Arial"/>
              </a:rPr>
              <a:t>10+11 reúne dos ramas. La respuesta del grupo es su frecuencia media</a:t>
            </a:r>
          </a:p>
        </p:txBody>
      </p:sp>
    </p:spTree>
    <p:extLst>
      <p:ext uri="{BB962C8B-B14F-4D97-AF65-F5344CB8AC3E}">
        <p14:creationId xmlns:p14="http://schemas.microsoft.com/office/powerpoint/2010/main" val="53572392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A3294A9-D1FF-4A76-A173-A1B89EF665E5}"/>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Etapas del análisis</a:t>
            </a:r>
          </a:p>
        </p:txBody>
      </p:sp>
      <p:sp>
        <p:nvSpPr>
          <p:cNvPr id="2" name="">
            <a:extLst xmlns:a="http://schemas.openxmlformats.org/drawingml/2006/main">
              <a:ext uri="{FF2B5EF4-FFF2-40B4-BE49-F238E27FC236}">
                <a16:creationId xmlns:a16="http://schemas.microsoft.com/office/drawing/2014/main" id="{16206641-2048-431B-B878-4920EAFEE1A1}"/>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06</a:t>
            </a:r>
          </a:p>
        </p:txBody>
      </p:sp>
      <p:graphicFrame>
        <p:nvGraphicFramePr>
          <p:cNvPr id="3" name="">
            <a:extLst xmlns:a="http://schemas.openxmlformats.org/drawingml/2006/main">
              <a:ext uri="{FF2B5EF4-FFF2-40B4-BE49-F238E27FC236}">
                <a16:creationId xmlns:a16="http://schemas.microsoft.com/office/drawing/2014/main" id="{9AA7C57D-C954-4469-960E-E52CA536F399}"/>
              </a:ext>
            </a:extLst>
          </p:cNvPr>
          <p:cNvGraphicFramePr/>
          <p:nvPr/>
        </p:nvGraphicFramePr>
        <p:xfrm>
          <a:off xmlns:a="http://schemas.openxmlformats.org/drawingml/2006/main" x="609600" y="1504950"/>
          <a:ext xmlns:a="http://schemas.openxmlformats.org/drawingml/2006/main" cx="10972800" cy="3495675"/>
        </p:xfrm>
        <a:graphic xmlns:a="http://schemas.openxmlformats.org/drawingml/2006/main">
          <a:graphicData uri="http://schemas.openxmlformats.org/drawingml/2006/table">
            <a:tbl>
              <a:tblPr/>
              <a:tblGrid>
                <a:gridCol w="2724150"/>
                <a:gridCol w="4600575"/>
                <a:gridCol w="3648075"/>
              </a:tblGrid>
              <a:tr h="873919">
                <a:tc>
                  <a:txBody>
                    <a:bodyPr>
                      <a:noAutofit/>
                    </a:bodyPr>
                    <a:lstStyle/>
                    <a:p>
                      <a:r>
                        <a:rPr sz="2100" b="1">
                          <a:solidFill>
                            <a:srgbClr val="151515"/>
                          </a:solidFill>
                          <a:latin typeface="Arial"/>
                          <a:ea typeface="Arial"/>
                          <a:cs typeface="Arial"/>
                        </a:rPr>
                        <a:t>Etapa</a:t>
                      </a:r>
                    </a:p>
                  </a:txBody>
                  <a:tcPr marL="91440" marR="91440" marT="45720" marB="45720" anchor="ctr">
                    <a:solidFill>
                      <a:srgbClr val="EEEEEE"/>
                    </a:solidFill>
                  </a:tcPr>
                </a:tc>
                <a:tc>
                  <a:txBody>
                    <a:bodyPr>
                      <a:noAutofit/>
                    </a:bodyPr>
                    <a:lstStyle/>
                    <a:p>
                      <a:r>
                        <a:rPr sz="2100" b="1">
                          <a:solidFill>
                            <a:srgbClr val="151515"/>
                          </a:solidFill>
                          <a:latin typeface="Arial"/>
                          <a:ea typeface="Arial"/>
                          <a:cs typeface="Arial"/>
                        </a:rPr>
                        <a:t>Qué se estudia</a:t>
                      </a:r>
                    </a:p>
                  </a:txBody>
                  <a:tcPr marL="91440" marR="91440" marT="45720" marB="45720" anchor="ctr">
                    <a:solidFill>
                      <a:srgbClr val="EEEEEE"/>
                    </a:solidFill>
                  </a:tcPr>
                </a:tc>
                <a:tc>
                  <a:txBody>
                    <a:bodyPr>
                      <a:noAutofit/>
                    </a:bodyPr>
                    <a:lstStyle/>
                    <a:p>
                      <a:r>
                        <a:rPr sz="2100" b="1">
                          <a:solidFill>
                            <a:srgbClr val="151515"/>
                          </a:solidFill>
                          <a:latin typeface="Arial"/>
                          <a:ea typeface="Arial"/>
                          <a:cs typeface="Arial"/>
                        </a:rPr>
                        <a:t>Evidencia</a:t>
                      </a:r>
                    </a:p>
                  </a:txBody>
                  <a:tcPr marL="91440" marR="91440" marT="45720" marB="45720" anchor="ctr">
                    <a:solidFill>
                      <a:srgbClr val="EEEEEE"/>
                    </a:solidFill>
                  </a:tcPr>
                </a:tc>
              </a:tr>
              <a:tr h="873919">
                <a:tc>
                  <a:txBody>
                    <a:bodyPr>
                      <a:noAutofit/>
                    </a:bodyPr>
                    <a:lstStyle/>
                    <a:p>
                      <a:r>
                        <a:rPr sz="2100" b="0">
                          <a:solidFill>
                            <a:srgbClr val="151515"/>
                          </a:solidFill>
                          <a:latin typeface="Arial"/>
                          <a:ea typeface="Arial"/>
                          <a:cs typeface="Arial"/>
                        </a:rPr>
                        <a:t>Sensibilidad local</a:t>
                      </a:r>
                    </a:p>
                  </a:txBody>
                  <a:tcPr marL="91440" marR="91440" marT="45720" marB="45720" anchor="ctr">
                    <a:solidFill>
                      <a:srgbClr val="FFFFFF"/>
                    </a:solidFill>
                  </a:tcPr>
                </a:tc>
                <a:tc>
                  <a:txBody>
                    <a:bodyPr>
                      <a:noAutofit/>
                    </a:bodyPr>
                    <a:lstStyle/>
                    <a:p>
                      <a:r>
                        <a:rPr sz="2100" b="0">
                          <a:solidFill>
                            <a:srgbClr val="151515"/>
                          </a:solidFill>
                          <a:latin typeface="Arial"/>
                          <a:ea typeface="Arial"/>
                          <a:cs typeface="Arial"/>
                        </a:rPr>
                        <a:t>8 factores, pasos 2 %, 1 % y 0.5 %</a:t>
                      </a:r>
                    </a:p>
                  </a:txBody>
                  <a:tcPr marL="91440" marR="91440" marT="45720" marB="45720" anchor="ctr">
                    <a:solidFill>
                      <a:srgbClr val="FFFFFF"/>
                    </a:solidFill>
                  </a:tcPr>
                </a:tc>
                <a:tc>
                  <a:txBody>
                    <a:bodyPr>
                      <a:noAutofit/>
                    </a:bodyPr>
                    <a:lstStyle/>
                    <a:p>
                      <a:r>
                        <a:rPr sz="2100" b="0">
                          <a:solidFill>
                            <a:srgbClr val="151515"/>
                          </a:solidFill>
                          <a:latin typeface="Arial"/>
                          <a:ea typeface="Arial"/>
                          <a:cs typeface="Arial"/>
                        </a:rPr>
                        <a:t>Diferencias centrales</a:t>
                      </a:r>
                    </a:p>
                  </a:txBody>
                  <a:tcPr marL="91440" marR="91440" marT="45720" marB="45720" anchor="ctr">
                    <a:solidFill>
                      <a:srgbClr val="FFFFFF"/>
                    </a:solidFill>
                  </a:tcPr>
                </a:tc>
              </a:tr>
              <a:tr h="873919">
                <a:tc>
                  <a:txBody>
                    <a:bodyPr>
                      <a:noAutofit/>
                    </a:bodyPr>
                    <a:lstStyle/>
                    <a:p>
                      <a:r>
                        <a:rPr sz="2100" b="0">
                          <a:solidFill>
                            <a:srgbClr val="151515"/>
                          </a:solidFill>
                          <a:latin typeface="Arial"/>
                          <a:ea typeface="Arial"/>
                          <a:cs typeface="Arial"/>
                        </a:rPr>
                        <a:t>Morris</a:t>
                      </a:r>
                    </a:p>
                  </a:txBody>
                  <a:tcPr marL="91440" marR="91440" marT="45720" marB="45720" anchor="ctr">
                    <a:solidFill>
                      <a:srgbClr val="FFFFFF"/>
                    </a:solidFill>
                  </a:tcPr>
                </a:tc>
                <a:tc>
                  <a:txBody>
                    <a:bodyPr>
                      <a:noAutofit/>
                    </a:bodyPr>
                    <a:lstStyle/>
                    <a:p>
                      <a:r>
                        <a:rPr sz="2100" b="0">
                          <a:solidFill>
                            <a:srgbClr val="151515"/>
                          </a:solidFill>
                          <a:latin typeface="Arial"/>
                          <a:ea typeface="Arial"/>
                          <a:cs typeface="Arial"/>
                        </a:rPr>
                        <a:t>3 factores dentro de ±10 %</a:t>
                      </a:r>
                    </a:p>
                  </a:txBody>
                  <a:tcPr marL="91440" marR="91440" marT="45720" marB="45720" anchor="ctr">
                    <a:solidFill>
                      <a:srgbClr val="FFFFFF"/>
                    </a:solidFill>
                  </a:tcPr>
                </a:tc>
                <a:tc>
                  <a:txBody>
                    <a:bodyPr>
                      <a:noAutofit/>
                    </a:bodyPr>
                    <a:lstStyle/>
                    <a:p>
                      <a:r>
                        <a:rPr sz="2100" b="0">
                          <a:solidFill>
                            <a:srgbClr val="151515"/>
                          </a:solidFill>
                          <a:latin typeface="Arial"/>
                          <a:ea typeface="Arial"/>
                          <a:cs typeface="Arial"/>
                        </a:rPr>
                        <a:t>40 trayectorias, 170 evaluaciones</a:t>
                      </a:r>
                    </a:p>
                  </a:txBody>
                  <a:tcPr marL="91440" marR="91440" marT="45720" marB="45720" anchor="ctr">
                    <a:solidFill>
                      <a:srgbClr val="FFFFFF"/>
                    </a:solidFill>
                  </a:tcPr>
                </a:tc>
              </a:tr>
              <a:tr h="873919">
                <a:tc>
                  <a:txBody>
                    <a:bodyPr>
                      <a:noAutofit/>
                    </a:bodyPr>
                    <a:lstStyle/>
                    <a:p>
                      <a:r>
                        <a:rPr sz="2100" b="0">
                          <a:solidFill>
                            <a:srgbClr val="151515"/>
                          </a:solidFill>
                          <a:latin typeface="Arial"/>
                          <a:ea typeface="Arial"/>
                          <a:cs typeface="Arial"/>
                        </a:rPr>
                        <a:t>Comprobación actual</a:t>
                      </a:r>
                    </a:p>
                  </a:txBody>
                  <a:tcPr marL="91440" marR="91440" marT="45720" marB="45720" anchor="ctr">
                    <a:solidFill>
                      <a:srgbClr val="FFFFFF"/>
                    </a:solidFill>
                  </a:tcPr>
                </a:tc>
                <a:tc>
                  <a:txBody>
                    <a:bodyPr>
                      <a:noAutofit/>
                    </a:bodyPr>
                    <a:lstStyle/>
                    <a:p>
                      <a:r>
                        <a:rPr sz="2100" b="0">
                          <a:solidFill>
                            <a:srgbClr val="151515"/>
                          </a:solidFill>
                          <a:latin typeface="Arial"/>
                          <a:ea typeface="Arial"/>
                          <a:cs typeface="Arial"/>
                        </a:rPr>
                        <a:t>Rejilla completa de 4³ puntos</a:t>
                      </a:r>
                    </a:p>
                  </a:txBody>
                  <a:tcPr marL="91440" marR="91440" marT="45720" marB="45720" anchor="ctr">
                    <a:solidFill>
                      <a:srgbClr val="FFFFFF"/>
                    </a:solidFill>
                  </a:tcPr>
                </a:tc>
                <a:tc>
                  <a:txBody>
                    <a:bodyPr>
                      <a:noAutofit/>
                    </a:bodyPr>
                    <a:lstStyle/>
                    <a:p>
                      <a:r>
                        <a:rPr sz="2100" b="0">
                          <a:solidFill>
                            <a:srgbClr val="151515"/>
                          </a:solidFill>
                          <a:latin typeface="Arial"/>
                          <a:ea typeface="Arial"/>
                          <a:cs typeface="Arial"/>
                        </a:rPr>
                        <a:t>6 puntos y 3 controles nuevos</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D8557E24-6C43-4824-9954-BD4428EFCA88}"/>
              </a:ext>
            </a:extLst>
          </p:cNvPr>
          <p:cNvSpPr>
            <a:spLocks xmlns:a="http://schemas.openxmlformats.org/drawingml/2006/main" noGrp="1"/>
          </p:cNvSpPr>
          <p:nvPr/>
        </p:nvSpPr>
        <p:spPr>
          <a:xfrm xmlns:a="http://schemas.openxmlformats.org/drawingml/2006/main">
            <a:off x="685800" y="5429250"/>
            <a:ext cx="1047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0">
                <a:solidFill>
                  <a:srgbClr val="151515"/>
                </a:solidFill>
                <a:latin typeface="Arial"/>
                <a:ea typeface="Arial"/>
                <a:cs typeface="Arial"/>
              </a:defRPr>
            </a:defPPr>
          </a:lstStyle>
          <a:p xmlns:a="http://schemas.openxmlformats.org/drawingml/2006/main">
            <a:pPr>
              <a:lnSpc>
                <a:spcPct val="112000"/>
              </a:lnSpc>
              <a:buNone/>
              <a:defRPr sz="2250" b="0">
                <a:solidFill>
                  <a:srgbClr val="151515"/>
                </a:solidFill>
                <a:latin typeface="Arial"/>
                <a:ea typeface="Arial"/>
                <a:cs typeface="Arial"/>
              </a:defRPr>
            </a:pPr>
            <a:r>
              <a:rPr sz="2250" b="0">
                <a:solidFill>
                  <a:srgbClr val="151515"/>
                </a:solidFill>
                <a:latin typeface="Arial"/>
                <a:ea typeface="Arial"/>
                <a:cs typeface="Arial"/>
              </a:rPr>
              <a:t>La campaña Morris original conserva sus estimadores y sus registros</a:t>
            </a:r>
          </a:p>
        </p:txBody>
      </p:sp>
    </p:spTree>
    <p:extLst>
      <p:ext uri="{BB962C8B-B14F-4D97-AF65-F5344CB8AC3E}">
        <p14:creationId xmlns:p14="http://schemas.microsoft.com/office/powerpoint/2010/main" val="197419887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397F3DE-C78E-415E-A761-CBD22BF87DDE}"/>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Una trayectoria cambia un factor por segmento</a:t>
            </a:r>
          </a:p>
        </p:txBody>
      </p:sp>
      <p:sp>
        <p:nvSpPr>
          <p:cNvPr id="2" name="">
            <a:extLst xmlns:a="http://schemas.openxmlformats.org/drawingml/2006/main">
              <a:ext uri="{FF2B5EF4-FFF2-40B4-BE49-F238E27FC236}">
                <a16:creationId xmlns:a16="http://schemas.microsoft.com/office/drawing/2014/main" id="{C4E14A3D-0AF3-4442-B291-39D01B7E1719}"/>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07</a:t>
            </a:r>
          </a:p>
        </p:txBody>
      </p:sp>
      <p:pic>
        <p:nvPicPr>
          <p:cNvPr id="3" name="">
            <a:extLst xmlns:a="http://schemas.openxmlformats.org/drawingml/2006/main">
              <a:ext uri="{FF2B5EF4-FFF2-40B4-BE49-F238E27FC236}">
                <a16:creationId xmlns:a16="http://schemas.microsoft.com/office/drawing/2014/main" id="{BDEDC5C7-3B87-418C-92AD-F9F3E1309741}"/>
              </a:ext>
            </a:extLst>
          </p:cNvPr>
          <p:cNvPicPr>
            <a:picLocks xmlns:a="http://schemas.openxmlformats.org/drawingml/2006/main" noChangeAspect="1"/>
          </p:cNvPicPr>
          <p:nvPr/>
        </p:nvPicPr>
        <p:blipFill>
          <a:blip xmlns:r="http://schemas.openxmlformats.org/officeDocument/2006/relationships" xmlns:a="http://schemas.openxmlformats.org/drawingml/2006/main" r:embed="R1674a1ec863f4be1"/>
          <a:stretch xmlns:a="http://schemas.openxmlformats.org/drawingml/2006/main"/>
        </p:blipFill>
        <p:spPr>
          <a:xfrm xmlns:a="http://schemas.openxmlformats.org/drawingml/2006/main">
            <a:off x="668626" y="1352550"/>
            <a:ext cx="10854748" cy="45910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73A88C6-B2D7-468B-A8A8-BA4CFDDC88EB}"/>
              </a:ext>
            </a:extLst>
          </p:cNvPr>
          <p:cNvSpPr>
            <a:spLocks xmlns:a="http://schemas.openxmlformats.org/drawingml/2006/main" noGrp="1"/>
          </p:cNvSpPr>
          <p:nvPr/>
        </p:nvSpPr>
        <p:spPr>
          <a:xfrm xmlns:a="http://schemas.openxmlformats.org/drawingml/2006/main">
            <a:off x="647700" y="6010275"/>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444444"/>
                </a:solidFill>
                <a:latin typeface="Arial"/>
                <a:ea typeface="Arial"/>
                <a:cs typeface="Arial"/>
              </a:defRPr>
            </a:defPPr>
          </a:lstStyle>
          <a:p xmlns:a="http://schemas.openxmlformats.org/drawingml/2006/main">
            <a:pPr>
              <a:lnSpc>
                <a:spcPct val="112000"/>
              </a:lnSpc>
              <a:buNone/>
              <a:defRPr sz="1800" b="0">
                <a:solidFill>
                  <a:srgbClr val="444444"/>
                </a:solidFill>
                <a:latin typeface="Arial"/>
                <a:ea typeface="Arial"/>
                <a:cs typeface="Arial"/>
              </a:defRPr>
            </a:pPr>
            <a:r>
              <a:rPr sz="1800" b="0">
                <a:solidFill>
                  <a:srgbClr val="444444"/>
                </a:solidFill>
                <a:latin typeface="Arial"/>
                <a:ea typeface="Arial"/>
                <a:cs typeface="Arial"/>
              </a:rPr>
              <a:t>40 trayectorias producen 40 efectos elementales por factor y respuesta</a:t>
            </a:r>
          </a:p>
        </p:txBody>
      </p:sp>
    </p:spTree>
    <p:extLst>
      <p:ext uri="{BB962C8B-B14F-4D97-AF65-F5344CB8AC3E}">
        <p14:creationId xmlns:p14="http://schemas.microsoft.com/office/powerpoint/2010/main" val="141125209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75828D9-B171-48D9-A95B-C193467FF39A}"/>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Indicadores de Morris</a:t>
            </a:r>
          </a:p>
        </p:txBody>
      </p:sp>
      <p:sp>
        <p:nvSpPr>
          <p:cNvPr id="2" name="">
            <a:extLst xmlns:a="http://schemas.openxmlformats.org/drawingml/2006/main">
              <a:ext uri="{FF2B5EF4-FFF2-40B4-BE49-F238E27FC236}">
                <a16:creationId xmlns:a16="http://schemas.microsoft.com/office/drawing/2014/main" id="{8F86521D-3DE6-475E-AEC2-03C5AC66351A}"/>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08</a:t>
            </a:r>
          </a:p>
        </p:txBody>
      </p:sp>
      <p:graphicFrame>
        <p:nvGraphicFramePr>
          <p:cNvPr id="3" name="">
            <a:extLst xmlns:a="http://schemas.openxmlformats.org/drawingml/2006/main">
              <a:ext uri="{FF2B5EF4-FFF2-40B4-BE49-F238E27FC236}">
                <a16:creationId xmlns:a16="http://schemas.microsoft.com/office/drawing/2014/main" id="{C197CF21-6E25-4759-B697-7C84B1784304}"/>
              </a:ext>
            </a:extLst>
          </p:cNvPr>
          <p:cNvGraphicFramePr/>
          <p:nvPr/>
        </p:nvGraphicFramePr>
        <p:xfrm>
          <a:off xmlns:a="http://schemas.openxmlformats.org/drawingml/2006/main" x="609600" y="1504950"/>
          <a:ext xmlns:a="http://schemas.openxmlformats.org/drawingml/2006/main" cx="10972800" cy="3371850"/>
        </p:xfrm>
        <a:graphic xmlns:a="http://schemas.openxmlformats.org/drawingml/2006/main">
          <a:graphicData uri="http://schemas.openxmlformats.org/drawingml/2006/table">
            <a:tbl>
              <a:tblPr/>
              <a:tblGrid>
                <a:gridCol w="1809750"/>
                <a:gridCol w="4229100"/>
                <a:gridCol w="4933950"/>
              </a:tblGrid>
              <a:tr h="842963">
                <a:tc>
                  <a:txBody>
                    <a:bodyPr>
                      <a:noAutofit/>
                    </a:bodyPr>
                    <a:lstStyle/>
                    <a:p>
                      <a:r>
                        <a:rPr sz="2175" b="1">
                          <a:solidFill>
                            <a:srgbClr val="151515"/>
                          </a:solidFill>
                          <a:latin typeface="Arial"/>
                          <a:ea typeface="Arial"/>
                          <a:cs typeface="Arial"/>
                        </a:rPr>
                        <a:t>Indicador</a:t>
                      </a:r>
                    </a:p>
                  </a:txBody>
                  <a:tcPr marL="91440" marR="91440" marT="45720" marB="45720" anchor="ctr">
                    <a:solidFill>
                      <a:srgbClr val="EEEEEE"/>
                    </a:solidFill>
                  </a:tcPr>
                </a:tc>
                <a:tc>
                  <a:txBody>
                    <a:bodyPr>
                      <a:noAutofit/>
                    </a:bodyPr>
                    <a:lstStyle/>
                    <a:p>
                      <a:r>
                        <a:rPr sz="2175" b="1">
                          <a:solidFill>
                            <a:srgbClr val="151515"/>
                          </a:solidFill>
                          <a:latin typeface="Arial"/>
                          <a:ea typeface="Arial"/>
                          <a:cs typeface="Arial"/>
                        </a:rPr>
                        <a:t>Qué resume</a:t>
                      </a:r>
                    </a:p>
                  </a:txBody>
                  <a:tcPr marL="91440" marR="91440" marT="45720" marB="45720" anchor="ctr">
                    <a:solidFill>
                      <a:srgbClr val="EEEEEE"/>
                    </a:solidFill>
                  </a:tcPr>
                </a:tc>
                <a:tc>
                  <a:txBody>
                    <a:bodyPr>
                      <a:noAutofit/>
                    </a:bodyPr>
                    <a:lstStyle/>
                    <a:p>
                      <a:r>
                        <a:rPr sz="2175" b="1">
                          <a:solidFill>
                            <a:srgbClr val="151515"/>
                          </a:solidFill>
                          <a:latin typeface="Arial"/>
                          <a:ea typeface="Arial"/>
                          <a:cs typeface="Arial"/>
                        </a:rPr>
                        <a:t>Cómo se interpreta</a:t>
                      </a:r>
                    </a:p>
                  </a:txBody>
                  <a:tcPr marL="91440" marR="91440" marT="45720" marB="45720" anchor="ctr">
                    <a:solidFill>
                      <a:srgbClr val="EEEEEE"/>
                    </a:solidFill>
                  </a:tcPr>
                </a:tc>
              </a:tr>
              <a:tr h="842963">
                <a:tc>
                  <a:txBody>
                    <a:bodyPr>
                      <a:noAutofit/>
                    </a:bodyPr>
                    <a:lstStyle/>
                    <a:p>
                      <a:r>
                        <a:rPr sz="2175" b="0">
                          <a:solidFill>
                            <a:srgbClr val="151515"/>
                          </a:solidFill>
                          <a:latin typeface="Arial"/>
                          <a:ea typeface="Arial"/>
                          <a:cs typeface="Arial"/>
                        </a:rPr>
                        <a:t>μ</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Media con signo</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Dirección media del efecto</a:t>
                      </a:r>
                    </a:p>
                  </a:txBody>
                  <a:tcPr marL="91440" marR="91440" marT="45720" marB="45720" anchor="ctr">
                    <a:solidFill>
                      <a:srgbClr val="FFFFFF"/>
                    </a:solidFill>
                  </a:tcPr>
                </a:tc>
              </a:tr>
              <a:tr h="842963">
                <a:tc>
                  <a:txBody>
                    <a:bodyPr>
                      <a:noAutofit/>
                    </a:bodyPr>
                    <a:lstStyle/>
                    <a:p>
                      <a:r>
                        <a:rPr sz="2175" b="0">
                          <a:solidFill>
                            <a:srgbClr val="151515"/>
                          </a:solidFill>
                          <a:latin typeface="Arial"/>
                          <a:ea typeface="Arial"/>
                          <a:cs typeface="Arial"/>
                        </a:rPr>
                        <a:t>μ*</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Media de valores absolutos</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Magnitud media de influencia</a:t>
                      </a:r>
                    </a:p>
                  </a:txBody>
                  <a:tcPr marL="91440" marR="91440" marT="45720" marB="45720" anchor="ctr">
                    <a:solidFill>
                      <a:srgbClr val="FFFFFF"/>
                    </a:solidFill>
                  </a:tcPr>
                </a:tc>
              </a:tr>
              <a:tr h="842963">
                <a:tc>
                  <a:txBody>
                    <a:bodyPr>
                      <a:noAutofit/>
                    </a:bodyPr>
                    <a:lstStyle/>
                    <a:p>
                      <a:r>
                        <a:rPr sz="2175" b="0">
                          <a:solidFill>
                            <a:srgbClr val="151515"/>
                          </a:solidFill>
                          <a:latin typeface="Arial"/>
                          <a:ea typeface="Arial"/>
                          <a:cs typeface="Arial"/>
                        </a:rPr>
                        <a:t>σ</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Dispersión de efectos</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Variación según la posición del dominio</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C8D99AA0-90E7-4CB6-BD17-E8390BE1F690}"/>
              </a:ext>
            </a:extLst>
          </p:cNvPr>
          <p:cNvSpPr>
            <a:spLocks xmlns:a="http://schemas.openxmlformats.org/drawingml/2006/main" noGrp="1"/>
          </p:cNvSpPr>
          <p:nvPr/>
        </p:nvSpPr>
        <p:spPr>
          <a:xfrm xmlns:a="http://schemas.openxmlformats.org/drawingml/2006/main">
            <a:off x="685800" y="526732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151515"/>
                </a:solidFill>
                <a:latin typeface="Arial"/>
                <a:ea typeface="Arial"/>
                <a:cs typeface="Arial"/>
              </a:defRPr>
            </a:defPPr>
          </a:lstStyle>
          <a:p xmlns:a="http://schemas.openxmlformats.org/drawingml/2006/main">
            <a:pPr>
              <a:lnSpc>
                <a:spcPct val="112000"/>
              </a:lnSpc>
              <a:buNone/>
              <a:defRPr sz="2400" b="1">
                <a:solidFill>
                  <a:srgbClr val="151515"/>
                </a:solidFill>
                <a:latin typeface="Arial"/>
                <a:ea typeface="Arial"/>
                <a:cs typeface="Arial"/>
              </a:defRPr>
            </a:pPr>
            <a:r>
              <a:rPr sz="2400" b="1">
                <a:solidFill>
                  <a:srgbClr val="151515"/>
                </a:solidFill>
                <a:latin typeface="Arial"/>
                <a:ea typeface="Arial"/>
                <a:cs typeface="Arial"/>
              </a:rPr>
              <a:t>σ puede combinar curvatura e interacción entre factores</a:t>
            </a:r>
          </a:p>
        </p:txBody>
      </p:sp>
    </p:spTree>
    <p:extLst>
      <p:ext uri="{BB962C8B-B14F-4D97-AF65-F5344CB8AC3E}">
        <p14:creationId xmlns:p14="http://schemas.microsoft.com/office/powerpoint/2010/main" val="74663861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FF297E0-DF32-45BD-ABEC-56524AA7BC08}"/>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Masa y rigidez tienen sentidos opuestos</a:t>
            </a:r>
          </a:p>
        </p:txBody>
      </p:sp>
      <p:sp>
        <p:nvSpPr>
          <p:cNvPr id="2" name="">
            <a:extLst xmlns:a="http://schemas.openxmlformats.org/drawingml/2006/main">
              <a:ext uri="{FF2B5EF4-FFF2-40B4-BE49-F238E27FC236}">
                <a16:creationId xmlns:a16="http://schemas.microsoft.com/office/drawing/2014/main" id="{8C957E22-648C-4BB7-ACF2-1B78006CCDA3}"/>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09</a:t>
            </a:r>
          </a:p>
        </p:txBody>
      </p:sp>
      <p:pic>
        <p:nvPicPr>
          <p:cNvPr id="3" name="">
            <a:extLst xmlns:a="http://schemas.openxmlformats.org/drawingml/2006/main">
              <a:ext uri="{FF2B5EF4-FFF2-40B4-BE49-F238E27FC236}">
                <a16:creationId xmlns:a16="http://schemas.microsoft.com/office/drawing/2014/main" id="{6FBCA660-A1CF-4825-A30E-C7680BD831DE}"/>
              </a:ext>
            </a:extLst>
          </p:cNvPr>
          <p:cNvPicPr>
            <a:picLocks xmlns:a="http://schemas.openxmlformats.org/drawingml/2006/main" noChangeAspect="1"/>
          </p:cNvPicPr>
          <p:nvPr/>
        </p:nvPicPr>
        <p:blipFill>
          <a:blip xmlns:r="http://schemas.openxmlformats.org/officeDocument/2006/relationships" xmlns:a="http://schemas.openxmlformats.org/drawingml/2006/main" r:embed="R8ec2a973e0d54de5"/>
          <a:stretch xmlns:a="http://schemas.openxmlformats.org/drawingml/2006/main"/>
        </p:blipFill>
        <p:spPr>
          <a:xfrm xmlns:a="http://schemas.openxmlformats.org/drawingml/2006/main">
            <a:off x="1695010" y="1257300"/>
            <a:ext cx="8801980" cy="47720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646AA78-3A6F-4567-8DE4-483B5BBA16B2}"/>
              </a:ext>
            </a:extLst>
          </p:cNvPr>
          <p:cNvSpPr>
            <a:spLocks xmlns:a="http://schemas.openxmlformats.org/drawingml/2006/main" noGrp="1"/>
          </p:cNvSpPr>
          <p:nvPr/>
        </p:nvSpPr>
        <p:spPr>
          <a:xfrm xmlns:a="http://schemas.openxmlformats.org/drawingml/2006/main">
            <a:off x="647700" y="6010275"/>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444444"/>
                </a:solidFill>
                <a:latin typeface="Arial"/>
                <a:ea typeface="Arial"/>
                <a:cs typeface="Arial"/>
              </a:defRPr>
            </a:defPPr>
          </a:lstStyle>
          <a:p xmlns:a="http://schemas.openxmlformats.org/drawingml/2006/main">
            <a:pPr>
              <a:lnSpc>
                <a:spcPct val="112000"/>
              </a:lnSpc>
              <a:buNone/>
              <a:defRPr sz="1800" b="0">
                <a:solidFill>
                  <a:srgbClr val="444444"/>
                </a:solidFill>
                <a:latin typeface="Arial"/>
                <a:ea typeface="Arial"/>
                <a:cs typeface="Arial"/>
              </a:defRPr>
            </a:pPr>
            <a:r>
              <a:rPr sz="1800" b="0">
                <a:solidFill>
                  <a:srgbClr val="444444"/>
                </a:solidFill>
                <a:latin typeface="Arial"/>
                <a:ea typeface="Arial"/>
                <a:cs typeface="Arial"/>
              </a:rPr>
              <a:t>El giro reduce la frecuencia de 3 y aumenta las de 6+7, 8+9 y 10+11</a:t>
            </a:r>
          </a:p>
        </p:txBody>
      </p:sp>
    </p:spTree>
    <p:extLst>
      <p:ext uri="{BB962C8B-B14F-4D97-AF65-F5344CB8AC3E}">
        <p14:creationId xmlns:p14="http://schemas.microsoft.com/office/powerpoint/2010/main" val="185960247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21030B3-D1EC-4D8A-9463-2D9B8569D6D5}"/>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Estabilización de la influencia media</a:t>
            </a:r>
          </a:p>
        </p:txBody>
      </p:sp>
      <p:sp>
        <p:nvSpPr>
          <p:cNvPr id="2" name="">
            <a:extLst xmlns:a="http://schemas.openxmlformats.org/drawingml/2006/main">
              <a:ext uri="{FF2B5EF4-FFF2-40B4-BE49-F238E27FC236}">
                <a16:creationId xmlns:a16="http://schemas.microsoft.com/office/drawing/2014/main" id="{217633EA-29D4-4E2E-B67A-27786ECBD121}"/>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10</a:t>
            </a:r>
          </a:p>
        </p:txBody>
      </p:sp>
      <p:pic>
        <p:nvPicPr>
          <p:cNvPr id="3" name="">
            <a:extLst xmlns:a="http://schemas.openxmlformats.org/drawingml/2006/main">
              <a:ext uri="{FF2B5EF4-FFF2-40B4-BE49-F238E27FC236}">
                <a16:creationId xmlns:a16="http://schemas.microsoft.com/office/drawing/2014/main" id="{8118888A-278D-4DF8-824A-A147A6978DCD}"/>
              </a:ext>
            </a:extLst>
          </p:cNvPr>
          <p:cNvPicPr>
            <a:picLocks xmlns:a="http://schemas.openxmlformats.org/drawingml/2006/main" noChangeAspect="1"/>
          </p:cNvPicPr>
          <p:nvPr/>
        </p:nvPicPr>
        <p:blipFill>
          <a:blip xmlns:r="http://schemas.openxmlformats.org/officeDocument/2006/relationships" xmlns:a="http://schemas.openxmlformats.org/drawingml/2006/main" r:embed="R89a9ff4d188e4159"/>
          <a:stretch xmlns:a="http://schemas.openxmlformats.org/drawingml/2006/main"/>
        </p:blipFill>
        <p:spPr>
          <a:xfrm xmlns:a="http://schemas.openxmlformats.org/drawingml/2006/main">
            <a:off x="609600" y="1406328"/>
            <a:ext cx="10972800" cy="4407294"/>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C395B67-8292-4553-B9CA-2C0CA11C5D3B}"/>
              </a:ext>
            </a:extLst>
          </p:cNvPr>
          <p:cNvSpPr>
            <a:spLocks xmlns:a="http://schemas.openxmlformats.org/drawingml/2006/main" noGrp="1"/>
          </p:cNvSpPr>
          <p:nvPr/>
        </p:nvSpPr>
        <p:spPr>
          <a:xfrm xmlns:a="http://schemas.openxmlformats.org/drawingml/2006/main">
            <a:off x="647700" y="6010275"/>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444444"/>
                </a:solidFill>
                <a:latin typeface="Arial"/>
                <a:ea typeface="Arial"/>
                <a:cs typeface="Arial"/>
              </a:defRPr>
            </a:defPPr>
          </a:lstStyle>
          <a:p xmlns:a="http://schemas.openxmlformats.org/drawingml/2006/main">
            <a:pPr>
              <a:lnSpc>
                <a:spcPct val="112000"/>
              </a:lnSpc>
              <a:buNone/>
              <a:defRPr sz="1800" b="0">
                <a:solidFill>
                  <a:srgbClr val="444444"/>
                </a:solidFill>
                <a:latin typeface="Arial"/>
                <a:ea typeface="Arial"/>
                <a:cs typeface="Arial"/>
              </a:defRPr>
            </a:pPr>
            <a:r>
              <a:rPr sz="1800" b="0">
                <a:solidFill>
                  <a:srgbClr val="444444"/>
                </a:solidFill>
                <a:latin typeface="Arial"/>
                <a:ea typeface="Arial"/>
                <a:cs typeface="Arial"/>
              </a:rPr>
              <a:t>14 influencias aceptadas. Cambio máximo de 20 a 40: 0.80 %</a:t>
            </a:r>
          </a:p>
        </p:txBody>
      </p:sp>
    </p:spTree>
    <p:extLst>
      <p:ext uri="{BB962C8B-B14F-4D97-AF65-F5344CB8AC3E}">
        <p14:creationId xmlns:p14="http://schemas.microsoft.com/office/powerpoint/2010/main" val="182090402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FDA3BAD-D249-4FE1-8CB5-09AE2D7F0690}"/>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Resolución frente al ruido numérico</a:t>
            </a:r>
          </a:p>
        </p:txBody>
      </p:sp>
      <p:sp>
        <p:nvSpPr>
          <p:cNvPr id="2" name="">
            <a:extLst xmlns:a="http://schemas.openxmlformats.org/drawingml/2006/main">
              <a:ext uri="{FF2B5EF4-FFF2-40B4-BE49-F238E27FC236}">
                <a16:creationId xmlns:a16="http://schemas.microsoft.com/office/drawing/2014/main" id="{EC974FA4-E265-4A93-A176-955B5D6D5EDF}"/>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11</a:t>
            </a:r>
          </a:p>
        </p:txBody>
      </p:sp>
      <p:pic>
        <p:nvPicPr>
          <p:cNvPr id="3" name="">
            <a:extLst xmlns:a="http://schemas.openxmlformats.org/drawingml/2006/main">
              <a:ext uri="{FF2B5EF4-FFF2-40B4-BE49-F238E27FC236}">
                <a16:creationId xmlns:a16="http://schemas.microsoft.com/office/drawing/2014/main" id="{B033ACD7-2E6D-46EB-8429-67B56F3E427A}"/>
              </a:ext>
            </a:extLst>
          </p:cNvPr>
          <p:cNvPicPr>
            <a:picLocks xmlns:a="http://schemas.openxmlformats.org/drawingml/2006/main" noChangeAspect="1"/>
          </p:cNvPicPr>
          <p:nvPr/>
        </p:nvPicPr>
        <p:blipFill>
          <a:blip xmlns:r="http://schemas.openxmlformats.org/officeDocument/2006/relationships" xmlns:a="http://schemas.openxmlformats.org/drawingml/2006/main" r:embed="Re667a6377b9d443c"/>
          <a:stretch xmlns:a="http://schemas.openxmlformats.org/drawingml/2006/main"/>
        </p:blipFill>
        <p:spPr>
          <a:xfrm xmlns:a="http://schemas.openxmlformats.org/drawingml/2006/main">
            <a:off x="609600" y="1654595"/>
            <a:ext cx="10972800" cy="3615484"/>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062AEE7-2CDF-41E2-9EF7-121C6E47BCE2}"/>
              </a:ext>
            </a:extLst>
          </p:cNvPr>
          <p:cNvSpPr>
            <a:spLocks xmlns:a="http://schemas.openxmlformats.org/drawingml/2006/main" noGrp="1"/>
          </p:cNvSpPr>
          <p:nvPr/>
        </p:nvSpPr>
        <p:spPr>
          <a:xfrm xmlns:a="http://schemas.openxmlformats.org/drawingml/2006/main">
            <a:off x="647700" y="6010275"/>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444444"/>
                </a:solidFill>
                <a:latin typeface="Arial"/>
                <a:ea typeface="Arial"/>
                <a:cs typeface="Arial"/>
              </a:defRPr>
            </a:defPPr>
          </a:lstStyle>
          <a:p xmlns:a="http://schemas.openxmlformats.org/drawingml/2006/main">
            <a:pPr>
              <a:lnSpc>
                <a:spcPct val="112000"/>
              </a:lnSpc>
              <a:buNone/>
              <a:defRPr sz="1800" b="0">
                <a:solidFill>
                  <a:srgbClr val="444444"/>
                </a:solidFill>
                <a:latin typeface="Arial"/>
                <a:ea typeface="Arial"/>
                <a:cs typeface="Arial"/>
              </a:defRPr>
            </a:pPr>
            <a:r>
              <a:rPr sz="1800" b="0">
                <a:solidFill>
                  <a:srgbClr val="444444"/>
                </a:solidFill>
                <a:latin typeface="Arial"/>
                <a:ea typeface="Arial"/>
                <a:cs typeface="Arial"/>
              </a:rPr>
              <a:t>Las tres influencias de 10+11 superan ampliamente el filtro de ruido</a:t>
            </a:r>
          </a:p>
        </p:txBody>
      </p:sp>
    </p:spTree>
    <p:extLst>
      <p:ext uri="{BB962C8B-B14F-4D97-AF65-F5344CB8AC3E}">
        <p14:creationId xmlns:p14="http://schemas.microsoft.com/office/powerpoint/2010/main" val="37327748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8F77506-C2A9-4693-9D03-AA18C17F1664}"/>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Participación predominante de palas en 10 y 11</a:t>
            </a:r>
          </a:p>
        </p:txBody>
      </p:sp>
      <p:sp>
        <p:nvSpPr>
          <p:cNvPr id="2" name="">
            <a:extLst xmlns:a="http://schemas.openxmlformats.org/drawingml/2006/main">
              <a:ext uri="{FF2B5EF4-FFF2-40B4-BE49-F238E27FC236}">
                <a16:creationId xmlns:a16="http://schemas.microsoft.com/office/drawing/2014/main" id="{4C918A29-3C5A-4395-AAAF-D61379A4ED6E}"/>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12</a:t>
            </a:r>
          </a:p>
        </p:txBody>
      </p:sp>
      <p:pic>
        <p:nvPicPr>
          <p:cNvPr id="3" name="">
            <a:extLst xmlns:a="http://schemas.openxmlformats.org/drawingml/2006/main">
              <a:ext uri="{FF2B5EF4-FFF2-40B4-BE49-F238E27FC236}">
                <a16:creationId xmlns:a16="http://schemas.microsoft.com/office/drawing/2014/main" id="{CD465F6A-0CDA-472A-AFC0-ACBF1EEF966D}"/>
              </a:ext>
            </a:extLst>
          </p:cNvPr>
          <p:cNvPicPr>
            <a:picLocks xmlns:a="http://schemas.openxmlformats.org/drawingml/2006/main" noChangeAspect="1"/>
          </p:cNvPicPr>
          <p:nvPr/>
        </p:nvPicPr>
        <p:blipFill>
          <a:blip xmlns:r="http://schemas.openxmlformats.org/officeDocument/2006/relationships" xmlns:a="http://schemas.openxmlformats.org/drawingml/2006/main" r:embed="R735138641bfa43be"/>
          <a:stretch xmlns:a="http://schemas.openxmlformats.org/drawingml/2006/main"/>
        </p:blipFill>
        <p:spPr>
          <a:xfrm xmlns:a="http://schemas.openxmlformats.org/drawingml/2006/main">
            <a:off x="812167" y="1257300"/>
            <a:ext cx="10567667" cy="4667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1DD90AC-653F-4BFB-A0FB-D6C8921E62CD}"/>
              </a:ext>
            </a:extLst>
          </p:cNvPr>
          <p:cNvSpPr>
            <a:spLocks xmlns:a="http://schemas.openxmlformats.org/drawingml/2006/main" noGrp="1"/>
          </p:cNvSpPr>
          <p:nvPr/>
        </p:nvSpPr>
        <p:spPr>
          <a:xfrm xmlns:a="http://schemas.openxmlformats.org/drawingml/2006/main">
            <a:off x="647700" y="6010275"/>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444444"/>
                </a:solidFill>
                <a:latin typeface="Arial"/>
                <a:ea typeface="Arial"/>
                <a:cs typeface="Arial"/>
              </a:defRPr>
            </a:defPPr>
          </a:lstStyle>
          <a:p xmlns:a="http://schemas.openxmlformats.org/drawingml/2006/main">
            <a:pPr>
              <a:lnSpc>
                <a:spcPct val="112000"/>
              </a:lnSpc>
              <a:buNone/>
              <a:defRPr sz="1800" b="0">
                <a:solidFill>
                  <a:srgbClr val="444444"/>
                </a:solidFill>
                <a:latin typeface="Arial"/>
                <a:ea typeface="Arial"/>
                <a:cs typeface="Arial"/>
              </a:defRPr>
            </a:pPr>
            <a:r>
              <a:rPr sz="1800" b="0">
                <a:solidFill>
                  <a:srgbClr val="444444"/>
                </a:solidFill>
                <a:latin typeface="Arial"/>
                <a:ea typeface="Arial"/>
                <a:cs typeface="Arial"/>
              </a:rPr>
              <a:t>Las participaciones de referencia respaldan la interpretación mecánica</a:t>
            </a:r>
          </a:p>
        </p:txBody>
      </p:sp>
    </p:spTree>
    <p:extLst>
      <p:ext uri="{BB962C8B-B14F-4D97-AF65-F5344CB8AC3E}">
        <p14:creationId xmlns:p14="http://schemas.microsoft.com/office/powerpoint/2010/main" val="73697910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3CEAD81-2CA4-4124-9C2E-4647C462BC20}"/>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Magnitudes orientativas para el grupo 10+11</a:t>
            </a:r>
          </a:p>
        </p:txBody>
      </p:sp>
      <p:sp>
        <p:nvSpPr>
          <p:cNvPr id="2" name="">
            <a:extLst xmlns:a="http://schemas.openxmlformats.org/drawingml/2006/main">
              <a:ext uri="{FF2B5EF4-FFF2-40B4-BE49-F238E27FC236}">
                <a16:creationId xmlns:a16="http://schemas.microsoft.com/office/drawing/2014/main" id="{59C1CE29-1395-40E4-B033-BA9A1E3CD827}"/>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13</a:t>
            </a:r>
          </a:p>
        </p:txBody>
      </p:sp>
      <p:graphicFrame>
        <p:nvGraphicFramePr>
          <p:cNvPr id="3" name="">
            <a:extLst xmlns:a="http://schemas.openxmlformats.org/drawingml/2006/main">
              <a:ext uri="{FF2B5EF4-FFF2-40B4-BE49-F238E27FC236}">
                <a16:creationId xmlns:a16="http://schemas.microsoft.com/office/drawing/2014/main" id="{03BC4E18-FB0F-4DD0-A954-E19DAAC0AE67}"/>
              </a:ext>
            </a:extLst>
          </p:cNvPr>
          <p:cNvGraphicFramePr/>
          <p:nvPr/>
        </p:nvGraphicFramePr>
        <p:xfrm>
          <a:off xmlns:a="http://schemas.openxmlformats.org/drawingml/2006/main" x="609600" y="1504950"/>
          <a:ext xmlns:a="http://schemas.openxmlformats.org/drawingml/2006/main" cx="10972800" cy="3048000"/>
        </p:xfrm>
        <a:graphic xmlns:a="http://schemas.openxmlformats.org/drawingml/2006/main">
          <a:graphicData uri="http://schemas.openxmlformats.org/drawingml/2006/table">
            <a:tbl>
              <a:tblPr/>
              <a:tblGrid>
                <a:gridCol w="4857750"/>
                <a:gridCol w="3352800"/>
                <a:gridCol w="2762250"/>
              </a:tblGrid>
              <a:tr h="762000">
                <a:tc>
                  <a:txBody>
                    <a:bodyPr>
                      <a:noAutofit/>
                    </a:bodyPr>
                    <a:lstStyle/>
                    <a:p>
                      <a:r>
                        <a:rPr sz="2325" b="1">
                          <a:solidFill>
                            <a:srgbClr val="151515"/>
                          </a:solidFill>
                          <a:latin typeface="Arial"/>
                          <a:ea typeface="Arial"/>
                          <a:cs typeface="Arial"/>
                        </a:rPr>
                        <a:t>Factor que aumenta 1 %</a:t>
                      </a:r>
                    </a:p>
                  </a:txBody>
                  <a:tcPr marL="91440" marR="91440" marT="45720" marB="45720" anchor="ctr">
                    <a:solidFill>
                      <a:srgbClr val="EEEEEE"/>
                    </a:solidFill>
                  </a:tcPr>
                </a:tc>
                <a:tc>
                  <a:txBody>
                    <a:bodyPr>
                      <a:noAutofit/>
                    </a:bodyPr>
                    <a:lstStyle/>
                    <a:p>
                      <a:r>
                        <a:rPr sz="2325" b="1">
                          <a:solidFill>
                            <a:srgbClr val="151515"/>
                          </a:solidFill>
                          <a:latin typeface="Arial"/>
                          <a:ea typeface="Arial"/>
                          <a:cs typeface="Arial"/>
                        </a:rPr>
                        <a:t>Cambio relativo de f</a:t>
                      </a:r>
                    </a:p>
                  </a:txBody>
                  <a:tcPr marL="91440" marR="91440" marT="45720" marB="45720" anchor="ctr">
                    <a:solidFill>
                      <a:srgbClr val="EEEEEE"/>
                    </a:solidFill>
                  </a:tcPr>
                </a:tc>
                <a:tc>
                  <a:txBody>
                    <a:bodyPr>
                      <a:noAutofit/>
                    </a:bodyPr>
                    <a:lstStyle/>
                    <a:p>
                      <a:r>
                        <a:rPr sz="2325" b="1">
                          <a:solidFill>
                            <a:srgbClr val="151515"/>
                          </a:solidFill>
                          <a:latin typeface="Arial"/>
                          <a:ea typeface="Arial"/>
                          <a:cs typeface="Arial"/>
                        </a:rPr>
                        <a:t>Cambio [Hz]</a:t>
                      </a:r>
                    </a:p>
                  </a:txBody>
                  <a:tcPr marL="91440" marR="91440" marT="45720" marB="45720" anchor="ctr">
                    <a:solidFill>
                      <a:srgbClr val="EEEEEE"/>
                    </a:solidFill>
                  </a:tcPr>
                </a:tc>
              </a:tr>
              <a:tr h="762000">
                <a:tc>
                  <a:txBody>
                    <a:bodyPr>
                      <a:noAutofit/>
                    </a:bodyPr>
                    <a:lstStyle/>
                    <a:p>
                      <a:r>
                        <a:rPr sz="2325" b="0">
                          <a:solidFill>
                            <a:srgbClr val="151515"/>
                          </a:solidFill>
                          <a:latin typeface="Arial"/>
                          <a:ea typeface="Arial"/>
                          <a:cs typeface="Arial"/>
                        </a:rPr>
                        <a:t>Masa/inercia</a:t>
                      </a:r>
                    </a:p>
                  </a:txBody>
                  <a:tcPr marL="91440" marR="91440" marT="45720" marB="45720" anchor="ctr">
                    <a:solidFill>
                      <a:srgbClr val="FFFFFF"/>
                    </a:solidFill>
                  </a:tcPr>
                </a:tc>
                <a:tc>
                  <a:txBody>
                    <a:bodyPr>
                      <a:noAutofit/>
                    </a:bodyPr>
                    <a:lstStyle/>
                    <a:p>
                      <a:r>
                        <a:rPr sz="2325" b="0">
                          <a:solidFill>
                            <a:srgbClr val="151515"/>
                          </a:solidFill>
                          <a:latin typeface="Arial"/>
                          <a:ea typeface="Arial"/>
                          <a:cs typeface="Arial"/>
                        </a:rPr>
                        <a:t>−0.383 %</a:t>
                      </a:r>
                    </a:p>
                  </a:txBody>
                  <a:tcPr marL="91440" marR="91440" marT="45720" marB="45720" anchor="ctr">
                    <a:solidFill>
                      <a:srgbClr val="FFFFFF"/>
                    </a:solidFill>
                  </a:tcPr>
                </a:tc>
                <a:tc>
                  <a:txBody>
                    <a:bodyPr>
                      <a:noAutofit/>
                    </a:bodyPr>
                    <a:lstStyle/>
                    <a:p>
                      <a:r>
                        <a:rPr sz="2325" b="0">
                          <a:solidFill>
                            <a:srgbClr val="151515"/>
                          </a:solidFill>
                          <a:latin typeface="Arial"/>
                          <a:ea typeface="Arial"/>
                          <a:cs typeface="Arial"/>
                        </a:rPr>
                        <a:t>−0.00469</a:t>
                      </a:r>
                    </a:p>
                  </a:txBody>
                  <a:tcPr marL="91440" marR="91440" marT="45720" marB="45720" anchor="ctr">
                    <a:solidFill>
                      <a:srgbClr val="FFFFFF"/>
                    </a:solidFill>
                  </a:tcPr>
                </a:tc>
              </a:tr>
              <a:tr h="762000">
                <a:tc>
                  <a:txBody>
                    <a:bodyPr>
                      <a:noAutofit/>
                    </a:bodyPr>
                    <a:lstStyle/>
                    <a:p>
                      <a:r>
                        <a:rPr sz="2325" b="0">
                          <a:solidFill>
                            <a:srgbClr val="151515"/>
                          </a:solidFill>
                          <a:latin typeface="Arial"/>
                          <a:ea typeface="Arial"/>
                          <a:cs typeface="Arial"/>
                        </a:rPr>
                        <a:t>Rigidez</a:t>
                      </a:r>
                    </a:p>
                  </a:txBody>
                  <a:tcPr marL="91440" marR="91440" marT="45720" marB="45720" anchor="ctr">
                    <a:solidFill>
                      <a:srgbClr val="FFFFFF"/>
                    </a:solidFill>
                  </a:tcPr>
                </a:tc>
                <a:tc>
                  <a:txBody>
                    <a:bodyPr>
                      <a:noAutofit/>
                    </a:bodyPr>
                    <a:lstStyle/>
                    <a:p>
                      <a:r>
                        <a:rPr sz="2325" b="0">
                          <a:solidFill>
                            <a:srgbClr val="151515"/>
                          </a:solidFill>
                          <a:latin typeface="Arial"/>
                          <a:ea typeface="Arial"/>
                          <a:cs typeface="Arial"/>
                        </a:rPr>
                        <a:t>+0.359 %</a:t>
                      </a:r>
                    </a:p>
                  </a:txBody>
                  <a:tcPr marL="91440" marR="91440" marT="45720" marB="45720" anchor="ctr">
                    <a:solidFill>
                      <a:srgbClr val="FFFFFF"/>
                    </a:solidFill>
                  </a:tcPr>
                </a:tc>
                <a:tc>
                  <a:txBody>
                    <a:bodyPr>
                      <a:noAutofit/>
                    </a:bodyPr>
                    <a:lstStyle/>
                    <a:p>
                      <a:r>
                        <a:rPr sz="2325" b="0">
                          <a:solidFill>
                            <a:srgbClr val="151515"/>
                          </a:solidFill>
                          <a:latin typeface="Arial"/>
                          <a:ea typeface="Arial"/>
                          <a:cs typeface="Arial"/>
                        </a:rPr>
                        <a:t>+0.00439</a:t>
                      </a:r>
                    </a:p>
                  </a:txBody>
                  <a:tcPr marL="91440" marR="91440" marT="45720" marB="45720" anchor="ctr">
                    <a:solidFill>
                      <a:srgbClr val="FFFFFF"/>
                    </a:solidFill>
                  </a:tcPr>
                </a:tc>
              </a:tr>
              <a:tr h="762000">
                <a:tc>
                  <a:txBody>
                    <a:bodyPr>
                      <a:noAutofit/>
                    </a:bodyPr>
                    <a:lstStyle/>
                    <a:p>
                      <a:r>
                        <a:rPr sz="2325" b="0">
                          <a:solidFill>
                            <a:srgbClr val="151515"/>
                          </a:solidFill>
                          <a:latin typeface="Arial"/>
                          <a:ea typeface="Arial"/>
                          <a:cs typeface="Arial"/>
                        </a:rPr>
                        <a:t>Velocidad</a:t>
                      </a:r>
                    </a:p>
                  </a:txBody>
                  <a:tcPr marL="91440" marR="91440" marT="45720" marB="45720" anchor="ctr">
                    <a:solidFill>
                      <a:srgbClr val="FFFFFF"/>
                    </a:solidFill>
                  </a:tcPr>
                </a:tc>
                <a:tc>
                  <a:txBody>
                    <a:bodyPr>
                      <a:noAutofit/>
                    </a:bodyPr>
                    <a:lstStyle/>
                    <a:p>
                      <a:r>
                        <a:rPr sz="2325" b="0">
                          <a:solidFill>
                            <a:srgbClr val="151515"/>
                          </a:solidFill>
                          <a:latin typeface="Arial"/>
                          <a:ea typeface="Arial"/>
                          <a:cs typeface="Arial"/>
                        </a:rPr>
                        <a:t>+0.184 %</a:t>
                      </a:r>
                    </a:p>
                  </a:txBody>
                  <a:tcPr marL="91440" marR="91440" marT="45720" marB="45720" anchor="ctr">
                    <a:solidFill>
                      <a:srgbClr val="FFFFFF"/>
                    </a:solidFill>
                  </a:tcPr>
                </a:tc>
                <a:tc>
                  <a:txBody>
                    <a:bodyPr>
                      <a:noAutofit/>
                    </a:bodyPr>
                    <a:lstStyle/>
                    <a:p>
                      <a:r>
                        <a:rPr sz="2325" b="0">
                          <a:solidFill>
                            <a:srgbClr val="151515"/>
                          </a:solidFill>
                          <a:latin typeface="Arial"/>
                          <a:ea typeface="Arial"/>
                          <a:cs typeface="Arial"/>
                        </a:rPr>
                        <a:t>+0.00225</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9457EC05-5119-40B5-B582-2C18E78CDAE1}"/>
              </a:ext>
            </a:extLst>
          </p:cNvPr>
          <p:cNvSpPr>
            <a:spLocks xmlns:a="http://schemas.openxmlformats.org/drawingml/2006/main" noGrp="1"/>
          </p:cNvSpPr>
          <p:nvPr/>
        </p:nvSpPr>
        <p:spPr>
          <a:xfrm xmlns:a="http://schemas.openxmlformats.org/drawingml/2006/main">
            <a:off x="685800" y="5057775"/>
            <a:ext cx="10572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151515"/>
                </a:solidFill>
                <a:latin typeface="Arial"/>
                <a:ea typeface="Arial"/>
                <a:cs typeface="Arial"/>
              </a:defRPr>
            </a:defPPr>
          </a:lstStyle>
          <a:p xmlns:a="http://schemas.openxmlformats.org/drawingml/2006/main">
            <a:pPr>
              <a:lnSpc>
                <a:spcPct val="112000"/>
              </a:lnSpc>
              <a:buNone/>
              <a:defRPr sz="2175" b="0">
                <a:solidFill>
                  <a:srgbClr val="151515"/>
                </a:solidFill>
                <a:latin typeface="Arial"/>
                <a:ea typeface="Arial"/>
                <a:cs typeface="Arial"/>
              </a:defRPr>
            </a:pPr>
            <a:r>
              <a:rPr sz="2175" b="0">
                <a:solidFill>
                  <a:srgbClr val="151515"/>
                </a:solidFill>
                <a:latin typeface="Arial"/>
                <a:ea typeface="Arial"/>
                <a:cs typeface="Arial"/>
              </a:rPr>
              <a:t>Frecuencia nominal: 1.22543 Hz</a:t>
            </a:r>
          </a:p>
        </p:txBody>
      </p:sp>
      <p:sp>
        <p:nvSpPr>
          <p:cNvPr id="5" name="">
            <a:extLst xmlns:a="http://schemas.openxmlformats.org/drawingml/2006/main">
              <a:ext uri="{FF2B5EF4-FFF2-40B4-BE49-F238E27FC236}">
                <a16:creationId xmlns:a16="http://schemas.microsoft.com/office/drawing/2014/main" id="{5BE73E9A-2C8F-4F44-A252-602BE349DF8A}"/>
              </a:ext>
            </a:extLst>
          </p:cNvPr>
          <p:cNvSpPr>
            <a:spLocks xmlns:a="http://schemas.openxmlformats.org/drawingml/2006/main" noGrp="1"/>
          </p:cNvSpPr>
          <p:nvPr/>
        </p:nvSpPr>
        <p:spPr>
          <a:xfrm xmlns:a="http://schemas.openxmlformats.org/drawingml/2006/main">
            <a:off x="685800" y="5667375"/>
            <a:ext cx="10572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151515"/>
                </a:solidFill>
                <a:latin typeface="Arial"/>
                <a:ea typeface="Arial"/>
                <a:cs typeface="Arial"/>
              </a:defRPr>
            </a:defPPr>
          </a:lstStyle>
          <a:p xmlns:a="http://schemas.openxmlformats.org/drawingml/2006/main">
            <a:pPr>
              <a:lnSpc>
                <a:spcPct val="112000"/>
              </a:lnSpc>
              <a:buNone/>
              <a:defRPr sz="2175" b="0">
                <a:solidFill>
                  <a:srgbClr val="151515"/>
                </a:solidFill>
                <a:latin typeface="Arial"/>
                <a:ea typeface="Arial"/>
                <a:cs typeface="Arial"/>
              </a:defRPr>
            </a:pPr>
            <a:r>
              <a:rPr sz="2175" b="0">
                <a:solidFill>
                  <a:srgbClr val="151515"/>
                </a:solidFill>
                <a:latin typeface="Arial"/>
                <a:ea typeface="Arial"/>
                <a:cs typeface="Arial"/>
              </a:rPr>
              <a:t>Ejemplos basados en pendientes medias de secante</a:t>
            </a:r>
          </a:p>
        </p:txBody>
      </p:sp>
    </p:spTree>
    <p:extLst>
      <p:ext uri="{BB962C8B-B14F-4D97-AF65-F5344CB8AC3E}">
        <p14:creationId xmlns:p14="http://schemas.microsoft.com/office/powerpoint/2010/main" val="127106225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AA04C56-97C2-4270-AAE3-BBA4F85A2B8E}"/>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Comprobación sobre las 64 combinaciones</a:t>
            </a:r>
          </a:p>
        </p:txBody>
      </p:sp>
      <p:sp>
        <p:nvSpPr>
          <p:cNvPr id="2" name="">
            <a:extLst xmlns:a="http://schemas.openxmlformats.org/drawingml/2006/main">
              <a:ext uri="{FF2B5EF4-FFF2-40B4-BE49-F238E27FC236}">
                <a16:creationId xmlns:a16="http://schemas.microsoft.com/office/drawing/2014/main" id="{A983F963-0C76-465C-941F-F55C2EF2EA8E}"/>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14</a:t>
            </a:r>
          </a:p>
        </p:txBody>
      </p:sp>
      <p:graphicFrame>
        <p:nvGraphicFramePr>
          <p:cNvPr id="3" name="">
            <a:extLst xmlns:a="http://schemas.openxmlformats.org/drawingml/2006/main">
              <a:ext uri="{FF2B5EF4-FFF2-40B4-BE49-F238E27FC236}">
                <a16:creationId xmlns:a16="http://schemas.microsoft.com/office/drawing/2014/main" id="{B5AE316B-5F82-4465-AE01-B3462DF74361}"/>
              </a:ext>
            </a:extLst>
          </p:cNvPr>
          <p:cNvGraphicFramePr/>
          <p:nvPr/>
        </p:nvGraphicFramePr>
        <p:xfrm>
          <a:off xmlns:a="http://schemas.openxmlformats.org/drawingml/2006/main" x="609600" y="1504950"/>
          <a:ext xmlns:a="http://schemas.openxmlformats.org/drawingml/2006/main" cx="10972800" cy="3381375"/>
        </p:xfrm>
        <a:graphic xmlns:a="http://schemas.openxmlformats.org/drawingml/2006/main">
          <a:graphicData uri="http://schemas.openxmlformats.org/drawingml/2006/table">
            <a:tbl>
              <a:tblPr/>
              <a:tblGrid>
                <a:gridCol w="7791450"/>
                <a:gridCol w="3181350"/>
              </a:tblGrid>
              <a:tr h="676275">
                <a:tc>
                  <a:txBody>
                    <a:bodyPr>
                      <a:noAutofit/>
                    </a:bodyPr>
                    <a:lstStyle/>
                    <a:p>
                      <a:r>
                        <a:rPr sz="2325" b="1">
                          <a:solidFill>
                            <a:srgbClr val="151515"/>
                          </a:solidFill>
                          <a:latin typeface="Arial"/>
                          <a:ea typeface="Arial"/>
                          <a:cs typeface="Arial"/>
                        </a:rPr>
                        <a:t>Componente</a:t>
                      </a:r>
                    </a:p>
                  </a:txBody>
                  <a:tcPr marL="91440" marR="91440" marT="45720" marB="45720" anchor="ctr">
                    <a:solidFill>
                      <a:srgbClr val="EEEEEE"/>
                    </a:solidFill>
                  </a:tcPr>
                </a:tc>
                <a:tc>
                  <a:txBody>
                    <a:bodyPr>
                      <a:noAutofit/>
                    </a:bodyPr>
                    <a:lstStyle/>
                    <a:p>
                      <a:r>
                        <a:rPr sz="2325" b="1">
                          <a:solidFill>
                            <a:srgbClr val="151515"/>
                          </a:solidFill>
                          <a:latin typeface="Arial"/>
                          <a:ea typeface="Arial"/>
                          <a:cs typeface="Arial"/>
                        </a:rPr>
                        <a:t>Cantidad</a:t>
                      </a:r>
                    </a:p>
                  </a:txBody>
                  <a:tcPr marL="91440" marR="91440" marT="45720" marB="45720" anchor="ctr">
                    <a:solidFill>
                      <a:srgbClr val="EEEEEE"/>
                    </a:solidFill>
                  </a:tcPr>
                </a:tc>
              </a:tr>
              <a:tr h="676275">
                <a:tc>
                  <a:txBody>
                    <a:bodyPr>
                      <a:noAutofit/>
                    </a:bodyPr>
                    <a:lstStyle/>
                    <a:p>
                      <a:r>
                        <a:rPr sz="2325" b="0">
                          <a:solidFill>
                            <a:srgbClr val="151515"/>
                          </a:solidFill>
                          <a:latin typeface="Arial"/>
                          <a:ea typeface="Arial"/>
                          <a:cs typeface="Arial"/>
                        </a:rPr>
                        <a:t>Puntos existentes reutilizados</a:t>
                      </a:r>
                    </a:p>
                  </a:txBody>
                  <a:tcPr marL="91440" marR="91440" marT="45720" marB="45720" anchor="ctr">
                    <a:solidFill>
                      <a:srgbClr val="FFFFFF"/>
                    </a:solidFill>
                  </a:tcPr>
                </a:tc>
                <a:tc>
                  <a:txBody>
                    <a:bodyPr>
                      <a:noAutofit/>
                    </a:bodyPr>
                    <a:lstStyle/>
                    <a:p>
                      <a:r>
                        <a:rPr sz="2325" b="0">
                          <a:solidFill>
                            <a:srgbClr val="151515"/>
                          </a:solidFill>
                          <a:latin typeface="Arial"/>
                          <a:ea typeface="Arial"/>
                          <a:cs typeface="Arial"/>
                        </a:rPr>
                        <a:t>58</a:t>
                      </a:r>
                    </a:p>
                  </a:txBody>
                  <a:tcPr marL="91440" marR="91440" marT="45720" marB="45720" anchor="ctr">
                    <a:solidFill>
                      <a:srgbClr val="FFFFFF"/>
                    </a:solidFill>
                  </a:tcPr>
                </a:tc>
              </a:tr>
              <a:tr h="676275">
                <a:tc>
                  <a:txBody>
                    <a:bodyPr>
                      <a:noAutofit/>
                    </a:bodyPr>
                    <a:lstStyle/>
                    <a:p>
                      <a:r>
                        <a:rPr sz="2325" b="0">
                          <a:solidFill>
                            <a:srgbClr val="151515"/>
                          </a:solidFill>
                          <a:latin typeface="Arial"/>
                          <a:ea typeface="Arial"/>
                          <a:cs typeface="Arial"/>
                        </a:rPr>
                        <a:t>Puntos faltantes resueltos</a:t>
                      </a:r>
                    </a:p>
                  </a:txBody>
                  <a:tcPr marL="91440" marR="91440" marT="45720" marB="45720" anchor="ctr">
                    <a:solidFill>
                      <a:srgbClr val="FFFFFF"/>
                    </a:solidFill>
                  </a:tcPr>
                </a:tc>
                <a:tc>
                  <a:txBody>
                    <a:bodyPr>
                      <a:noAutofit/>
                    </a:bodyPr>
                    <a:lstStyle/>
                    <a:p>
                      <a:r>
                        <a:rPr sz="2325" b="0">
                          <a:solidFill>
                            <a:srgbClr val="151515"/>
                          </a:solidFill>
                          <a:latin typeface="Arial"/>
                          <a:ea typeface="Arial"/>
                          <a:cs typeface="Arial"/>
                        </a:rPr>
                        <a:t>6</a:t>
                      </a:r>
                    </a:p>
                  </a:txBody>
                  <a:tcPr marL="91440" marR="91440" marT="45720" marB="45720" anchor="ctr">
                    <a:solidFill>
                      <a:srgbClr val="FFFFFF"/>
                    </a:solidFill>
                  </a:tcPr>
                </a:tc>
              </a:tr>
              <a:tr h="676275">
                <a:tc>
                  <a:txBody>
                    <a:bodyPr>
                      <a:noAutofit/>
                    </a:bodyPr>
                    <a:lstStyle/>
                    <a:p>
                      <a:r>
                        <a:rPr sz="2325" b="0">
                          <a:solidFill>
                            <a:srgbClr val="151515"/>
                          </a:solidFill>
                          <a:latin typeface="Arial"/>
                          <a:ea typeface="Arial"/>
                          <a:cs typeface="Arial"/>
                        </a:rPr>
                        <a:t>Controles nuevos</a:t>
                      </a:r>
                    </a:p>
                  </a:txBody>
                  <a:tcPr marL="91440" marR="91440" marT="45720" marB="45720" anchor="ctr">
                    <a:solidFill>
                      <a:srgbClr val="FFFFFF"/>
                    </a:solidFill>
                  </a:tcPr>
                </a:tc>
                <a:tc>
                  <a:txBody>
                    <a:bodyPr>
                      <a:noAutofit/>
                    </a:bodyPr>
                    <a:lstStyle/>
                    <a:p>
                      <a:r>
                        <a:rPr sz="2325" b="0">
                          <a:solidFill>
                            <a:srgbClr val="151515"/>
                          </a:solidFill>
                          <a:latin typeface="Arial"/>
                          <a:ea typeface="Arial"/>
                          <a:cs typeface="Arial"/>
                        </a:rPr>
                        <a:t>3</a:t>
                      </a:r>
                    </a:p>
                  </a:txBody>
                  <a:tcPr marL="91440" marR="91440" marT="45720" marB="45720" anchor="ctr">
                    <a:solidFill>
                      <a:srgbClr val="FFFFFF"/>
                    </a:solidFill>
                  </a:tcPr>
                </a:tc>
              </a:tr>
              <a:tr h="676275">
                <a:tc>
                  <a:txBody>
                    <a:bodyPr>
                      <a:noAutofit/>
                    </a:bodyPr>
                    <a:lstStyle/>
                    <a:p>
                      <a:r>
                        <a:rPr sz="2325" b="0">
                          <a:solidFill>
                            <a:srgbClr val="151515"/>
                          </a:solidFill>
                          <a:latin typeface="Arial"/>
                          <a:ea typeface="Arial"/>
                          <a:cs typeface="Arial"/>
                        </a:rPr>
                        <a:t>Combinaciones de la rejilla completa</a:t>
                      </a:r>
                    </a:p>
                  </a:txBody>
                  <a:tcPr marL="91440" marR="91440" marT="45720" marB="45720" anchor="ctr">
                    <a:solidFill>
                      <a:srgbClr val="FFFFFF"/>
                    </a:solidFill>
                  </a:tcPr>
                </a:tc>
                <a:tc>
                  <a:txBody>
                    <a:bodyPr>
                      <a:noAutofit/>
                    </a:bodyPr>
                    <a:lstStyle/>
                    <a:p>
                      <a:r>
                        <a:rPr sz="2325" b="0">
                          <a:solidFill>
                            <a:srgbClr val="151515"/>
                          </a:solidFill>
                          <a:latin typeface="Arial"/>
                          <a:ea typeface="Arial"/>
                          <a:cs typeface="Arial"/>
                        </a:rPr>
                        <a:t>64</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D21D0A3C-A013-479A-8797-5396D4C9FD67}"/>
              </a:ext>
            </a:extLst>
          </p:cNvPr>
          <p:cNvSpPr>
            <a:spLocks xmlns:a="http://schemas.openxmlformats.org/drawingml/2006/main" noGrp="1"/>
          </p:cNvSpPr>
          <p:nvPr/>
        </p:nvSpPr>
        <p:spPr>
          <a:xfrm xmlns:a="http://schemas.openxmlformats.org/drawingml/2006/main">
            <a:off x="685800" y="5314950"/>
            <a:ext cx="10668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151515"/>
                </a:solidFill>
                <a:latin typeface="Arial"/>
                <a:ea typeface="Arial"/>
                <a:cs typeface="Arial"/>
              </a:defRPr>
            </a:defPPr>
          </a:lstStyle>
          <a:p xmlns:a="http://schemas.openxmlformats.org/drawingml/2006/main">
            <a:pPr>
              <a:lnSpc>
                <a:spcPct val="112000"/>
              </a:lnSpc>
              <a:buNone/>
              <a:defRPr sz="2325" b="1">
                <a:solidFill>
                  <a:srgbClr val="151515"/>
                </a:solidFill>
                <a:latin typeface="Arial"/>
                <a:ea typeface="Arial"/>
                <a:cs typeface="Arial"/>
              </a:defRPr>
            </a:pPr>
            <a:r>
              <a:rPr sz="2325" b="1">
                <a:solidFill>
                  <a:srgbClr val="151515"/>
                </a:solidFill>
                <a:latin typeface="Arial"/>
                <a:ea typeface="Arial"/>
                <a:cs typeface="Arial"/>
              </a:rPr>
              <a:t>Los grupos originales se mantienen. La rama 12 sigue excluida</a:t>
            </a:r>
          </a:p>
        </p:txBody>
      </p:sp>
    </p:spTree>
    <p:extLst>
      <p:ext uri="{BB962C8B-B14F-4D97-AF65-F5344CB8AC3E}">
        <p14:creationId xmlns:p14="http://schemas.microsoft.com/office/powerpoint/2010/main" val="150712945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DA2BCC4-EF58-44C0-8E98-7E571BD1F54F}"/>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Intervalos observados en la rejilla completa</a:t>
            </a:r>
          </a:p>
        </p:txBody>
      </p:sp>
      <p:sp>
        <p:nvSpPr>
          <p:cNvPr id="2" name="">
            <a:extLst xmlns:a="http://schemas.openxmlformats.org/drawingml/2006/main">
              <a:ext uri="{FF2B5EF4-FFF2-40B4-BE49-F238E27FC236}">
                <a16:creationId xmlns:a16="http://schemas.microsoft.com/office/drawing/2014/main" id="{9D0F5A53-FDD5-410A-A8F9-9FC401645E66}"/>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15</a:t>
            </a:r>
          </a:p>
        </p:txBody>
      </p:sp>
      <p:graphicFrame>
        <p:nvGraphicFramePr>
          <p:cNvPr id="3" name="">
            <a:extLst xmlns:a="http://schemas.openxmlformats.org/drawingml/2006/main">
              <a:ext uri="{FF2B5EF4-FFF2-40B4-BE49-F238E27FC236}">
                <a16:creationId xmlns:a16="http://schemas.microsoft.com/office/drawing/2014/main" id="{933C2188-13A0-4EFE-B81E-4BAE076012A1}"/>
              </a:ext>
            </a:extLst>
          </p:cNvPr>
          <p:cNvGraphicFramePr/>
          <p:nvPr/>
        </p:nvGraphicFramePr>
        <p:xfrm>
          <a:off xmlns:a="http://schemas.openxmlformats.org/drawingml/2006/main" x="609600" y="1504950"/>
          <a:ext xmlns:a="http://schemas.openxmlformats.org/drawingml/2006/main" cx="10972800" cy="3638550"/>
        </p:xfrm>
        <a:graphic xmlns:a="http://schemas.openxmlformats.org/drawingml/2006/main">
          <a:graphicData uri="http://schemas.openxmlformats.org/drawingml/2006/table">
            <a:tbl>
              <a:tblPr/>
              <a:tblGrid>
                <a:gridCol w="1866900"/>
                <a:gridCol w="3038475"/>
                <a:gridCol w="3038475"/>
                <a:gridCol w="3028950"/>
              </a:tblGrid>
              <a:tr h="519793">
                <a:tc>
                  <a:txBody>
                    <a:bodyPr>
                      <a:noAutofit/>
                    </a:bodyPr>
                    <a:lstStyle/>
                    <a:p>
                      <a:r>
                        <a:rPr sz="2250" b="1">
                          <a:solidFill>
                            <a:srgbClr val="151515"/>
                          </a:solidFill>
                          <a:latin typeface="Arial"/>
                          <a:ea typeface="Arial"/>
                          <a:cs typeface="Arial"/>
                        </a:rPr>
                        <a:t>Grupo</a:t>
                      </a:r>
                    </a:p>
                  </a:txBody>
                  <a:tcPr marL="91440" marR="91440" marT="45720" marB="45720" anchor="ctr">
                    <a:solidFill>
                      <a:srgbClr val="EEEEEE"/>
                    </a:solidFill>
                  </a:tcPr>
                </a:tc>
                <a:tc>
                  <a:txBody>
                    <a:bodyPr>
                      <a:noAutofit/>
                    </a:bodyPr>
                    <a:lstStyle/>
                    <a:p>
                      <a:r>
                        <a:rPr sz="2250" b="1">
                          <a:solidFill>
                            <a:srgbClr val="151515"/>
                          </a:solidFill>
                          <a:latin typeface="Arial"/>
                          <a:ea typeface="Arial"/>
                          <a:cs typeface="Arial"/>
                        </a:rPr>
                        <a:t>Nominal [Hz]</a:t>
                      </a:r>
                    </a:p>
                  </a:txBody>
                  <a:tcPr marL="91440" marR="91440" marT="45720" marB="45720" anchor="ctr">
                    <a:solidFill>
                      <a:srgbClr val="EEEEEE"/>
                    </a:solidFill>
                  </a:tcPr>
                </a:tc>
                <a:tc>
                  <a:txBody>
                    <a:bodyPr>
                      <a:noAutofit/>
                    </a:bodyPr>
                    <a:lstStyle/>
                    <a:p>
                      <a:r>
                        <a:rPr sz="2250" b="1">
                          <a:solidFill>
                            <a:srgbClr val="151515"/>
                          </a:solidFill>
                          <a:latin typeface="Arial"/>
                          <a:ea typeface="Arial"/>
                          <a:cs typeface="Arial"/>
                        </a:rPr>
                        <a:t>Mínimo [Hz]</a:t>
                      </a:r>
                    </a:p>
                  </a:txBody>
                  <a:tcPr marL="91440" marR="91440" marT="45720" marB="45720" anchor="ctr">
                    <a:solidFill>
                      <a:srgbClr val="EEEEEE"/>
                    </a:solidFill>
                  </a:tcPr>
                </a:tc>
                <a:tc>
                  <a:txBody>
                    <a:bodyPr>
                      <a:noAutofit/>
                    </a:bodyPr>
                    <a:lstStyle/>
                    <a:p>
                      <a:r>
                        <a:rPr sz="2250" b="1">
                          <a:solidFill>
                            <a:srgbClr val="151515"/>
                          </a:solidFill>
                          <a:latin typeface="Arial"/>
                          <a:ea typeface="Arial"/>
                          <a:cs typeface="Arial"/>
                        </a:rPr>
                        <a:t>Máximo [Hz]</a:t>
                      </a:r>
                    </a:p>
                  </a:txBody>
                  <a:tcPr marL="91440" marR="91440" marT="45720" marB="45720" anchor="ctr">
                    <a:solidFill>
                      <a:srgbClr val="EEEEEE"/>
                    </a:solidFill>
                  </a:tcPr>
                </a:tc>
              </a:tr>
              <a:tr h="519793">
                <a:tc>
                  <a:txBody>
                    <a:bodyPr>
                      <a:noAutofit/>
                    </a:bodyPr>
                    <a:lstStyle/>
                    <a:p>
                      <a:r>
                        <a:rPr sz="2250" b="0">
                          <a:solidFill>
                            <a:srgbClr val="151515"/>
                          </a:solidFill>
                          <a:latin typeface="Arial"/>
                          <a:ea typeface="Arial"/>
                          <a:cs typeface="Arial"/>
                        </a:rPr>
                        <a:t>1+2</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0.158</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0.152</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0.162</a:t>
                      </a:r>
                    </a:p>
                  </a:txBody>
                  <a:tcPr marL="91440" marR="91440" marT="45720" marB="45720" anchor="ctr">
                    <a:solidFill>
                      <a:srgbClr val="FFFFFF"/>
                    </a:solidFill>
                  </a:tcPr>
                </a:tc>
              </a:tr>
              <a:tr h="519793">
                <a:tc>
                  <a:txBody>
                    <a:bodyPr>
                      <a:noAutofit/>
                    </a:bodyPr>
                    <a:lstStyle/>
                    <a:p>
                      <a:r>
                        <a:rPr sz="2250" b="0">
                          <a:solidFill>
                            <a:srgbClr val="151515"/>
                          </a:solidFill>
                          <a:latin typeface="Arial"/>
                          <a:ea typeface="Arial"/>
                          <a:cs typeface="Arial"/>
                        </a:rPr>
                        <a:t>3</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0.231</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0.205</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0.263</a:t>
                      </a:r>
                    </a:p>
                  </a:txBody>
                  <a:tcPr marL="91440" marR="91440" marT="45720" marB="45720" anchor="ctr">
                    <a:solidFill>
                      <a:srgbClr val="FFFFFF"/>
                    </a:solidFill>
                  </a:tcPr>
                </a:tc>
              </a:tr>
              <a:tr h="519793">
                <a:tc>
                  <a:txBody>
                    <a:bodyPr>
                      <a:noAutofit/>
                    </a:bodyPr>
                    <a:lstStyle/>
                    <a:p>
                      <a:r>
                        <a:rPr sz="2250" b="0">
                          <a:solidFill>
                            <a:srgbClr val="151515"/>
                          </a:solidFill>
                          <a:latin typeface="Arial"/>
                          <a:ea typeface="Arial"/>
                          <a:cs typeface="Arial"/>
                        </a:rPr>
                        <a:t>4+5</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0.409</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0.365</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0.457</a:t>
                      </a:r>
                    </a:p>
                  </a:txBody>
                  <a:tcPr marL="91440" marR="91440" marT="45720" marB="45720" anchor="ctr">
                    <a:solidFill>
                      <a:srgbClr val="FFFFFF"/>
                    </a:solidFill>
                  </a:tcPr>
                </a:tc>
              </a:tr>
              <a:tr h="519793">
                <a:tc>
                  <a:txBody>
                    <a:bodyPr>
                      <a:noAutofit/>
                    </a:bodyPr>
                    <a:lstStyle/>
                    <a:p>
                      <a:r>
                        <a:rPr sz="2250" b="0">
                          <a:solidFill>
                            <a:srgbClr val="151515"/>
                          </a:solidFill>
                          <a:latin typeface="Arial"/>
                          <a:ea typeface="Arial"/>
                          <a:cs typeface="Arial"/>
                        </a:rPr>
                        <a:t>6+7</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0.587</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0.536</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0.641</a:t>
                      </a:r>
                    </a:p>
                  </a:txBody>
                  <a:tcPr marL="91440" marR="91440" marT="45720" marB="45720" anchor="ctr">
                    <a:solidFill>
                      <a:srgbClr val="FFFFFF"/>
                    </a:solidFill>
                  </a:tcPr>
                </a:tc>
              </a:tr>
              <a:tr h="519793">
                <a:tc>
                  <a:txBody>
                    <a:bodyPr>
                      <a:noAutofit/>
                    </a:bodyPr>
                    <a:lstStyle/>
                    <a:p>
                      <a:r>
                        <a:rPr sz="2250" b="0">
                          <a:solidFill>
                            <a:srgbClr val="151515"/>
                          </a:solidFill>
                          <a:latin typeface="Arial"/>
                          <a:ea typeface="Arial"/>
                          <a:cs typeface="Arial"/>
                        </a:rPr>
                        <a:t>8+9</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0.844</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0.771</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0.923</a:t>
                      </a:r>
                    </a:p>
                  </a:txBody>
                  <a:tcPr marL="91440" marR="91440" marT="45720" marB="45720" anchor="ctr">
                    <a:solidFill>
                      <a:srgbClr val="FFFFFF"/>
                    </a:solidFill>
                  </a:tcPr>
                </a:tc>
              </a:tr>
              <a:tr h="519793">
                <a:tc>
                  <a:txBody>
                    <a:bodyPr>
                      <a:noAutofit/>
                    </a:bodyPr>
                    <a:lstStyle/>
                    <a:p>
                      <a:r>
                        <a:rPr sz="2250" b="0">
                          <a:solidFill>
                            <a:srgbClr val="151515"/>
                          </a:solidFill>
                          <a:latin typeface="Arial"/>
                          <a:ea typeface="Arial"/>
                          <a:cs typeface="Arial"/>
                        </a:rPr>
                        <a:t>10+11</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1.225</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1.116</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1.342</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00D55A39-5994-438F-91AA-0D3EFCA37047}"/>
              </a:ext>
            </a:extLst>
          </p:cNvPr>
          <p:cNvSpPr>
            <a:spLocks xmlns:a="http://schemas.openxmlformats.org/drawingml/2006/main" noGrp="1"/>
          </p:cNvSpPr>
          <p:nvPr/>
        </p:nvSpPr>
        <p:spPr>
          <a:xfrm xmlns:a="http://schemas.openxmlformats.org/drawingml/2006/main">
            <a:off x="647700" y="56197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444444"/>
                </a:solidFill>
                <a:latin typeface="Arial"/>
                <a:ea typeface="Arial"/>
                <a:cs typeface="Arial"/>
              </a:defRPr>
            </a:defPPr>
          </a:lstStyle>
          <a:p xmlns:a="http://schemas.openxmlformats.org/drawingml/2006/main">
            <a:pPr>
              <a:lnSpc>
                <a:spcPct val="112000"/>
              </a:lnSpc>
              <a:buNone/>
              <a:defRPr sz="1800" b="0">
                <a:solidFill>
                  <a:srgbClr val="444444"/>
                </a:solidFill>
                <a:latin typeface="Arial"/>
                <a:ea typeface="Arial"/>
                <a:cs typeface="Arial"/>
              </a:defRPr>
            </a:pPr>
            <a:r>
              <a:rPr sz="1800" b="0">
                <a:solidFill>
                  <a:srgbClr val="444444"/>
                </a:solidFill>
                <a:latin typeface="Arial"/>
                <a:ea typeface="Arial"/>
                <a:cs typeface="Arial"/>
              </a:rPr>
              <a:t>Los intervalos describen escenarios calculados dentro de los rangos aprobados</a:t>
            </a:r>
          </a:p>
        </p:txBody>
      </p:sp>
    </p:spTree>
    <p:extLst>
      <p:ext uri="{BB962C8B-B14F-4D97-AF65-F5344CB8AC3E}">
        <p14:creationId xmlns:p14="http://schemas.microsoft.com/office/powerpoint/2010/main" val="154741289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75EFBF7-FBC6-4044-AF1D-EE0F42B63344}"/>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Compensación parcial entre masa y rigidez</a:t>
            </a:r>
          </a:p>
        </p:txBody>
      </p:sp>
      <p:sp>
        <p:nvSpPr>
          <p:cNvPr id="2" name="">
            <a:extLst xmlns:a="http://schemas.openxmlformats.org/drawingml/2006/main">
              <a:ext uri="{FF2B5EF4-FFF2-40B4-BE49-F238E27FC236}">
                <a16:creationId xmlns:a16="http://schemas.microsoft.com/office/drawing/2014/main" id="{97549931-81D2-43D1-BB63-9EA701683A17}"/>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16</a:t>
            </a:r>
          </a:p>
        </p:txBody>
      </p:sp>
      <p:pic>
        <p:nvPicPr>
          <p:cNvPr id="3" name="">
            <a:extLst xmlns:a="http://schemas.openxmlformats.org/drawingml/2006/main">
              <a:ext uri="{FF2B5EF4-FFF2-40B4-BE49-F238E27FC236}">
                <a16:creationId xmlns:a16="http://schemas.microsoft.com/office/drawing/2014/main" id="{25292F22-EBA1-4DF7-890D-3B8FF36697FF}"/>
              </a:ext>
            </a:extLst>
          </p:cNvPr>
          <p:cNvPicPr>
            <a:picLocks xmlns:a="http://schemas.openxmlformats.org/drawingml/2006/main" noChangeAspect="1"/>
          </p:cNvPicPr>
          <p:nvPr/>
        </p:nvPicPr>
        <p:blipFill>
          <a:blip xmlns:r="http://schemas.openxmlformats.org/officeDocument/2006/relationships" xmlns:a="http://schemas.openxmlformats.org/drawingml/2006/main" r:embed="R78fca3ef6cec485d"/>
          <a:stretch xmlns:a="http://schemas.openxmlformats.org/drawingml/2006/main"/>
        </p:blipFill>
        <p:spPr>
          <a:xfrm xmlns:a="http://schemas.openxmlformats.org/drawingml/2006/main">
            <a:off x="609600" y="1608956"/>
            <a:ext cx="10972800" cy="3925838"/>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2434902-A6E0-4FF9-93A3-0F9A1FE7374E}"/>
              </a:ext>
            </a:extLst>
          </p:cNvPr>
          <p:cNvSpPr>
            <a:spLocks xmlns:a="http://schemas.openxmlformats.org/drawingml/2006/main" noGrp="1"/>
          </p:cNvSpPr>
          <p:nvPr/>
        </p:nvSpPr>
        <p:spPr>
          <a:xfrm xmlns:a="http://schemas.openxmlformats.org/drawingml/2006/main">
            <a:off x="647700" y="6010275"/>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444444"/>
                </a:solidFill>
                <a:latin typeface="Arial"/>
                <a:ea typeface="Arial"/>
                <a:cs typeface="Arial"/>
              </a:defRPr>
            </a:defPPr>
          </a:lstStyle>
          <a:p xmlns:a="http://schemas.openxmlformats.org/drawingml/2006/main">
            <a:pPr>
              <a:lnSpc>
                <a:spcPct val="112000"/>
              </a:lnSpc>
              <a:buNone/>
              <a:defRPr sz="1800" b="0">
                <a:solidFill>
                  <a:srgbClr val="444444"/>
                </a:solidFill>
                <a:latin typeface="Arial"/>
                <a:ea typeface="Arial"/>
                <a:cs typeface="Arial"/>
              </a:defRPr>
            </a:pPr>
            <a:r>
              <a:rPr sz="1800" b="0">
                <a:solidFill>
                  <a:srgbClr val="444444"/>
                </a:solidFill>
                <a:latin typeface="Arial"/>
                <a:ea typeface="Arial"/>
                <a:cs typeface="Arial"/>
              </a:rPr>
              <a:t>Variación diagonal: 0.40–0.42 % de f₀ entre factores iguales 0.90 y 1.10</a:t>
            </a:r>
          </a:p>
        </p:txBody>
      </p:sp>
    </p:spTree>
    <p:extLst>
      <p:ext uri="{BB962C8B-B14F-4D97-AF65-F5344CB8AC3E}">
        <p14:creationId xmlns:p14="http://schemas.microsoft.com/office/powerpoint/2010/main" val="1285162049"/>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47B0F30-472B-4461-9EA2-8AEF6F273546}"/>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Contraste de efectos combinados</a:t>
            </a:r>
          </a:p>
        </p:txBody>
      </p:sp>
      <p:sp>
        <p:nvSpPr>
          <p:cNvPr id="2" name="">
            <a:extLst xmlns:a="http://schemas.openxmlformats.org/drawingml/2006/main">
              <a:ext uri="{FF2B5EF4-FFF2-40B4-BE49-F238E27FC236}">
                <a16:creationId xmlns:a16="http://schemas.microsoft.com/office/drawing/2014/main" id="{5F0EB1D4-8618-42E2-9BEC-215B5ED6824F}"/>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17</a:t>
            </a:r>
          </a:p>
        </p:txBody>
      </p:sp>
      <p:sp>
        <p:nvSpPr>
          <p:cNvPr id="3" name="">
            <a:extLst xmlns:a="http://schemas.openxmlformats.org/drawingml/2006/main">
              <a:ext uri="{FF2B5EF4-FFF2-40B4-BE49-F238E27FC236}">
                <a16:creationId xmlns:a16="http://schemas.microsoft.com/office/drawing/2014/main" id="{14BE246D-B6F1-44DC-988A-C68FC063591C}"/>
              </a:ext>
            </a:extLst>
          </p:cNvPr>
          <p:cNvSpPr>
            <a:spLocks xmlns:a="http://schemas.openxmlformats.org/drawingml/2006/main" noGrp="1"/>
          </p:cNvSpPr>
          <p:nvPr/>
        </p:nvSpPr>
        <p:spPr>
          <a:xfrm xmlns:a="http://schemas.openxmlformats.org/drawingml/2006/main">
            <a:off x="781050" y="14478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Iᵢⱼ = f₊₊ − f₊₋ − f₋₊ + f₋₋</a:t>
            </a:r>
          </a:p>
        </p:txBody>
      </p:sp>
      <p:graphicFrame>
        <p:nvGraphicFramePr>
          <p:cNvPr id="4" name="">
            <a:extLst xmlns:a="http://schemas.openxmlformats.org/drawingml/2006/main">
              <a:ext uri="{FF2B5EF4-FFF2-40B4-BE49-F238E27FC236}">
                <a16:creationId xmlns:a16="http://schemas.microsoft.com/office/drawing/2014/main" id="{EE9E35B2-A478-4AAC-BB19-F8D57C318A0E}"/>
              </a:ext>
            </a:extLst>
          </p:cNvPr>
          <p:cNvGraphicFramePr/>
          <p:nvPr/>
        </p:nvGraphicFramePr>
        <p:xfrm>
          <a:off xmlns:a="http://schemas.openxmlformats.org/drawingml/2006/main" x="609600" y="2667000"/>
          <a:ext xmlns:a="http://schemas.openxmlformats.org/drawingml/2006/main" cx="10972800" cy="2695575"/>
        </p:xfrm>
        <a:graphic xmlns:a="http://schemas.openxmlformats.org/drawingml/2006/main">
          <a:graphicData uri="http://schemas.openxmlformats.org/drawingml/2006/table">
            <a:tbl>
              <a:tblPr/>
              <a:tblGrid>
                <a:gridCol w="3714750"/>
                <a:gridCol w="2781300"/>
                <a:gridCol w="2047875"/>
                <a:gridCol w="2428875"/>
              </a:tblGrid>
              <a:tr h="673894">
                <a:tc>
                  <a:txBody>
                    <a:bodyPr>
                      <a:noAutofit/>
                    </a:bodyPr>
                    <a:lstStyle/>
                    <a:p>
                      <a:r>
                        <a:rPr sz="1950" b="1">
                          <a:solidFill>
                            <a:srgbClr val="151515"/>
                          </a:solidFill>
                          <a:latin typeface="Arial"/>
                          <a:ea typeface="Arial"/>
                          <a:cs typeface="Arial"/>
                        </a:rPr>
                        <a:t>Par en 10+11</a:t>
                      </a:r>
                    </a:p>
                  </a:txBody>
                  <a:tcPr marL="91440" marR="91440" marT="45720" marB="45720" anchor="ctr">
                    <a:solidFill>
                      <a:srgbClr val="EEEEEE"/>
                    </a:solidFill>
                  </a:tcPr>
                </a:tc>
                <a:tc>
                  <a:txBody>
                    <a:bodyPr>
                      <a:noAutofit/>
                    </a:bodyPr>
                    <a:lstStyle/>
                    <a:p>
                      <a:r>
                        <a:rPr sz="1950" b="1">
                          <a:solidFill>
                            <a:srgbClr val="151515"/>
                          </a:solidFill>
                          <a:latin typeface="Arial"/>
                          <a:ea typeface="Arial"/>
                          <a:cs typeface="Arial"/>
                        </a:rPr>
                        <a:t>|I| [Hz]</a:t>
                      </a:r>
                    </a:p>
                  </a:txBody>
                  <a:tcPr marL="91440" marR="91440" marT="45720" marB="45720" anchor="ctr">
                    <a:solidFill>
                      <a:srgbClr val="EEEEEE"/>
                    </a:solidFill>
                  </a:tcPr>
                </a:tc>
                <a:tc>
                  <a:txBody>
                    <a:bodyPr>
                      <a:noAutofit/>
                    </a:bodyPr>
                    <a:lstStyle/>
                    <a:p>
                      <a:r>
                        <a:rPr sz="1950" b="1">
                          <a:solidFill>
                            <a:srgbClr val="151515"/>
                          </a:solidFill>
                          <a:latin typeface="Arial"/>
                          <a:ea typeface="Arial"/>
                          <a:cs typeface="Arial"/>
                        </a:rPr>
                        <a:t>Señal / b</a:t>
                      </a:r>
                    </a:p>
                  </a:txBody>
                  <a:tcPr marL="91440" marR="91440" marT="45720" marB="45720" anchor="ctr">
                    <a:solidFill>
                      <a:srgbClr val="EEEEEE"/>
                    </a:solidFill>
                  </a:tcPr>
                </a:tc>
                <a:tc>
                  <a:txBody>
                    <a:bodyPr>
                      <a:noAutofit/>
                    </a:bodyPr>
                    <a:lstStyle/>
                    <a:p>
                      <a:r>
                        <a:rPr sz="1950" b="1">
                          <a:solidFill>
                            <a:srgbClr val="151515"/>
                          </a:solidFill>
                          <a:latin typeface="Arial"/>
                          <a:ea typeface="Arial"/>
                          <a:cs typeface="Arial"/>
                        </a:rPr>
                        <a:t>Lectura</a:t>
                      </a:r>
                    </a:p>
                  </a:txBody>
                  <a:tcPr marL="91440" marR="91440" marT="45720" marB="45720" anchor="ctr">
                    <a:solidFill>
                      <a:srgbClr val="EEEEEE"/>
                    </a:solidFill>
                  </a:tcPr>
                </a:tc>
              </a:tr>
              <a:tr h="673894">
                <a:tc>
                  <a:txBody>
                    <a:bodyPr>
                      <a:noAutofit/>
                    </a:bodyPr>
                    <a:lstStyle/>
                    <a:p>
                      <a:r>
                        <a:rPr sz="1950" b="0">
                          <a:solidFill>
                            <a:srgbClr val="151515"/>
                          </a:solidFill>
                          <a:latin typeface="Arial"/>
                          <a:ea typeface="Arial"/>
                          <a:cs typeface="Arial"/>
                        </a:rPr>
                        <a:t>Masa–rigidez</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0.00926–0.00940</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26.5–26.9</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Supera el umbral</a:t>
                      </a:r>
                    </a:p>
                  </a:txBody>
                  <a:tcPr marL="91440" marR="91440" marT="45720" marB="45720" anchor="ctr">
                    <a:solidFill>
                      <a:srgbClr val="FFFFFF"/>
                    </a:solidFill>
                  </a:tcPr>
                </a:tc>
              </a:tr>
              <a:tr h="673894">
                <a:tc>
                  <a:txBody>
                    <a:bodyPr>
                      <a:noAutofit/>
                    </a:bodyPr>
                    <a:lstStyle/>
                    <a:p>
                      <a:r>
                        <a:rPr sz="1950" b="0">
                          <a:solidFill>
                            <a:srgbClr val="151515"/>
                          </a:solidFill>
                          <a:latin typeface="Arial"/>
                          <a:ea typeface="Arial"/>
                          <a:cs typeface="Arial"/>
                        </a:rPr>
                        <a:t>Masa–velocidad</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0.00356–0.00362</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10.2–10.3</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Apenas sobre el umbral</a:t>
                      </a:r>
                    </a:p>
                  </a:txBody>
                  <a:tcPr marL="91440" marR="91440" marT="45720" marB="45720" anchor="ctr">
                    <a:solidFill>
                      <a:srgbClr val="FFFFFF"/>
                    </a:solidFill>
                  </a:tcPr>
                </a:tc>
              </a:tr>
              <a:tr h="673894">
                <a:tc>
                  <a:txBody>
                    <a:bodyPr>
                      <a:noAutofit/>
                    </a:bodyPr>
                    <a:lstStyle/>
                    <a:p>
                      <a:r>
                        <a:rPr sz="1950" b="0">
                          <a:solidFill>
                            <a:srgbClr val="151515"/>
                          </a:solidFill>
                          <a:latin typeface="Arial"/>
                          <a:ea typeface="Arial"/>
                          <a:cs typeface="Arial"/>
                        </a:rPr>
                        <a:t>Rigidez–velocidad</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0.00331–0.00342</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9.5–9.8</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No resuelto</a:t>
                      </a:r>
                    </a:p>
                  </a:txBody>
                  <a:tcPr marL="91440" marR="91440" marT="45720" marB="4572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0DC58D63-5B01-4A3A-841B-7860595B9AA4}"/>
              </a:ext>
            </a:extLst>
          </p:cNvPr>
          <p:cNvSpPr>
            <a:spLocks xmlns:a="http://schemas.openxmlformats.org/drawingml/2006/main" noGrp="1"/>
          </p:cNvSpPr>
          <p:nvPr/>
        </p:nvSpPr>
        <p:spPr>
          <a:xfrm xmlns:a="http://schemas.openxmlformats.org/drawingml/2006/main">
            <a:off x="647700" y="57340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444444"/>
                </a:solidFill>
                <a:latin typeface="Arial"/>
                <a:ea typeface="Arial"/>
                <a:cs typeface="Arial"/>
              </a:defRPr>
            </a:defPPr>
          </a:lstStyle>
          <a:p xmlns:a="http://schemas.openxmlformats.org/drawingml/2006/main">
            <a:pPr>
              <a:lnSpc>
                <a:spcPct val="112000"/>
              </a:lnSpc>
              <a:buNone/>
              <a:defRPr sz="1800" b="0">
                <a:solidFill>
                  <a:srgbClr val="444444"/>
                </a:solidFill>
                <a:latin typeface="Arial"/>
                <a:ea typeface="Arial"/>
                <a:cs typeface="Arial"/>
              </a:defRPr>
            </a:pPr>
            <a:r>
              <a:rPr sz="1800" b="0">
                <a:solidFill>
                  <a:srgbClr val="444444"/>
                </a:solidFill>
                <a:latin typeface="Arial"/>
                <a:ea typeface="Arial"/>
                <a:cs typeface="Arial"/>
              </a:rPr>
              <a:t>Umbral empírico: 10. Cada par se examina con cuatro valores del tercer factor</a:t>
            </a:r>
          </a:p>
        </p:txBody>
      </p:sp>
    </p:spTree>
    <p:extLst>
      <p:ext uri="{BB962C8B-B14F-4D97-AF65-F5344CB8AC3E}">
        <p14:creationId xmlns:p14="http://schemas.microsoft.com/office/powerpoint/2010/main" val="1748530475"/>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D9A5270-8CA0-461D-AB87-38B8A2FD40D0}"/>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Efectos combinados del grupo 10+11</a:t>
            </a:r>
          </a:p>
        </p:txBody>
      </p:sp>
      <p:sp>
        <p:nvSpPr>
          <p:cNvPr id="2" name="">
            <a:extLst xmlns:a="http://schemas.openxmlformats.org/drawingml/2006/main">
              <a:ext uri="{FF2B5EF4-FFF2-40B4-BE49-F238E27FC236}">
                <a16:creationId xmlns:a16="http://schemas.microsoft.com/office/drawing/2014/main" id="{07678758-3705-45CC-B1CF-9C923A250E1A}"/>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18</a:t>
            </a:r>
          </a:p>
        </p:txBody>
      </p:sp>
      <p:pic>
        <p:nvPicPr>
          <p:cNvPr id="3" name="">
            <a:extLst xmlns:a="http://schemas.openxmlformats.org/drawingml/2006/main">
              <a:ext uri="{FF2B5EF4-FFF2-40B4-BE49-F238E27FC236}">
                <a16:creationId xmlns:a16="http://schemas.microsoft.com/office/drawing/2014/main" id="{A81C42D8-3F85-482E-A98F-E22A32542843}"/>
              </a:ext>
            </a:extLst>
          </p:cNvPr>
          <p:cNvPicPr>
            <a:picLocks xmlns:a="http://schemas.openxmlformats.org/drawingml/2006/main" noChangeAspect="1"/>
          </p:cNvPicPr>
          <p:nvPr/>
        </p:nvPicPr>
        <p:blipFill>
          <a:blip xmlns:r="http://schemas.openxmlformats.org/officeDocument/2006/relationships" xmlns:a="http://schemas.openxmlformats.org/drawingml/2006/main" r:embed="Rcce80cc32fe4464d"/>
          <a:stretch xmlns:a="http://schemas.openxmlformats.org/drawingml/2006/main"/>
        </p:blipFill>
        <p:spPr>
          <a:xfrm xmlns:a="http://schemas.openxmlformats.org/drawingml/2006/main">
            <a:off x="609600" y="2028722"/>
            <a:ext cx="10972800" cy="308630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ABAE97C-8A12-4189-A295-B6F1D06E7E03}"/>
              </a:ext>
            </a:extLst>
          </p:cNvPr>
          <p:cNvSpPr>
            <a:spLocks xmlns:a="http://schemas.openxmlformats.org/drawingml/2006/main" noGrp="1"/>
          </p:cNvSpPr>
          <p:nvPr/>
        </p:nvSpPr>
        <p:spPr>
          <a:xfrm xmlns:a="http://schemas.openxmlformats.org/drawingml/2006/main">
            <a:off x="647700" y="6010275"/>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444444"/>
                </a:solidFill>
                <a:latin typeface="Arial"/>
                <a:ea typeface="Arial"/>
                <a:cs typeface="Arial"/>
              </a:defRPr>
            </a:defPPr>
          </a:lstStyle>
          <a:p xmlns:a="http://schemas.openxmlformats.org/drawingml/2006/main">
            <a:pPr>
              <a:lnSpc>
                <a:spcPct val="112000"/>
              </a:lnSpc>
              <a:buNone/>
              <a:defRPr sz="1800" b="0">
                <a:solidFill>
                  <a:srgbClr val="444444"/>
                </a:solidFill>
                <a:latin typeface="Arial"/>
                <a:ea typeface="Arial"/>
                <a:cs typeface="Arial"/>
              </a:defRPr>
            </a:pPr>
            <a:r>
              <a:rPr sz="1800" b="0">
                <a:solidFill>
                  <a:srgbClr val="444444"/>
                </a:solidFill>
                <a:latin typeface="Arial"/>
                <a:ea typeface="Arial"/>
                <a:cs typeface="Arial"/>
              </a:rPr>
              <a:t>Masa–rigidez: −0.756 a −0.767 % de f₀, con contraste resuelto</a:t>
            </a:r>
          </a:p>
        </p:txBody>
      </p:sp>
    </p:spTree>
    <p:extLst>
      <p:ext uri="{BB962C8B-B14F-4D97-AF65-F5344CB8AC3E}">
        <p14:creationId xmlns:p14="http://schemas.microsoft.com/office/powerpoint/2010/main" val="1709182849"/>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9947557-720E-4501-9FB3-F3AFBEBBDB17}"/>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Conclusiones respaldadas</a:t>
            </a:r>
          </a:p>
        </p:txBody>
      </p:sp>
      <p:sp>
        <p:nvSpPr>
          <p:cNvPr id="2" name="">
            <a:extLst xmlns:a="http://schemas.openxmlformats.org/drawingml/2006/main">
              <a:ext uri="{FF2B5EF4-FFF2-40B4-BE49-F238E27FC236}">
                <a16:creationId xmlns:a16="http://schemas.microsoft.com/office/drawing/2014/main" id="{CF2E637A-057D-4FD8-AE59-BBDB9194FB37}"/>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19</a:t>
            </a:r>
          </a:p>
        </p:txBody>
      </p:sp>
      <p:sp>
        <p:nvSpPr>
          <p:cNvPr id="3" name="">
            <a:extLst xmlns:a="http://schemas.openxmlformats.org/drawingml/2006/main">
              <a:ext uri="{FF2B5EF4-FFF2-40B4-BE49-F238E27FC236}">
                <a16:creationId xmlns:a16="http://schemas.microsoft.com/office/drawing/2014/main" id="{AC2CE279-540C-4D8F-A45F-79DBA9C3EDAC}"/>
              </a:ext>
            </a:extLst>
          </p:cNvPr>
          <p:cNvSpPr>
            <a:spLocks xmlns:a="http://schemas.openxmlformats.org/drawingml/2006/main" noGrp="1"/>
          </p:cNvSpPr>
          <p:nvPr/>
        </p:nvSpPr>
        <p:spPr>
          <a:xfrm xmlns:a="http://schemas.openxmlformats.org/drawingml/2006/main">
            <a:off x="685800" y="1438275"/>
            <a:ext cx="1057275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75" b="0">
                <a:solidFill>
                  <a:srgbClr val="151515"/>
                </a:solidFill>
                <a:latin typeface="Arial"/>
                <a:ea typeface="Arial"/>
                <a:cs typeface="Arial"/>
              </a:defRPr>
            </a:defPPr>
          </a:lstStyle>
          <a:p xmlns:a="http://schemas.openxmlformats.org/drawingml/2006/main">
            <a:pPr>
              <a:lnSpc>
                <a:spcPct val="112000"/>
              </a:lnSpc>
              <a:buNone/>
              <a:defRPr sz="2475" b="0">
                <a:solidFill>
                  <a:srgbClr val="151515"/>
                </a:solidFill>
                <a:latin typeface="Arial"/>
                <a:ea typeface="Arial"/>
                <a:cs typeface="Arial"/>
              </a:defRPr>
            </a:pPr>
            <a:r>
              <a:rPr sz="2475" b="0">
                <a:solidFill>
                  <a:srgbClr val="151515"/>
                </a:solidFill>
                <a:latin typeface="Arial"/>
                <a:ea typeface="Arial"/>
                <a:cs typeface="Arial"/>
              </a:rPr>
              <a:t>Masa/inercia domina 3, 4+5, 8+9 y 10+11 entre los tres factores</a:t>
            </a:r>
          </a:p>
        </p:txBody>
      </p:sp>
      <p:sp>
        <p:nvSpPr>
          <p:cNvPr id="4" name="">
            <a:extLst xmlns:a="http://schemas.openxmlformats.org/drawingml/2006/main">
              <a:ext uri="{FF2B5EF4-FFF2-40B4-BE49-F238E27FC236}">
                <a16:creationId xmlns:a16="http://schemas.microsoft.com/office/drawing/2014/main" id="{43C532CE-2BAC-4D48-A171-B8D5A4B747D0}"/>
              </a:ext>
            </a:extLst>
          </p:cNvPr>
          <p:cNvSpPr>
            <a:spLocks xmlns:a="http://schemas.openxmlformats.org/drawingml/2006/main" noGrp="1"/>
          </p:cNvSpPr>
          <p:nvPr/>
        </p:nvSpPr>
        <p:spPr>
          <a:xfrm xmlns:a="http://schemas.openxmlformats.org/drawingml/2006/main">
            <a:off x="685800" y="2533650"/>
            <a:ext cx="1057275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75" b="0">
                <a:solidFill>
                  <a:srgbClr val="151515"/>
                </a:solidFill>
                <a:latin typeface="Arial"/>
                <a:ea typeface="Arial"/>
                <a:cs typeface="Arial"/>
              </a:defRPr>
            </a:defPPr>
          </a:lstStyle>
          <a:p xmlns:a="http://schemas.openxmlformats.org/drawingml/2006/main">
            <a:pPr>
              <a:lnSpc>
                <a:spcPct val="112000"/>
              </a:lnSpc>
              <a:buNone/>
              <a:defRPr sz="2475" b="0">
                <a:solidFill>
                  <a:srgbClr val="151515"/>
                </a:solidFill>
                <a:latin typeface="Arial"/>
                <a:ea typeface="Arial"/>
                <a:cs typeface="Arial"/>
              </a:defRPr>
            </a:pPr>
            <a:r>
              <a:rPr sz="2475" b="0">
                <a:solidFill>
                  <a:srgbClr val="151515"/>
                </a:solidFill>
                <a:latin typeface="Arial"/>
                <a:ea typeface="Arial"/>
                <a:cs typeface="Arial"/>
              </a:rPr>
              <a:t>Velocidad domina 6+7 y su efecto cambia de signo según el grupo</a:t>
            </a:r>
          </a:p>
        </p:txBody>
      </p:sp>
      <p:sp>
        <p:nvSpPr>
          <p:cNvPr id="5" name="">
            <a:extLst xmlns:a="http://schemas.openxmlformats.org/drawingml/2006/main">
              <a:ext uri="{FF2B5EF4-FFF2-40B4-BE49-F238E27FC236}">
                <a16:creationId xmlns:a16="http://schemas.microsoft.com/office/drawing/2014/main" id="{270FC31F-5042-49CA-86B7-BA724E87FE02}"/>
              </a:ext>
            </a:extLst>
          </p:cNvPr>
          <p:cNvSpPr>
            <a:spLocks xmlns:a="http://schemas.openxmlformats.org/drawingml/2006/main" noGrp="1"/>
          </p:cNvSpPr>
          <p:nvPr/>
        </p:nvSpPr>
        <p:spPr>
          <a:xfrm xmlns:a="http://schemas.openxmlformats.org/drawingml/2006/main">
            <a:off x="685800" y="3629025"/>
            <a:ext cx="1057275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75" b="0">
                <a:solidFill>
                  <a:srgbClr val="151515"/>
                </a:solidFill>
                <a:latin typeface="Arial"/>
                <a:ea typeface="Arial"/>
                <a:cs typeface="Arial"/>
              </a:defRPr>
            </a:defPPr>
          </a:lstStyle>
          <a:p xmlns:a="http://schemas.openxmlformats.org/drawingml/2006/main">
            <a:pPr>
              <a:lnSpc>
                <a:spcPct val="112000"/>
              </a:lnSpc>
              <a:buNone/>
              <a:defRPr sz="2475" b="0">
                <a:solidFill>
                  <a:srgbClr val="151515"/>
                </a:solidFill>
                <a:latin typeface="Arial"/>
                <a:ea typeface="Arial"/>
                <a:cs typeface="Arial"/>
              </a:defRPr>
            </a:pPr>
            <a:r>
              <a:rPr sz="2475" b="0">
                <a:solidFill>
                  <a:srgbClr val="151515"/>
                </a:solidFill>
                <a:latin typeface="Arial"/>
                <a:ea typeface="Arial"/>
                <a:cs typeface="Arial"/>
              </a:rPr>
              <a:t>Masa y rigidez pueden compensar parcialmente una frecuencia</a:t>
            </a:r>
          </a:p>
        </p:txBody>
      </p:sp>
      <p:sp>
        <p:nvSpPr>
          <p:cNvPr id="6" name="">
            <a:extLst xmlns:a="http://schemas.openxmlformats.org/drawingml/2006/main">
              <a:ext uri="{FF2B5EF4-FFF2-40B4-BE49-F238E27FC236}">
                <a16:creationId xmlns:a16="http://schemas.microsoft.com/office/drawing/2014/main" id="{7B48314D-30F7-436E-9763-876283900F45}"/>
              </a:ext>
            </a:extLst>
          </p:cNvPr>
          <p:cNvSpPr>
            <a:spLocks xmlns:a="http://schemas.openxmlformats.org/drawingml/2006/main" noGrp="1"/>
          </p:cNvSpPr>
          <p:nvPr/>
        </p:nvSpPr>
        <p:spPr>
          <a:xfrm xmlns:a="http://schemas.openxmlformats.org/drawingml/2006/main">
            <a:off x="685800" y="4724400"/>
            <a:ext cx="1057275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75" b="0">
                <a:solidFill>
                  <a:srgbClr val="151515"/>
                </a:solidFill>
                <a:latin typeface="Arial"/>
                <a:ea typeface="Arial"/>
                <a:cs typeface="Arial"/>
              </a:defRPr>
            </a:defPPr>
          </a:lstStyle>
          <a:p xmlns:a="http://schemas.openxmlformats.org/drawingml/2006/main">
            <a:pPr>
              <a:lnSpc>
                <a:spcPct val="112000"/>
              </a:lnSpc>
              <a:buNone/>
              <a:defRPr sz="2475" b="0">
                <a:solidFill>
                  <a:srgbClr val="151515"/>
                </a:solidFill>
                <a:latin typeface="Arial"/>
                <a:ea typeface="Arial"/>
                <a:cs typeface="Arial"/>
              </a:defRPr>
            </a:pPr>
            <a:r>
              <a:rPr sz="2475" b="0">
                <a:solidFill>
                  <a:srgbClr val="151515"/>
                </a:solidFill>
                <a:latin typeface="Arial"/>
                <a:ea typeface="Arial"/>
                <a:cs typeface="Arial"/>
              </a:rPr>
              <a:t>10+11 presenta un contraste masa–rigidez numéricamente resuelto</a:t>
            </a:r>
          </a:p>
        </p:txBody>
      </p:sp>
    </p:spTree>
    <p:extLst>
      <p:ext uri="{BB962C8B-B14F-4D97-AF65-F5344CB8AC3E}">
        <p14:creationId xmlns:p14="http://schemas.microsoft.com/office/powerpoint/2010/main" val="49063198"/>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120728F-B249-4EE4-8497-F95F3C729AF6}"/>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Límites de interpretación</a:t>
            </a:r>
          </a:p>
        </p:txBody>
      </p:sp>
      <p:sp>
        <p:nvSpPr>
          <p:cNvPr id="2" name="">
            <a:extLst xmlns:a="http://schemas.openxmlformats.org/drawingml/2006/main">
              <a:ext uri="{FF2B5EF4-FFF2-40B4-BE49-F238E27FC236}">
                <a16:creationId xmlns:a16="http://schemas.microsoft.com/office/drawing/2014/main" id="{F7B30B13-29D0-41D9-B1A3-FCDC36F6A57D}"/>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20</a:t>
            </a:r>
          </a:p>
        </p:txBody>
      </p:sp>
      <p:sp>
        <p:nvSpPr>
          <p:cNvPr id="3" name="">
            <a:extLst xmlns:a="http://schemas.openxmlformats.org/drawingml/2006/main">
              <a:ext uri="{FF2B5EF4-FFF2-40B4-BE49-F238E27FC236}">
                <a16:creationId xmlns:a16="http://schemas.microsoft.com/office/drawing/2014/main" id="{55CC38C7-2FD2-499E-B220-53A13D9065C3}"/>
              </a:ext>
            </a:extLst>
          </p:cNvPr>
          <p:cNvSpPr>
            <a:spLocks xmlns:a="http://schemas.openxmlformats.org/drawingml/2006/main" noGrp="1"/>
          </p:cNvSpPr>
          <p:nvPr/>
        </p:nvSpPr>
        <p:spPr>
          <a:xfrm xmlns:a="http://schemas.openxmlformats.org/drawingml/2006/main">
            <a:off x="685800" y="1524000"/>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75" b="0">
                <a:solidFill>
                  <a:srgbClr val="151515"/>
                </a:solidFill>
                <a:latin typeface="Arial"/>
                <a:ea typeface="Arial"/>
                <a:cs typeface="Arial"/>
              </a:defRPr>
            </a:defPPr>
          </a:lstStyle>
          <a:p xmlns:a="http://schemas.openxmlformats.org/drawingml/2006/main">
            <a:pPr>
              <a:lnSpc>
                <a:spcPct val="112000"/>
              </a:lnSpc>
              <a:buNone/>
              <a:defRPr sz="2475" b="0">
                <a:solidFill>
                  <a:srgbClr val="151515"/>
                </a:solidFill>
                <a:latin typeface="Arial"/>
                <a:ea typeface="Arial"/>
                <a:cs typeface="Arial"/>
              </a:defRPr>
            </a:pPr>
            <a:r>
              <a:rPr sz="2475" b="0">
                <a:solidFill>
                  <a:srgbClr val="151515"/>
                </a:solidFill>
                <a:latin typeface="Arial"/>
                <a:ea typeface="Arial"/>
                <a:cs typeface="Arial"/>
              </a:rPr>
              <a:t>Los rangos de entrada son escenarios exploratorios</a:t>
            </a:r>
          </a:p>
        </p:txBody>
      </p:sp>
      <p:sp>
        <p:nvSpPr>
          <p:cNvPr id="4" name="">
            <a:extLst xmlns:a="http://schemas.openxmlformats.org/drawingml/2006/main">
              <a:ext uri="{FF2B5EF4-FFF2-40B4-BE49-F238E27FC236}">
                <a16:creationId xmlns:a16="http://schemas.microsoft.com/office/drawing/2014/main" id="{4F865EA4-172B-4FFC-B469-019304AB67EA}"/>
              </a:ext>
            </a:extLst>
          </p:cNvPr>
          <p:cNvSpPr>
            <a:spLocks xmlns:a="http://schemas.openxmlformats.org/drawingml/2006/main" noGrp="1"/>
          </p:cNvSpPr>
          <p:nvPr/>
        </p:nvSpPr>
        <p:spPr>
          <a:xfrm xmlns:a="http://schemas.openxmlformats.org/drawingml/2006/main">
            <a:off x="685800" y="2571750"/>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75" b="0">
                <a:solidFill>
                  <a:srgbClr val="151515"/>
                </a:solidFill>
                <a:latin typeface="Arial"/>
                <a:ea typeface="Arial"/>
                <a:cs typeface="Arial"/>
              </a:defRPr>
            </a:defPPr>
          </a:lstStyle>
          <a:p xmlns:a="http://schemas.openxmlformats.org/drawingml/2006/main">
            <a:pPr>
              <a:lnSpc>
                <a:spcPct val="112000"/>
              </a:lnSpc>
              <a:buNone/>
              <a:defRPr sz="2475" b="0">
                <a:solidFill>
                  <a:srgbClr val="151515"/>
                </a:solidFill>
                <a:latin typeface="Arial"/>
                <a:ea typeface="Arial"/>
                <a:cs typeface="Arial"/>
              </a:defRPr>
            </a:pPr>
            <a:r>
              <a:rPr sz="2475" b="0">
                <a:solidFill>
                  <a:srgbClr val="151515"/>
                </a:solidFill>
                <a:latin typeface="Arial"/>
                <a:ea typeface="Arial"/>
                <a:cs typeface="Arial"/>
              </a:rPr>
              <a:t>El análisis representa un azimut fijo y un espectro parcial</a:t>
            </a:r>
          </a:p>
        </p:txBody>
      </p:sp>
      <p:sp>
        <p:nvSpPr>
          <p:cNvPr id="5" name="">
            <a:extLst xmlns:a="http://schemas.openxmlformats.org/drawingml/2006/main">
              <a:ext uri="{FF2B5EF4-FFF2-40B4-BE49-F238E27FC236}">
                <a16:creationId xmlns:a16="http://schemas.microsoft.com/office/drawing/2014/main" id="{4437DA2D-806B-4830-AFBD-60C1BD5D3267}"/>
              </a:ext>
            </a:extLst>
          </p:cNvPr>
          <p:cNvSpPr>
            <a:spLocks xmlns:a="http://schemas.openxmlformats.org/drawingml/2006/main" noGrp="1"/>
          </p:cNvSpPr>
          <p:nvPr/>
        </p:nvSpPr>
        <p:spPr>
          <a:xfrm xmlns:a="http://schemas.openxmlformats.org/drawingml/2006/main">
            <a:off x="685800" y="3619500"/>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75" b="0">
                <a:solidFill>
                  <a:srgbClr val="151515"/>
                </a:solidFill>
                <a:latin typeface="Arial"/>
                <a:ea typeface="Arial"/>
                <a:cs typeface="Arial"/>
              </a:defRPr>
            </a:defPPr>
          </a:lstStyle>
          <a:p xmlns:a="http://schemas.openxmlformats.org/drawingml/2006/main">
            <a:pPr>
              <a:lnSpc>
                <a:spcPct val="112000"/>
              </a:lnSpc>
              <a:buNone/>
              <a:defRPr sz="2475" b="0">
                <a:solidFill>
                  <a:srgbClr val="151515"/>
                </a:solidFill>
                <a:latin typeface="Arial"/>
                <a:ea typeface="Arial"/>
                <a:cs typeface="Arial"/>
              </a:defRPr>
            </a:pPr>
            <a:r>
              <a:rPr sz="2475" b="0">
                <a:solidFill>
                  <a:srgbClr val="151515"/>
                </a:solidFill>
                <a:latin typeface="Arial"/>
                <a:ea typeface="Arial"/>
                <a:cs typeface="Arial"/>
              </a:rPr>
              <a:t>La convergencia espacial en operación sigue pendiente</a:t>
            </a:r>
          </a:p>
        </p:txBody>
      </p:sp>
      <p:sp>
        <p:nvSpPr>
          <p:cNvPr id="6" name="">
            <a:extLst xmlns:a="http://schemas.openxmlformats.org/drawingml/2006/main">
              <a:ext uri="{FF2B5EF4-FFF2-40B4-BE49-F238E27FC236}">
                <a16:creationId xmlns:a16="http://schemas.microsoft.com/office/drawing/2014/main" id="{8F84BD31-2DF0-48A1-89A6-7D8D35FCFAF2}"/>
              </a:ext>
            </a:extLst>
          </p:cNvPr>
          <p:cNvSpPr>
            <a:spLocks xmlns:a="http://schemas.openxmlformats.org/drawingml/2006/main" noGrp="1"/>
          </p:cNvSpPr>
          <p:nvPr/>
        </p:nvSpPr>
        <p:spPr>
          <a:xfrm xmlns:a="http://schemas.openxmlformats.org/drawingml/2006/main">
            <a:off x="685800" y="4667250"/>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75" b="0">
                <a:solidFill>
                  <a:srgbClr val="151515"/>
                </a:solidFill>
                <a:latin typeface="Arial"/>
                <a:ea typeface="Arial"/>
                <a:cs typeface="Arial"/>
              </a:defRPr>
            </a:defPPr>
          </a:lstStyle>
          <a:p xmlns:a="http://schemas.openxmlformats.org/drawingml/2006/main">
            <a:pPr>
              <a:lnSpc>
                <a:spcPct val="112000"/>
              </a:lnSpc>
              <a:buNone/>
              <a:defRPr sz="2475" b="0">
                <a:solidFill>
                  <a:srgbClr val="151515"/>
                </a:solidFill>
                <a:latin typeface="Arial"/>
                <a:ea typeface="Arial"/>
                <a:cs typeface="Arial"/>
              </a:defRPr>
            </a:pPr>
            <a:r>
              <a:rPr sz="2475" b="0">
                <a:solidFill>
                  <a:srgbClr val="151515"/>
                </a:solidFill>
                <a:latin typeface="Arial"/>
                <a:ea typeface="Arial"/>
                <a:cs typeface="Arial"/>
              </a:rPr>
              <a:t>Los resultados requieren contraste experimental para validación</a:t>
            </a:r>
          </a:p>
        </p:txBody>
      </p:sp>
    </p:spTree>
    <p:extLst>
      <p:ext uri="{BB962C8B-B14F-4D97-AF65-F5344CB8AC3E}">
        <p14:creationId xmlns:p14="http://schemas.microsoft.com/office/powerpoint/2010/main" val="161431261"/>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7202187-B753-412B-A412-90BBE0804B0B}"/>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Decisiones para la siguiente etapa</a:t>
            </a:r>
          </a:p>
        </p:txBody>
      </p:sp>
      <p:sp>
        <p:nvSpPr>
          <p:cNvPr id="2" name="">
            <a:extLst xmlns:a="http://schemas.openxmlformats.org/drawingml/2006/main">
              <a:ext uri="{FF2B5EF4-FFF2-40B4-BE49-F238E27FC236}">
                <a16:creationId xmlns:a16="http://schemas.microsoft.com/office/drawing/2014/main" id="{71CF6FAF-178F-4FC6-87A3-AB2AF54ACBBA}"/>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21</a:t>
            </a:r>
          </a:p>
        </p:txBody>
      </p:sp>
      <p:sp>
        <p:nvSpPr>
          <p:cNvPr id="3" name="">
            <a:extLst xmlns:a="http://schemas.openxmlformats.org/drawingml/2006/main">
              <a:ext uri="{FF2B5EF4-FFF2-40B4-BE49-F238E27FC236}">
                <a16:creationId xmlns:a16="http://schemas.microsoft.com/office/drawing/2014/main" id="{E9E24E86-8AC8-4FE1-93D0-EC07E88FF910}"/>
              </a:ext>
            </a:extLst>
          </p:cNvPr>
          <p:cNvSpPr>
            <a:spLocks xmlns:a="http://schemas.openxmlformats.org/drawingml/2006/main" noGrp="1"/>
          </p:cNvSpPr>
          <p:nvPr/>
        </p:nvSpPr>
        <p:spPr>
          <a:xfrm xmlns:a="http://schemas.openxmlformats.org/drawingml/2006/main">
            <a:off x="685800" y="1504950"/>
            <a:ext cx="105727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75" b="0">
                <a:solidFill>
                  <a:srgbClr val="151515"/>
                </a:solidFill>
                <a:latin typeface="Arial"/>
                <a:ea typeface="Arial"/>
                <a:cs typeface="Arial"/>
              </a:defRPr>
            </a:defPPr>
          </a:lstStyle>
          <a:p xmlns:a="http://schemas.openxmlformats.org/drawingml/2006/main">
            <a:pPr>
              <a:lnSpc>
                <a:spcPct val="112000"/>
              </a:lnSpc>
              <a:buNone/>
              <a:defRPr sz="2475" b="0">
                <a:solidFill>
                  <a:srgbClr val="151515"/>
                </a:solidFill>
                <a:latin typeface="Arial"/>
                <a:ea typeface="Arial"/>
                <a:cs typeface="Arial"/>
              </a:defRPr>
            </a:pPr>
            <a:r>
              <a:rPr sz="2475" b="0">
                <a:solidFill>
                  <a:srgbClr val="151515"/>
                </a:solidFill>
                <a:latin typeface="Arial"/>
                <a:ea typeface="Arial"/>
                <a:cs typeface="Arial"/>
              </a:rPr>
              <a:t>Justificar rangos físicos con fuentes o mediciones</a:t>
            </a:r>
          </a:p>
        </p:txBody>
      </p:sp>
      <p:sp>
        <p:nvSpPr>
          <p:cNvPr id="4" name="">
            <a:extLst xmlns:a="http://schemas.openxmlformats.org/drawingml/2006/main">
              <a:ext uri="{FF2B5EF4-FFF2-40B4-BE49-F238E27FC236}">
                <a16:creationId xmlns:a16="http://schemas.microsoft.com/office/drawing/2014/main" id="{79A59674-E610-45D0-879A-5C6E0B38F4B7}"/>
              </a:ext>
            </a:extLst>
          </p:cNvPr>
          <p:cNvSpPr>
            <a:spLocks xmlns:a="http://schemas.openxmlformats.org/drawingml/2006/main" noGrp="1"/>
          </p:cNvSpPr>
          <p:nvPr/>
        </p:nvSpPr>
        <p:spPr>
          <a:xfrm xmlns:a="http://schemas.openxmlformats.org/drawingml/2006/main">
            <a:off x="685800" y="2562225"/>
            <a:ext cx="105727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75" b="0">
                <a:solidFill>
                  <a:srgbClr val="151515"/>
                </a:solidFill>
                <a:latin typeface="Arial"/>
                <a:ea typeface="Arial"/>
                <a:cs typeface="Arial"/>
              </a:defRPr>
            </a:defPPr>
          </a:lstStyle>
          <a:p xmlns:a="http://schemas.openxmlformats.org/drawingml/2006/main">
            <a:pPr>
              <a:lnSpc>
                <a:spcPct val="112000"/>
              </a:lnSpc>
              <a:buNone/>
              <a:defRPr sz="2475" b="0">
                <a:solidFill>
                  <a:srgbClr val="151515"/>
                </a:solidFill>
                <a:latin typeface="Arial"/>
                <a:ea typeface="Arial"/>
                <a:cs typeface="Arial"/>
              </a:defRPr>
            </a:pPr>
            <a:r>
              <a:rPr sz="2475" b="0">
                <a:solidFill>
                  <a:srgbClr val="151515"/>
                </a:solidFill>
                <a:latin typeface="Arial"/>
                <a:ea typeface="Arial"/>
                <a:cs typeface="Arial"/>
              </a:rPr>
              <a:t>Verificar frecuencias y sensibilidades con refinamiento en operación</a:t>
            </a:r>
          </a:p>
        </p:txBody>
      </p:sp>
      <p:sp>
        <p:nvSpPr>
          <p:cNvPr id="5" name="">
            <a:extLst xmlns:a="http://schemas.openxmlformats.org/drawingml/2006/main">
              <a:ext uri="{FF2B5EF4-FFF2-40B4-BE49-F238E27FC236}">
                <a16:creationId xmlns:a16="http://schemas.microsoft.com/office/drawing/2014/main" id="{F5B68BC5-F541-4EC8-8456-51722A73708A}"/>
              </a:ext>
            </a:extLst>
          </p:cNvPr>
          <p:cNvSpPr>
            <a:spLocks xmlns:a="http://schemas.openxmlformats.org/drawingml/2006/main" noGrp="1"/>
          </p:cNvSpPr>
          <p:nvPr/>
        </p:nvSpPr>
        <p:spPr>
          <a:xfrm xmlns:a="http://schemas.openxmlformats.org/drawingml/2006/main">
            <a:off x="685800" y="3619500"/>
            <a:ext cx="105727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75" b="0">
                <a:solidFill>
                  <a:srgbClr val="151515"/>
                </a:solidFill>
                <a:latin typeface="Arial"/>
                <a:ea typeface="Arial"/>
                <a:cs typeface="Arial"/>
              </a:defRPr>
            </a:defPPr>
          </a:lstStyle>
          <a:p xmlns:a="http://schemas.openxmlformats.org/drawingml/2006/main">
            <a:pPr>
              <a:lnSpc>
                <a:spcPct val="112000"/>
              </a:lnSpc>
              <a:buNone/>
              <a:defRPr sz="2475" b="0">
                <a:solidFill>
                  <a:srgbClr val="151515"/>
                </a:solidFill>
                <a:latin typeface="Arial"/>
                <a:ea typeface="Arial"/>
                <a:cs typeface="Arial"/>
              </a:defRPr>
            </a:pPr>
            <a:r>
              <a:rPr sz="2475" b="0">
                <a:solidFill>
                  <a:srgbClr val="151515"/>
                </a:solidFill>
                <a:latin typeface="Arial"/>
                <a:ea typeface="Arial"/>
                <a:cs typeface="Arial"/>
              </a:rPr>
              <a:t>Contrastar varias respuestas para identificar masa y rigidez</a:t>
            </a:r>
          </a:p>
        </p:txBody>
      </p:sp>
      <p:sp>
        <p:nvSpPr>
          <p:cNvPr id="6" name="">
            <a:extLst xmlns:a="http://schemas.openxmlformats.org/drawingml/2006/main">
              <a:ext uri="{FF2B5EF4-FFF2-40B4-BE49-F238E27FC236}">
                <a16:creationId xmlns:a16="http://schemas.microsoft.com/office/drawing/2014/main" id="{8CAAF49C-3B46-4687-B348-844B5205AD71}"/>
              </a:ext>
            </a:extLst>
          </p:cNvPr>
          <p:cNvSpPr>
            <a:spLocks xmlns:a="http://schemas.openxmlformats.org/drawingml/2006/main" noGrp="1"/>
          </p:cNvSpPr>
          <p:nvPr/>
        </p:nvSpPr>
        <p:spPr>
          <a:xfrm xmlns:a="http://schemas.openxmlformats.org/drawingml/2006/main">
            <a:off x="685800" y="4676775"/>
            <a:ext cx="105727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75" b="0">
                <a:solidFill>
                  <a:srgbClr val="151515"/>
                </a:solidFill>
                <a:latin typeface="Arial"/>
                <a:ea typeface="Arial"/>
                <a:cs typeface="Arial"/>
              </a:defRPr>
            </a:defPPr>
          </a:lstStyle>
          <a:p xmlns:a="http://schemas.openxmlformats.org/drawingml/2006/main">
            <a:pPr>
              <a:lnSpc>
                <a:spcPct val="112000"/>
              </a:lnSpc>
              <a:buNone/>
              <a:defRPr sz="2475" b="0">
                <a:solidFill>
                  <a:srgbClr val="151515"/>
                </a:solidFill>
                <a:latin typeface="Arial"/>
                <a:ea typeface="Arial"/>
                <a:cs typeface="Arial"/>
              </a:defRPr>
            </a:pPr>
            <a:r>
              <a:rPr sz="2475" b="0">
                <a:solidFill>
                  <a:srgbClr val="151515"/>
                </a:solidFill>
                <a:latin typeface="Arial"/>
                <a:ea typeface="Arial"/>
                <a:cs typeface="Arial"/>
              </a:rPr>
              <a:t>Acordar el alcance de las afirmaciones sobre estabilidad</a:t>
            </a:r>
          </a:p>
        </p:txBody>
      </p:sp>
    </p:spTree>
    <p:extLst>
      <p:ext uri="{BB962C8B-B14F-4D97-AF65-F5344CB8AC3E}">
        <p14:creationId xmlns:p14="http://schemas.microsoft.com/office/powerpoint/2010/main" val="123672856"/>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92AF9C3-D7F2-4A55-ABEC-D7F967BDA9FF}"/>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Apéndice: curvatura individual y ruido</a:t>
            </a:r>
          </a:p>
        </p:txBody>
      </p:sp>
      <p:sp>
        <p:nvSpPr>
          <p:cNvPr id="2" name="">
            <a:extLst xmlns:a="http://schemas.openxmlformats.org/drawingml/2006/main">
              <a:ext uri="{FF2B5EF4-FFF2-40B4-BE49-F238E27FC236}">
                <a16:creationId xmlns:a16="http://schemas.microsoft.com/office/drawing/2014/main" id="{48F342CD-E2BE-4A8C-BC17-CD40481109AE}"/>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22</a:t>
            </a:r>
          </a:p>
        </p:txBody>
      </p:sp>
      <p:sp>
        <p:nvSpPr>
          <p:cNvPr id="3" name="">
            <a:extLst xmlns:a="http://schemas.openxmlformats.org/drawingml/2006/main">
              <a:ext uri="{FF2B5EF4-FFF2-40B4-BE49-F238E27FC236}">
                <a16:creationId xmlns:a16="http://schemas.microsoft.com/office/drawing/2014/main" id="{2D5A5B1F-FA74-48E6-879D-C2331D693E72}"/>
              </a:ext>
            </a:extLst>
          </p:cNvPr>
          <p:cNvSpPr>
            <a:spLocks xmlns:a="http://schemas.openxmlformats.org/drawingml/2006/main" noGrp="1"/>
          </p:cNvSpPr>
          <p:nvPr/>
        </p:nvSpPr>
        <p:spPr>
          <a:xfrm xmlns:a="http://schemas.openxmlformats.org/drawingml/2006/main">
            <a:off x="781050" y="1428750"/>
            <a:ext cx="10382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151515"/>
                </a:solidFill>
                <a:latin typeface="Arial"/>
                <a:ea typeface="Arial"/>
                <a:cs typeface="Arial"/>
              </a:defRPr>
            </a:defPPr>
          </a:lstStyle>
          <a:p xmlns:a="http://schemas.openxmlformats.org/drawingml/2006/main">
            <a:pPr>
              <a:lnSpc>
                <a:spcPct val="112000"/>
              </a:lnSpc>
              <a:buNone/>
              <a:defRPr sz="3150" b="1">
                <a:solidFill>
                  <a:srgbClr val="151515"/>
                </a:solidFill>
                <a:latin typeface="Arial"/>
                <a:ea typeface="Arial"/>
                <a:cs typeface="Arial"/>
              </a:defRPr>
            </a:pPr>
            <a:r>
              <a:rPr sz="3150" b="1">
                <a:solidFill>
                  <a:srgbClr val="151515"/>
                </a:solidFill>
                <a:latin typeface="Arial"/>
                <a:ea typeface="Arial"/>
                <a:cs typeface="Arial"/>
              </a:rPr>
              <a:t>Cᵢ = fᵢ₊₁ − 2fᵢ + fᵢ₋₁</a:t>
            </a:r>
          </a:p>
        </p:txBody>
      </p:sp>
      <p:graphicFrame>
        <p:nvGraphicFramePr>
          <p:cNvPr id="4" name="">
            <a:extLst xmlns:a="http://schemas.openxmlformats.org/drawingml/2006/main">
              <a:ext uri="{FF2B5EF4-FFF2-40B4-BE49-F238E27FC236}">
                <a16:creationId xmlns:a16="http://schemas.microsoft.com/office/drawing/2014/main" id="{EB2BD4EB-B070-43A9-8B8E-D971F2CA96FE}"/>
              </a:ext>
            </a:extLst>
          </p:cNvPr>
          <p:cNvGraphicFramePr/>
          <p:nvPr/>
        </p:nvGraphicFramePr>
        <p:xfrm>
          <a:off xmlns:a="http://schemas.openxmlformats.org/drawingml/2006/main" x="609600" y="2638425"/>
          <a:ext xmlns:a="http://schemas.openxmlformats.org/drawingml/2006/main" cx="10972800" cy="2705100"/>
        </p:xfrm>
        <a:graphic xmlns:a="http://schemas.openxmlformats.org/drawingml/2006/main">
          <a:graphicData uri="http://schemas.openxmlformats.org/drawingml/2006/table">
            <a:tbl>
              <a:tblPr/>
              <a:tblGrid>
                <a:gridCol w="5238750"/>
                <a:gridCol w="2400300"/>
                <a:gridCol w="3333750"/>
              </a:tblGrid>
              <a:tr h="676275">
                <a:tc>
                  <a:txBody>
                    <a:bodyPr>
                      <a:noAutofit/>
                    </a:bodyPr>
                    <a:lstStyle/>
                    <a:p>
                      <a:r>
                        <a:rPr sz="2250" b="1">
                          <a:solidFill>
                            <a:srgbClr val="151515"/>
                          </a:solidFill>
                          <a:latin typeface="Arial"/>
                          <a:ea typeface="Arial"/>
                          <a:cs typeface="Arial"/>
                        </a:rPr>
                        <a:t>Factor, grupo 10+11</a:t>
                      </a:r>
                    </a:p>
                  </a:txBody>
                  <a:tcPr marL="91440" marR="91440" marT="45720" marB="45720" anchor="ctr">
                    <a:solidFill>
                      <a:srgbClr val="EEEEEE"/>
                    </a:solidFill>
                  </a:tcPr>
                </a:tc>
                <a:tc>
                  <a:txBody>
                    <a:bodyPr>
                      <a:noAutofit/>
                    </a:bodyPr>
                    <a:lstStyle/>
                    <a:p>
                      <a:r>
                        <a:rPr sz="2250" b="1">
                          <a:solidFill>
                            <a:srgbClr val="151515"/>
                          </a:solidFill>
                          <a:latin typeface="Arial"/>
                          <a:ea typeface="Arial"/>
                          <a:cs typeface="Arial"/>
                        </a:rPr>
                        <a:t>Contrastes</a:t>
                      </a:r>
                    </a:p>
                  </a:txBody>
                  <a:tcPr marL="91440" marR="91440" marT="45720" marB="45720" anchor="ctr">
                    <a:solidFill>
                      <a:srgbClr val="EEEEEE"/>
                    </a:solidFill>
                  </a:tcPr>
                </a:tc>
                <a:tc>
                  <a:txBody>
                    <a:bodyPr>
                      <a:noAutofit/>
                    </a:bodyPr>
                    <a:lstStyle/>
                    <a:p>
                      <a:r>
                        <a:rPr sz="2250" b="1">
                          <a:solidFill>
                            <a:srgbClr val="151515"/>
                          </a:solidFill>
                          <a:latin typeface="Arial"/>
                          <a:ea typeface="Arial"/>
                          <a:cs typeface="Arial"/>
                        </a:rPr>
                        <a:t>Superan el umbral</a:t>
                      </a:r>
                    </a:p>
                  </a:txBody>
                  <a:tcPr marL="91440" marR="91440" marT="45720" marB="45720" anchor="ctr">
                    <a:solidFill>
                      <a:srgbClr val="EEEEEE"/>
                    </a:solidFill>
                  </a:tcPr>
                </a:tc>
              </a:tr>
              <a:tr h="676275">
                <a:tc>
                  <a:txBody>
                    <a:bodyPr>
                      <a:noAutofit/>
                    </a:bodyPr>
                    <a:lstStyle/>
                    <a:p>
                      <a:r>
                        <a:rPr sz="2250" b="0">
                          <a:solidFill>
                            <a:srgbClr val="151515"/>
                          </a:solidFill>
                          <a:latin typeface="Arial"/>
                          <a:ea typeface="Arial"/>
                          <a:cs typeface="Arial"/>
                        </a:rPr>
                        <a:t>Masa/inercia</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32</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6</a:t>
                      </a:r>
                    </a:p>
                  </a:txBody>
                  <a:tcPr marL="91440" marR="91440" marT="45720" marB="45720" anchor="ctr">
                    <a:solidFill>
                      <a:srgbClr val="FFFFFF"/>
                    </a:solidFill>
                  </a:tcPr>
                </a:tc>
              </a:tr>
              <a:tr h="676275">
                <a:tc>
                  <a:txBody>
                    <a:bodyPr>
                      <a:noAutofit/>
                    </a:bodyPr>
                    <a:lstStyle/>
                    <a:p>
                      <a:r>
                        <a:rPr sz="2250" b="0">
                          <a:solidFill>
                            <a:srgbClr val="151515"/>
                          </a:solidFill>
                          <a:latin typeface="Arial"/>
                          <a:ea typeface="Arial"/>
                          <a:cs typeface="Arial"/>
                        </a:rPr>
                        <a:t>Rigidez</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32</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0</a:t>
                      </a:r>
                    </a:p>
                  </a:txBody>
                  <a:tcPr marL="91440" marR="91440" marT="45720" marB="45720" anchor="ctr">
                    <a:solidFill>
                      <a:srgbClr val="FFFFFF"/>
                    </a:solidFill>
                  </a:tcPr>
                </a:tc>
              </a:tr>
              <a:tr h="676275">
                <a:tc>
                  <a:txBody>
                    <a:bodyPr>
                      <a:noAutofit/>
                    </a:bodyPr>
                    <a:lstStyle/>
                    <a:p>
                      <a:r>
                        <a:rPr sz="2250" b="0">
                          <a:solidFill>
                            <a:srgbClr val="151515"/>
                          </a:solidFill>
                          <a:latin typeface="Arial"/>
                          <a:ea typeface="Arial"/>
                          <a:cs typeface="Arial"/>
                        </a:rPr>
                        <a:t>Velocidad</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32</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0</a:t>
                      </a:r>
                    </a:p>
                  </a:txBody>
                  <a:tcPr marL="91440" marR="91440" marT="45720" marB="4572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E31BE9F5-7105-4AAD-AE0A-749BB45E618D}"/>
              </a:ext>
            </a:extLst>
          </p:cNvPr>
          <p:cNvSpPr>
            <a:spLocks xmlns:a="http://schemas.openxmlformats.org/drawingml/2006/main" noGrp="1"/>
          </p:cNvSpPr>
          <p:nvPr/>
        </p:nvSpPr>
        <p:spPr>
          <a:xfrm xmlns:a="http://schemas.openxmlformats.org/drawingml/2006/main">
            <a:off x="647700" y="57340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444444"/>
                </a:solidFill>
                <a:latin typeface="Arial"/>
                <a:ea typeface="Arial"/>
                <a:cs typeface="Arial"/>
              </a:defRPr>
            </a:defPPr>
          </a:lstStyle>
          <a:p xmlns:a="http://schemas.openxmlformats.org/drawingml/2006/main">
            <a:pPr>
              <a:lnSpc>
                <a:spcPct val="112000"/>
              </a:lnSpc>
              <a:buNone/>
              <a:defRPr sz="1800" b="0">
                <a:solidFill>
                  <a:srgbClr val="444444"/>
                </a:solidFill>
                <a:latin typeface="Arial"/>
                <a:ea typeface="Arial"/>
                <a:cs typeface="Arial"/>
              </a:defRPr>
            </a:pPr>
            <a:r>
              <a:rPr sz="1800" b="0">
                <a:solidFill>
                  <a:srgbClr val="444444"/>
                </a:solidFill>
                <a:latin typeface="Arial"/>
                <a:ea typeface="Arial"/>
                <a:cs typeface="Arial"/>
              </a:rPr>
              <a:t>Ausencia de resolución permite conservar la limitación sobre curvatura</a:t>
            </a:r>
          </a:p>
        </p:txBody>
      </p:sp>
    </p:spTree>
    <p:extLst>
      <p:ext uri="{BB962C8B-B14F-4D97-AF65-F5344CB8AC3E}">
        <p14:creationId xmlns:p14="http://schemas.microsoft.com/office/powerpoint/2010/main" val="165849614"/>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7648075-C7D4-4FFD-9734-D9A59E266C4D}"/>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Apéndice: residuos y controles</a:t>
            </a:r>
          </a:p>
        </p:txBody>
      </p:sp>
      <p:sp>
        <p:nvSpPr>
          <p:cNvPr id="2" name="">
            <a:extLst xmlns:a="http://schemas.openxmlformats.org/drawingml/2006/main">
              <a:ext uri="{FF2B5EF4-FFF2-40B4-BE49-F238E27FC236}">
                <a16:creationId xmlns:a16="http://schemas.microsoft.com/office/drawing/2014/main" id="{CEA633A3-EC61-4E01-B335-5E332D79464C}"/>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23</a:t>
            </a:r>
          </a:p>
        </p:txBody>
      </p:sp>
      <p:graphicFrame>
        <p:nvGraphicFramePr>
          <p:cNvPr id="3" name="">
            <a:extLst xmlns:a="http://schemas.openxmlformats.org/drawingml/2006/main">
              <a:ext uri="{FF2B5EF4-FFF2-40B4-BE49-F238E27FC236}">
                <a16:creationId xmlns:a16="http://schemas.microsoft.com/office/drawing/2014/main" id="{E183A87A-FBF2-4B49-A9C9-60A11840B918}"/>
              </a:ext>
            </a:extLst>
          </p:cNvPr>
          <p:cNvGraphicFramePr/>
          <p:nvPr/>
        </p:nvGraphicFramePr>
        <p:xfrm>
          <a:off xmlns:a="http://schemas.openxmlformats.org/drawingml/2006/main" x="609600" y="1504950"/>
          <a:ext xmlns:a="http://schemas.openxmlformats.org/drawingml/2006/main" cx="10972800" cy="3829050"/>
        </p:xfrm>
        <a:graphic xmlns:a="http://schemas.openxmlformats.org/drawingml/2006/main">
          <a:graphicData uri="http://schemas.openxmlformats.org/drawingml/2006/table">
            <a:tbl>
              <a:tblPr/>
              <a:tblGrid>
                <a:gridCol w="7572375"/>
                <a:gridCol w="3400425"/>
              </a:tblGrid>
              <a:tr h="638175">
                <a:tc>
                  <a:txBody>
                    <a:bodyPr>
                      <a:noAutofit/>
                    </a:bodyPr>
                    <a:lstStyle/>
                    <a:p>
                      <a:r>
                        <a:rPr sz="2175" b="1">
                          <a:solidFill>
                            <a:srgbClr val="151515"/>
                          </a:solidFill>
                          <a:latin typeface="Arial"/>
                          <a:ea typeface="Arial"/>
                          <a:cs typeface="Arial"/>
                        </a:rPr>
                        <a:t>Comprobación</a:t>
                      </a:r>
                    </a:p>
                  </a:txBody>
                  <a:tcPr marL="91440" marR="91440" marT="45720" marB="45720" anchor="ctr">
                    <a:solidFill>
                      <a:srgbClr val="EEEEEE"/>
                    </a:solidFill>
                  </a:tcPr>
                </a:tc>
                <a:tc>
                  <a:txBody>
                    <a:bodyPr>
                      <a:noAutofit/>
                    </a:bodyPr>
                    <a:lstStyle/>
                    <a:p>
                      <a:r>
                        <a:rPr sz="2175" b="1">
                          <a:solidFill>
                            <a:srgbClr val="151515"/>
                          </a:solidFill>
                          <a:latin typeface="Arial"/>
                          <a:ea typeface="Arial"/>
                          <a:cs typeface="Arial"/>
                        </a:rPr>
                        <a:t>Resultado</a:t>
                      </a:r>
                    </a:p>
                  </a:txBody>
                  <a:tcPr marL="91440" marR="91440" marT="45720" marB="45720" anchor="ctr">
                    <a:solidFill>
                      <a:srgbClr val="EEEEEE"/>
                    </a:solidFill>
                  </a:tcPr>
                </a:tc>
              </a:tr>
              <a:tr h="638175">
                <a:tc>
                  <a:txBody>
                    <a:bodyPr>
                      <a:noAutofit/>
                    </a:bodyPr>
                    <a:lstStyle/>
                    <a:p>
                      <a:r>
                        <a:rPr sz="2175" b="0">
                          <a:solidFill>
                            <a:srgbClr val="151515"/>
                          </a:solidFill>
                          <a:latin typeface="Arial"/>
                          <a:ea typeface="Arial"/>
                          <a:cs typeface="Arial"/>
                        </a:rPr>
                        <a:t>Residuo de equilibrio máximo</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9.94 × 10⁻⁹</a:t>
                      </a:r>
                    </a:p>
                  </a:txBody>
                  <a:tcPr marL="91440" marR="91440" marT="45720" marB="45720" anchor="ctr">
                    <a:solidFill>
                      <a:srgbClr val="FFFFFF"/>
                    </a:solidFill>
                  </a:tcPr>
                </a:tc>
              </a:tr>
              <a:tr h="638175">
                <a:tc>
                  <a:txBody>
                    <a:bodyPr>
                      <a:noAutofit/>
                    </a:bodyPr>
                    <a:lstStyle/>
                    <a:p>
                      <a:r>
                        <a:rPr sz="2175" b="0">
                          <a:solidFill>
                            <a:srgbClr val="151515"/>
                          </a:solidFill>
                          <a:latin typeface="Arial"/>
                          <a:ea typeface="Arial"/>
                          <a:cs typeface="Arial"/>
                        </a:rPr>
                        <a:t>Residuo QEP dual de masa máximo</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4.05 × 10⁻⁹</a:t>
                      </a:r>
                    </a:p>
                  </a:txBody>
                  <a:tcPr marL="91440" marR="91440" marT="45720" marB="45720" anchor="ctr">
                    <a:solidFill>
                      <a:srgbClr val="FFFFFF"/>
                    </a:solidFill>
                  </a:tcPr>
                </a:tc>
              </a:tr>
              <a:tr h="638175">
                <a:tc>
                  <a:txBody>
                    <a:bodyPr>
                      <a:noAutofit/>
                    </a:bodyPr>
                    <a:lstStyle/>
                    <a:p>
                      <a:r>
                        <a:rPr sz="2175" b="0">
                          <a:solidFill>
                            <a:srgbClr val="151515"/>
                          </a:solidFill>
                          <a:latin typeface="Arial"/>
                          <a:ea typeface="Arial"/>
                          <a:cs typeface="Arial"/>
                        </a:rPr>
                        <a:t>Residuo derecho máximo</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4.93 × 10⁻¹⁶</a:t>
                      </a:r>
                    </a:p>
                  </a:txBody>
                  <a:tcPr marL="91440" marR="91440" marT="45720" marB="45720" anchor="ctr">
                    <a:solidFill>
                      <a:srgbClr val="FFFFFF"/>
                    </a:solidFill>
                  </a:tcPr>
                </a:tc>
              </a:tr>
              <a:tr h="638175">
                <a:tc>
                  <a:txBody>
                    <a:bodyPr>
                      <a:noAutofit/>
                    </a:bodyPr>
                    <a:lstStyle/>
                    <a:p>
                      <a:r>
                        <a:rPr sz="2175" b="0">
                          <a:solidFill>
                            <a:srgbClr val="151515"/>
                          </a:solidFill>
                          <a:latin typeface="Arial"/>
                          <a:ea typeface="Arial"/>
                          <a:cs typeface="Arial"/>
                        </a:rPr>
                        <a:t>Residuo izquierdo máximo</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3.57 × 10⁻¹⁴</a:t>
                      </a:r>
                    </a:p>
                  </a:txBody>
                  <a:tcPr marL="91440" marR="91440" marT="45720" marB="45720" anchor="ctr">
                    <a:solidFill>
                      <a:srgbClr val="FFFFFF"/>
                    </a:solidFill>
                  </a:tcPr>
                </a:tc>
              </a:tr>
              <a:tr h="638175">
                <a:tc>
                  <a:txBody>
                    <a:bodyPr>
                      <a:noAutofit/>
                    </a:bodyPr>
                    <a:lstStyle/>
                    <a:p>
                      <a:r>
                        <a:rPr sz="2175" b="0">
                          <a:solidFill>
                            <a:srgbClr val="151515"/>
                          </a:solidFill>
                          <a:latin typeface="Arial"/>
                          <a:ea typeface="Arial"/>
                          <a:cs typeface="Arial"/>
                        </a:rPr>
                        <a:t>Huellas de fuentes verificadas</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175 sin cambios</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AE6A06B7-6142-4644-8547-E07F380D2A5E}"/>
              </a:ext>
            </a:extLst>
          </p:cNvPr>
          <p:cNvSpPr>
            <a:spLocks xmlns:a="http://schemas.openxmlformats.org/drawingml/2006/main" noGrp="1"/>
          </p:cNvSpPr>
          <p:nvPr/>
        </p:nvSpPr>
        <p:spPr>
          <a:xfrm xmlns:a="http://schemas.openxmlformats.org/drawingml/2006/main">
            <a:off x="647700" y="57340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444444"/>
                </a:solidFill>
                <a:latin typeface="Arial"/>
                <a:ea typeface="Arial"/>
                <a:cs typeface="Arial"/>
              </a:defRPr>
            </a:defPPr>
          </a:lstStyle>
          <a:p xmlns:a="http://schemas.openxmlformats.org/drawingml/2006/main">
            <a:pPr>
              <a:lnSpc>
                <a:spcPct val="112000"/>
              </a:lnSpc>
              <a:buNone/>
              <a:defRPr sz="1800" b="0">
                <a:solidFill>
                  <a:srgbClr val="444444"/>
                </a:solidFill>
                <a:latin typeface="Arial"/>
                <a:ea typeface="Arial"/>
                <a:cs typeface="Arial"/>
              </a:defRPr>
            </a:pPr>
            <a:r>
              <a:rPr sz="1800" b="0">
                <a:solidFill>
                  <a:srgbClr val="444444"/>
                </a:solidFill>
                <a:latin typeface="Arial"/>
                <a:ea typeface="Arial"/>
                <a:cs typeface="Arial"/>
              </a:rPr>
              <a:t>Controles nuevos: repetición nominal, QEP estricto y continuación</a:t>
            </a:r>
          </a:p>
        </p:txBody>
      </p:sp>
    </p:spTree>
    <p:extLst>
      <p:ext uri="{BB962C8B-B14F-4D97-AF65-F5344CB8AC3E}">
        <p14:creationId xmlns:p14="http://schemas.microsoft.com/office/powerpoint/2010/main" val="972414574"/>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9FEBCEE-D48A-4FA5-8373-8A67A47D0ED4}"/>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Apéndice: comparación de secantes</a:t>
            </a:r>
          </a:p>
        </p:txBody>
      </p:sp>
      <p:sp>
        <p:nvSpPr>
          <p:cNvPr id="2" name="">
            <a:extLst xmlns:a="http://schemas.openxmlformats.org/drawingml/2006/main">
              <a:ext uri="{FF2B5EF4-FFF2-40B4-BE49-F238E27FC236}">
                <a16:creationId xmlns:a16="http://schemas.microsoft.com/office/drawing/2014/main" id="{6E1D3917-1AE5-4D39-9CF3-C68ADB8ED9D7}"/>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24</a:t>
            </a:r>
          </a:p>
        </p:txBody>
      </p:sp>
      <p:graphicFrame>
        <p:nvGraphicFramePr>
          <p:cNvPr id="3" name="">
            <a:extLst xmlns:a="http://schemas.openxmlformats.org/drawingml/2006/main">
              <a:ext uri="{FF2B5EF4-FFF2-40B4-BE49-F238E27FC236}">
                <a16:creationId xmlns:a16="http://schemas.microsoft.com/office/drawing/2014/main" id="{B99F7AF8-5681-46D2-946F-A0763E9D8ACD}"/>
              </a:ext>
            </a:extLst>
          </p:cNvPr>
          <p:cNvGraphicFramePr/>
          <p:nvPr/>
        </p:nvGraphicFramePr>
        <p:xfrm>
          <a:off xmlns:a="http://schemas.openxmlformats.org/drawingml/2006/main" x="609600" y="1504950"/>
          <a:ext xmlns:a="http://schemas.openxmlformats.org/drawingml/2006/main" cx="10972800" cy="3476625"/>
        </p:xfrm>
        <a:graphic xmlns:a="http://schemas.openxmlformats.org/drawingml/2006/main">
          <a:graphicData uri="http://schemas.openxmlformats.org/drawingml/2006/table">
            <a:tbl>
              <a:tblPr/>
              <a:tblGrid>
                <a:gridCol w="1524000"/>
                <a:gridCol w="3143250"/>
                <a:gridCol w="2857500"/>
                <a:gridCol w="3448050"/>
              </a:tblGrid>
              <a:tr h="579438">
                <a:tc>
                  <a:txBody>
                    <a:bodyPr>
                      <a:noAutofit/>
                    </a:bodyPr>
                    <a:lstStyle/>
                    <a:p>
                      <a:r>
                        <a:rPr sz="2025" b="1">
                          <a:solidFill>
                            <a:srgbClr val="151515"/>
                          </a:solidFill>
                          <a:latin typeface="Arial"/>
                          <a:ea typeface="Arial"/>
                          <a:cs typeface="Arial"/>
                        </a:rPr>
                        <a:t>Grupo</a:t>
                      </a:r>
                    </a:p>
                  </a:txBody>
                  <a:tcPr marL="91440" marR="91440" marT="45720" marB="45720" anchor="ctr">
                    <a:solidFill>
                      <a:srgbClr val="EEEEEE"/>
                    </a:solidFill>
                  </a:tcPr>
                </a:tc>
                <a:tc>
                  <a:txBody>
                    <a:bodyPr>
                      <a:noAutofit/>
                    </a:bodyPr>
                    <a:lstStyle/>
                    <a:p>
                      <a:r>
                        <a:rPr sz="2025" b="1">
                          <a:solidFill>
                            <a:srgbClr val="151515"/>
                          </a:solidFill>
                          <a:latin typeface="Arial"/>
                          <a:ea typeface="Arial"/>
                          <a:cs typeface="Arial"/>
                        </a:rPr>
                        <a:t>Masa/inercia</a:t>
                      </a:r>
                    </a:p>
                  </a:txBody>
                  <a:tcPr marL="91440" marR="91440" marT="45720" marB="45720" anchor="ctr">
                    <a:solidFill>
                      <a:srgbClr val="EEEEEE"/>
                    </a:solidFill>
                  </a:tcPr>
                </a:tc>
                <a:tc>
                  <a:txBody>
                    <a:bodyPr>
                      <a:noAutofit/>
                    </a:bodyPr>
                    <a:lstStyle/>
                    <a:p>
                      <a:r>
                        <a:rPr sz="2025" b="1">
                          <a:solidFill>
                            <a:srgbClr val="151515"/>
                          </a:solidFill>
                          <a:latin typeface="Arial"/>
                          <a:ea typeface="Arial"/>
                          <a:cs typeface="Arial"/>
                        </a:rPr>
                        <a:t>Rigidez</a:t>
                      </a:r>
                    </a:p>
                  </a:txBody>
                  <a:tcPr marL="91440" marR="91440" marT="45720" marB="45720" anchor="ctr">
                    <a:solidFill>
                      <a:srgbClr val="EEEEEE"/>
                    </a:solidFill>
                  </a:tcPr>
                </a:tc>
                <a:tc>
                  <a:txBody>
                    <a:bodyPr>
                      <a:noAutofit/>
                    </a:bodyPr>
                    <a:lstStyle/>
                    <a:p>
                      <a:r>
                        <a:rPr sz="2025" b="1">
                          <a:solidFill>
                            <a:srgbClr val="151515"/>
                          </a:solidFill>
                          <a:latin typeface="Arial"/>
                          <a:ea typeface="Arial"/>
                          <a:cs typeface="Arial"/>
                        </a:rPr>
                        <a:t>Velocidad</a:t>
                      </a:r>
                    </a:p>
                  </a:txBody>
                  <a:tcPr marL="91440" marR="91440" marT="45720" marB="45720" anchor="ctr">
                    <a:solidFill>
                      <a:srgbClr val="EEEEEE"/>
                    </a:solidFill>
                  </a:tcPr>
                </a:tc>
              </a:tr>
              <a:tr h="579438">
                <a:tc>
                  <a:txBody>
                    <a:bodyPr>
                      <a:noAutofit/>
                    </a:bodyPr>
                    <a:lstStyle/>
                    <a:p>
                      <a:r>
                        <a:rPr sz="2025" b="0">
                          <a:solidFill>
                            <a:srgbClr val="151515"/>
                          </a:solidFill>
                          <a:latin typeface="Arial"/>
                          <a:ea typeface="Arial"/>
                          <a:cs typeface="Arial"/>
                        </a:rPr>
                        <a:t>3</a:t>
                      </a:r>
                    </a:p>
                  </a:txBody>
                  <a:tcPr marL="91440" marR="91440" marT="45720" marB="45720" anchor="ctr">
                    <a:solidFill>
                      <a:srgbClr val="FFFFFF"/>
                    </a:solidFill>
                  </a:tcPr>
                </a:tc>
                <a:tc>
                  <a:txBody>
                    <a:bodyPr>
                      <a:noAutofit/>
                    </a:bodyPr>
                    <a:lstStyle/>
                    <a:p>
                      <a:r>
                        <a:rPr sz="2025" b="0">
                          <a:solidFill>
                            <a:srgbClr val="151515"/>
                          </a:solidFill>
                          <a:latin typeface="Arial"/>
                          <a:ea typeface="Arial"/>
                          <a:cs typeface="Arial"/>
                        </a:rPr>
                        <a:t>-0.561 / -0.562</a:t>
                      </a:r>
                    </a:p>
                  </a:txBody>
                  <a:tcPr marL="91440" marR="91440" marT="45720" marB="45720" anchor="ctr">
                    <a:solidFill>
                      <a:srgbClr val="FFFFFF"/>
                    </a:solidFill>
                  </a:tcPr>
                </a:tc>
                <a:tc>
                  <a:txBody>
                    <a:bodyPr>
                      <a:noAutofit/>
                    </a:bodyPr>
                    <a:lstStyle/>
                    <a:p>
                      <a:r>
                        <a:rPr sz="2025" b="0">
                          <a:solidFill>
                            <a:srgbClr val="151515"/>
                          </a:solidFill>
                          <a:latin typeface="Arial"/>
                          <a:ea typeface="Arial"/>
                          <a:cs typeface="Arial"/>
                        </a:rPr>
                        <a:t>0.385 / 0.388</a:t>
                      </a:r>
                    </a:p>
                  </a:txBody>
                  <a:tcPr marL="91440" marR="91440" marT="45720" marB="45720" anchor="ctr">
                    <a:solidFill>
                      <a:srgbClr val="FFFFFF"/>
                    </a:solidFill>
                  </a:tcPr>
                </a:tc>
                <a:tc>
                  <a:txBody>
                    <a:bodyPr>
                      <a:noAutofit/>
                    </a:bodyPr>
                    <a:lstStyle/>
                    <a:p>
                      <a:r>
                        <a:rPr sz="2025" b="0">
                          <a:solidFill>
                            <a:srgbClr val="151515"/>
                          </a:solidFill>
                          <a:latin typeface="Arial"/>
                          <a:ea typeface="Arial"/>
                          <a:cs typeface="Arial"/>
                        </a:rPr>
                        <a:t>-0.298 / -0.305</a:t>
                      </a:r>
                    </a:p>
                  </a:txBody>
                  <a:tcPr marL="91440" marR="91440" marT="45720" marB="45720" anchor="ctr">
                    <a:solidFill>
                      <a:srgbClr val="FFFFFF"/>
                    </a:solidFill>
                  </a:tcPr>
                </a:tc>
              </a:tr>
              <a:tr h="579438">
                <a:tc>
                  <a:txBody>
                    <a:bodyPr>
                      <a:noAutofit/>
                    </a:bodyPr>
                    <a:lstStyle/>
                    <a:p>
                      <a:r>
                        <a:rPr sz="2025" b="0">
                          <a:solidFill>
                            <a:srgbClr val="151515"/>
                          </a:solidFill>
                          <a:latin typeface="Arial"/>
                          <a:ea typeface="Arial"/>
                          <a:cs typeface="Arial"/>
                        </a:rPr>
                        <a:t>4+5</a:t>
                      </a:r>
                    </a:p>
                  </a:txBody>
                  <a:tcPr marL="91440" marR="91440" marT="45720" marB="45720" anchor="ctr">
                    <a:solidFill>
                      <a:srgbClr val="FFFFFF"/>
                    </a:solidFill>
                  </a:tcPr>
                </a:tc>
                <a:tc>
                  <a:txBody>
                    <a:bodyPr>
                      <a:noAutofit/>
                    </a:bodyPr>
                    <a:lstStyle/>
                    <a:p>
                      <a:r>
                        <a:rPr sz="2025" b="0">
                          <a:solidFill>
                            <a:srgbClr val="151515"/>
                          </a:solidFill>
                          <a:latin typeface="Arial"/>
                          <a:ea typeface="Arial"/>
                          <a:cs typeface="Arial"/>
                        </a:rPr>
                        <a:t>-0.567 / -0.561</a:t>
                      </a:r>
                    </a:p>
                  </a:txBody>
                  <a:tcPr marL="91440" marR="91440" marT="45720" marB="45720" anchor="ctr">
                    <a:solidFill>
                      <a:srgbClr val="FFFFFF"/>
                    </a:solidFill>
                  </a:tcPr>
                </a:tc>
                <a:tc>
                  <a:txBody>
                    <a:bodyPr>
                      <a:noAutofit/>
                    </a:bodyPr>
                    <a:lstStyle/>
                    <a:p>
                      <a:r>
                        <a:rPr sz="2025" b="0">
                          <a:solidFill>
                            <a:srgbClr val="151515"/>
                          </a:solidFill>
                          <a:latin typeface="Arial"/>
                          <a:ea typeface="Arial"/>
                          <a:cs typeface="Arial"/>
                        </a:rPr>
                        <a:t>0.394 / 0.394</a:t>
                      </a:r>
                    </a:p>
                  </a:txBody>
                  <a:tcPr marL="91440" marR="91440" marT="45720" marB="45720" anchor="ctr">
                    <a:solidFill>
                      <a:srgbClr val="FFFFFF"/>
                    </a:solidFill>
                  </a:tcPr>
                </a:tc>
                <a:tc>
                  <a:txBody>
                    <a:bodyPr>
                      <a:noAutofit/>
                    </a:bodyPr>
                    <a:lstStyle/>
                    <a:p>
                      <a:r>
                        <a:rPr sz="2025" b="0">
                          <a:solidFill>
                            <a:srgbClr val="151515"/>
                          </a:solidFill>
                          <a:latin typeface="Arial"/>
                          <a:ea typeface="Arial"/>
                          <a:cs typeface="Arial"/>
                        </a:rPr>
                        <a:t>No resuelto / -0.174</a:t>
                      </a:r>
                    </a:p>
                  </a:txBody>
                  <a:tcPr marL="91440" marR="91440" marT="45720" marB="45720" anchor="ctr">
                    <a:solidFill>
                      <a:srgbClr val="FFFFFF"/>
                    </a:solidFill>
                  </a:tcPr>
                </a:tc>
              </a:tr>
              <a:tr h="579438">
                <a:tc>
                  <a:txBody>
                    <a:bodyPr>
                      <a:noAutofit/>
                    </a:bodyPr>
                    <a:lstStyle/>
                    <a:p>
                      <a:r>
                        <a:rPr sz="2025" b="0">
                          <a:solidFill>
                            <a:srgbClr val="151515"/>
                          </a:solidFill>
                          <a:latin typeface="Arial"/>
                          <a:ea typeface="Arial"/>
                          <a:cs typeface="Arial"/>
                        </a:rPr>
                        <a:t>6+7</a:t>
                      </a:r>
                    </a:p>
                  </a:txBody>
                  <a:tcPr marL="91440" marR="91440" marT="45720" marB="45720" anchor="ctr">
                    <a:solidFill>
                      <a:srgbClr val="FFFFFF"/>
                    </a:solidFill>
                  </a:tcPr>
                </a:tc>
                <a:tc>
                  <a:txBody>
                    <a:bodyPr>
                      <a:noAutofit/>
                    </a:bodyPr>
                    <a:lstStyle/>
                    <a:p>
                      <a:r>
                        <a:rPr sz="2025" b="0">
                          <a:solidFill>
                            <a:srgbClr val="151515"/>
                          </a:solidFill>
                          <a:latin typeface="Arial"/>
                          <a:ea typeface="Arial"/>
                          <a:cs typeface="Arial"/>
                        </a:rPr>
                        <a:t>-0.308 / -0.307</a:t>
                      </a:r>
                    </a:p>
                  </a:txBody>
                  <a:tcPr marL="91440" marR="91440" marT="45720" marB="45720" anchor="ctr">
                    <a:solidFill>
                      <a:srgbClr val="FFFFFF"/>
                    </a:solidFill>
                  </a:tcPr>
                </a:tc>
                <a:tc>
                  <a:txBody>
                    <a:bodyPr>
                      <a:noAutofit/>
                    </a:bodyPr>
                    <a:lstStyle/>
                    <a:p>
                      <a:r>
                        <a:rPr sz="2025" b="0">
                          <a:solidFill>
                            <a:srgbClr val="151515"/>
                          </a:solidFill>
                          <a:latin typeface="Arial"/>
                          <a:ea typeface="Arial"/>
                          <a:cs typeface="Arial"/>
                        </a:rPr>
                        <a:t>0.243 / 0.244</a:t>
                      </a:r>
                    </a:p>
                  </a:txBody>
                  <a:tcPr marL="91440" marR="91440" marT="45720" marB="45720" anchor="ctr">
                    <a:solidFill>
                      <a:srgbClr val="FFFFFF"/>
                    </a:solidFill>
                  </a:tcPr>
                </a:tc>
                <a:tc>
                  <a:txBody>
                    <a:bodyPr>
                      <a:noAutofit/>
                    </a:bodyPr>
                    <a:lstStyle/>
                    <a:p>
                      <a:r>
                        <a:rPr sz="2025" b="0">
                          <a:solidFill>
                            <a:srgbClr val="151515"/>
                          </a:solidFill>
                          <a:latin typeface="Arial"/>
                          <a:ea typeface="Arial"/>
                          <a:cs typeface="Arial"/>
                        </a:rPr>
                        <a:t>0.346 / 0.344</a:t>
                      </a:r>
                    </a:p>
                  </a:txBody>
                  <a:tcPr marL="91440" marR="91440" marT="45720" marB="45720" anchor="ctr">
                    <a:solidFill>
                      <a:srgbClr val="FFFFFF"/>
                    </a:solidFill>
                  </a:tcPr>
                </a:tc>
              </a:tr>
              <a:tr h="579438">
                <a:tc>
                  <a:txBody>
                    <a:bodyPr>
                      <a:noAutofit/>
                    </a:bodyPr>
                    <a:lstStyle/>
                    <a:p>
                      <a:r>
                        <a:rPr sz="2025" b="0">
                          <a:solidFill>
                            <a:srgbClr val="151515"/>
                          </a:solidFill>
                          <a:latin typeface="Arial"/>
                          <a:ea typeface="Arial"/>
                          <a:cs typeface="Arial"/>
                        </a:rPr>
                        <a:t>8+9</a:t>
                      </a:r>
                    </a:p>
                  </a:txBody>
                  <a:tcPr marL="91440" marR="91440" marT="45720" marB="45720" anchor="ctr">
                    <a:solidFill>
                      <a:srgbClr val="FFFFFF"/>
                    </a:solidFill>
                  </a:tcPr>
                </a:tc>
                <a:tc>
                  <a:txBody>
                    <a:bodyPr>
                      <a:noAutofit/>
                    </a:bodyPr>
                    <a:lstStyle/>
                    <a:p>
                      <a:r>
                        <a:rPr sz="2025" b="0">
                          <a:solidFill>
                            <a:srgbClr val="151515"/>
                          </a:solidFill>
                          <a:latin typeface="Arial"/>
                          <a:ea typeface="Arial"/>
                          <a:cs typeface="Arial"/>
                        </a:rPr>
                        <a:t>-0.427 / -0.424</a:t>
                      </a:r>
                    </a:p>
                  </a:txBody>
                  <a:tcPr marL="91440" marR="91440" marT="45720" marB="45720" anchor="ctr">
                    <a:solidFill>
                      <a:srgbClr val="FFFFFF"/>
                    </a:solidFill>
                  </a:tcPr>
                </a:tc>
                <a:tc>
                  <a:txBody>
                    <a:bodyPr>
                      <a:noAutofit/>
                    </a:bodyPr>
                    <a:lstStyle/>
                    <a:p>
                      <a:r>
                        <a:rPr sz="2025" b="0">
                          <a:solidFill>
                            <a:srgbClr val="151515"/>
                          </a:solidFill>
                          <a:latin typeface="Arial"/>
                          <a:ea typeface="Arial"/>
                          <a:cs typeface="Arial"/>
                        </a:rPr>
                        <a:t>0.365 / 0.364</a:t>
                      </a:r>
                    </a:p>
                  </a:txBody>
                  <a:tcPr marL="91440" marR="91440" marT="45720" marB="45720" anchor="ctr">
                    <a:solidFill>
                      <a:srgbClr val="FFFFFF"/>
                    </a:solidFill>
                  </a:tcPr>
                </a:tc>
                <a:tc>
                  <a:txBody>
                    <a:bodyPr>
                      <a:noAutofit/>
                    </a:bodyPr>
                    <a:lstStyle/>
                    <a:p>
                      <a:r>
                        <a:rPr sz="2025" b="0">
                          <a:solidFill>
                            <a:srgbClr val="151515"/>
                          </a:solidFill>
                          <a:latin typeface="Arial"/>
                          <a:ea typeface="Arial"/>
                          <a:cs typeface="Arial"/>
                        </a:rPr>
                        <a:t>0.115 / 0.113</a:t>
                      </a:r>
                    </a:p>
                  </a:txBody>
                  <a:tcPr marL="91440" marR="91440" marT="45720" marB="45720" anchor="ctr">
                    <a:solidFill>
                      <a:srgbClr val="FFFFFF"/>
                    </a:solidFill>
                  </a:tcPr>
                </a:tc>
              </a:tr>
              <a:tr h="579438">
                <a:tc>
                  <a:txBody>
                    <a:bodyPr>
                      <a:noAutofit/>
                    </a:bodyPr>
                    <a:lstStyle/>
                    <a:p>
                      <a:r>
                        <a:rPr sz="2025" b="0">
                          <a:solidFill>
                            <a:srgbClr val="151515"/>
                          </a:solidFill>
                          <a:latin typeface="Arial"/>
                          <a:ea typeface="Arial"/>
                          <a:cs typeface="Arial"/>
                        </a:rPr>
                        <a:t>10+11</a:t>
                      </a:r>
                    </a:p>
                  </a:txBody>
                  <a:tcPr marL="91440" marR="91440" marT="45720" marB="45720" anchor="ctr">
                    <a:solidFill>
                      <a:srgbClr val="FFFFFF"/>
                    </a:solidFill>
                  </a:tcPr>
                </a:tc>
                <a:tc>
                  <a:txBody>
                    <a:bodyPr>
                      <a:noAutofit/>
                    </a:bodyPr>
                    <a:lstStyle/>
                    <a:p>
                      <a:r>
                        <a:rPr sz="2025" b="0">
                          <a:solidFill>
                            <a:srgbClr val="151515"/>
                          </a:solidFill>
                          <a:latin typeface="Arial"/>
                          <a:ea typeface="Arial"/>
                          <a:cs typeface="Arial"/>
                        </a:rPr>
                        <a:t>-0.383 / -0.380</a:t>
                      </a:r>
                    </a:p>
                  </a:txBody>
                  <a:tcPr marL="91440" marR="91440" marT="45720" marB="45720" anchor="ctr">
                    <a:solidFill>
                      <a:srgbClr val="FFFFFF"/>
                    </a:solidFill>
                  </a:tcPr>
                </a:tc>
                <a:tc>
                  <a:txBody>
                    <a:bodyPr>
                      <a:noAutofit/>
                    </a:bodyPr>
                    <a:lstStyle/>
                    <a:p>
                      <a:r>
                        <a:rPr sz="2025" b="0">
                          <a:solidFill>
                            <a:srgbClr val="151515"/>
                          </a:solidFill>
                          <a:latin typeface="Arial"/>
                          <a:ea typeface="Arial"/>
                          <a:cs typeface="Arial"/>
                        </a:rPr>
                        <a:t>0.359 / 0.359</a:t>
                      </a:r>
                    </a:p>
                  </a:txBody>
                  <a:tcPr marL="91440" marR="91440" marT="45720" marB="45720" anchor="ctr">
                    <a:solidFill>
                      <a:srgbClr val="FFFFFF"/>
                    </a:solidFill>
                  </a:tcPr>
                </a:tc>
                <a:tc>
                  <a:txBody>
                    <a:bodyPr>
                      <a:noAutofit/>
                    </a:bodyPr>
                    <a:lstStyle/>
                    <a:p>
                      <a:r>
                        <a:rPr sz="2025" b="0">
                          <a:solidFill>
                            <a:srgbClr val="151515"/>
                          </a:solidFill>
                          <a:latin typeface="Arial"/>
                          <a:ea typeface="Arial"/>
                          <a:cs typeface="Arial"/>
                        </a:rPr>
                        <a:t>0.184 / 0.182</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B02C04ED-6963-4132-A92D-4226E0539B9B}"/>
              </a:ext>
            </a:extLst>
          </p:cNvPr>
          <p:cNvSpPr>
            <a:spLocks xmlns:a="http://schemas.openxmlformats.org/drawingml/2006/main" noGrp="1"/>
          </p:cNvSpPr>
          <p:nvPr/>
        </p:nvSpPr>
        <p:spPr>
          <a:xfrm xmlns:a="http://schemas.openxmlformats.org/drawingml/2006/main">
            <a:off x="647700" y="56197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444444"/>
                </a:solidFill>
                <a:latin typeface="Arial"/>
                <a:ea typeface="Arial"/>
                <a:cs typeface="Arial"/>
              </a:defRPr>
            </a:defPPr>
          </a:lstStyle>
          <a:p xmlns:a="http://schemas.openxmlformats.org/drawingml/2006/main">
            <a:pPr>
              <a:lnSpc>
                <a:spcPct val="112000"/>
              </a:lnSpc>
              <a:buNone/>
              <a:defRPr sz="1800" b="0">
                <a:solidFill>
                  <a:srgbClr val="444444"/>
                </a:solidFill>
                <a:latin typeface="Arial"/>
                <a:ea typeface="Arial"/>
                <a:cs typeface="Arial"/>
              </a:defRPr>
            </a:pPr>
            <a:r>
              <a:rPr sz="1800" b="0">
                <a:solidFill>
                  <a:srgbClr val="444444"/>
                </a:solidFill>
                <a:latin typeface="Arial"/>
                <a:ea typeface="Arial"/>
                <a:cs typeface="Arial"/>
              </a:rPr>
              <a:t>Cada celda: Morris / secante de extremos. El grupo 4+5 conserva su reserva</a:t>
            </a:r>
          </a:p>
        </p:txBody>
      </p:sp>
    </p:spTree>
    <p:extLst>
      <p:ext uri="{BB962C8B-B14F-4D97-AF65-F5344CB8AC3E}">
        <p14:creationId xmlns:p14="http://schemas.microsoft.com/office/powerpoint/2010/main" val="13168225"/>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79A4ED9-EAF2-4B92-B117-A59E1951D865}"/>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Referencias y datos reproducibles</a:t>
            </a:r>
          </a:p>
        </p:txBody>
      </p:sp>
      <p:sp>
        <p:nvSpPr>
          <p:cNvPr id="2" name="">
            <a:extLst xmlns:a="http://schemas.openxmlformats.org/drawingml/2006/main">
              <a:ext uri="{FF2B5EF4-FFF2-40B4-BE49-F238E27FC236}">
                <a16:creationId xmlns:a16="http://schemas.microsoft.com/office/drawing/2014/main" id="{FA9933DF-CE39-4EE8-A177-004E4C197814}"/>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25</a:t>
            </a:r>
          </a:p>
        </p:txBody>
      </p:sp>
      <p:sp>
        <p:nvSpPr>
          <p:cNvPr id="3" name="">
            <a:extLst xmlns:a="http://schemas.openxmlformats.org/drawingml/2006/main">
              <a:ext uri="{FF2B5EF4-FFF2-40B4-BE49-F238E27FC236}">
                <a16:creationId xmlns:a16="http://schemas.microsoft.com/office/drawing/2014/main" id="{5A81A279-9050-43D0-966D-C15372326BD1}"/>
              </a:ext>
            </a:extLst>
          </p:cNvPr>
          <p:cNvSpPr>
            <a:spLocks xmlns:a="http://schemas.openxmlformats.org/drawingml/2006/main" noGrp="1"/>
          </p:cNvSpPr>
          <p:nvPr/>
        </p:nvSpPr>
        <p:spPr>
          <a:xfrm xmlns:a="http://schemas.openxmlformats.org/drawingml/2006/main">
            <a:off x="685800" y="1485900"/>
            <a:ext cx="105727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0">
                <a:solidFill>
                  <a:srgbClr val="151515"/>
                </a:solidFill>
                <a:latin typeface="Arial"/>
                <a:ea typeface="Arial"/>
                <a:cs typeface="Arial"/>
              </a:defRPr>
            </a:defPPr>
          </a:lstStyle>
          <a:p xmlns:a="http://schemas.openxmlformats.org/drawingml/2006/main">
            <a:pPr>
              <a:lnSpc>
                <a:spcPct val="112000"/>
              </a:lnSpc>
              <a:buNone/>
              <a:defRPr sz="2325" b="0">
                <a:solidFill>
                  <a:srgbClr val="151515"/>
                </a:solidFill>
                <a:latin typeface="Arial"/>
                <a:ea typeface="Arial"/>
                <a:cs typeface="Arial"/>
              </a:defRPr>
            </a:pPr>
            <a:r>
              <a:rPr sz="2325" b="0">
                <a:solidFill>
                  <a:srgbClr val="151515"/>
                </a:solidFill>
                <a:latin typeface="Arial"/>
                <a:ea typeface="Arial"/>
                <a:cs typeface="Arial"/>
              </a:rPr>
              <a:t>Morris (1991)</a:t>
            </a:r>
          </a:p>
          <a:p xmlns:a="http://schemas.openxmlformats.org/drawingml/2006/main">
            <a:pPr>
              <a:lnSpc>
                <a:spcPct val="112000"/>
              </a:lnSpc>
              <a:buNone/>
              <a:defRPr sz="2325" b="0">
                <a:solidFill>
                  <a:srgbClr val="151515"/>
                </a:solidFill>
                <a:latin typeface="Arial"/>
                <a:ea typeface="Arial"/>
                <a:cs typeface="Arial"/>
              </a:defRPr>
            </a:pPr>
            <a:r>
              <a:rPr sz="2325" b="0">
                <a:solidFill>
                  <a:srgbClr val="151515"/>
                </a:solidFill>
                <a:latin typeface="Arial"/>
                <a:ea typeface="Arial"/>
                <a:cs typeface="Arial"/>
              </a:rPr>
              <a:t>Factorial Sampling Plans for Preliminary Computational Experiments</a:t>
            </a:r>
          </a:p>
        </p:txBody>
      </p:sp>
      <p:sp>
        <p:nvSpPr>
          <p:cNvPr id="4" name="">
            <a:extLst xmlns:a="http://schemas.openxmlformats.org/drawingml/2006/main">
              <a:ext uri="{FF2B5EF4-FFF2-40B4-BE49-F238E27FC236}">
                <a16:creationId xmlns:a16="http://schemas.microsoft.com/office/drawing/2014/main" id="{C60BE9F0-AED1-48BE-92BC-7DB2716F83DD}"/>
              </a:ext>
            </a:extLst>
          </p:cNvPr>
          <p:cNvSpPr>
            <a:spLocks xmlns:a="http://schemas.openxmlformats.org/drawingml/2006/main" noGrp="1"/>
          </p:cNvSpPr>
          <p:nvPr/>
        </p:nvSpPr>
        <p:spPr>
          <a:xfrm xmlns:a="http://schemas.openxmlformats.org/drawingml/2006/main">
            <a:off x="685800" y="2924175"/>
            <a:ext cx="105727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0">
                <a:solidFill>
                  <a:srgbClr val="151515"/>
                </a:solidFill>
                <a:latin typeface="Arial"/>
                <a:ea typeface="Arial"/>
                <a:cs typeface="Arial"/>
              </a:defRPr>
            </a:defPPr>
          </a:lstStyle>
          <a:p xmlns:a="http://schemas.openxmlformats.org/drawingml/2006/main">
            <a:pPr>
              <a:lnSpc>
                <a:spcPct val="112000"/>
              </a:lnSpc>
              <a:buNone/>
              <a:defRPr sz="2325" b="0">
                <a:solidFill>
                  <a:srgbClr val="151515"/>
                </a:solidFill>
                <a:latin typeface="Arial"/>
                <a:ea typeface="Arial"/>
                <a:cs typeface="Arial"/>
              </a:defRPr>
            </a:pPr>
            <a:r>
              <a:rPr sz="2325" b="0">
                <a:solidFill>
                  <a:srgbClr val="151515"/>
                </a:solidFill>
                <a:latin typeface="Arial"/>
                <a:ea typeface="Arial"/>
                <a:cs typeface="Arial"/>
              </a:rPr>
              <a:t>Campolongo, Cariboni y Saltelli (2007)</a:t>
            </a:r>
          </a:p>
          <a:p xmlns:a="http://schemas.openxmlformats.org/drawingml/2006/main">
            <a:pPr>
              <a:lnSpc>
                <a:spcPct val="112000"/>
              </a:lnSpc>
              <a:buNone/>
              <a:defRPr sz="2325" b="0">
                <a:solidFill>
                  <a:srgbClr val="151515"/>
                </a:solidFill>
                <a:latin typeface="Arial"/>
                <a:ea typeface="Arial"/>
                <a:cs typeface="Arial"/>
              </a:defRPr>
            </a:pPr>
            <a:r>
              <a:rPr sz="2325" b="0">
                <a:solidFill>
                  <a:srgbClr val="151515"/>
                </a:solidFill>
                <a:latin typeface="Arial"/>
                <a:ea typeface="Arial"/>
                <a:cs typeface="Arial"/>
              </a:rPr>
              <a:t>An effective screening design for sensitivity analysis of large models</a:t>
            </a:r>
          </a:p>
        </p:txBody>
      </p:sp>
      <p:sp>
        <p:nvSpPr>
          <p:cNvPr id="5" name="">
            <a:extLst xmlns:a="http://schemas.openxmlformats.org/drawingml/2006/main">
              <a:ext uri="{FF2B5EF4-FFF2-40B4-BE49-F238E27FC236}">
                <a16:creationId xmlns:a16="http://schemas.microsoft.com/office/drawing/2014/main" id="{6C0D9315-079D-49F9-B47F-40918C37A12F}"/>
              </a:ext>
            </a:extLst>
          </p:cNvPr>
          <p:cNvSpPr>
            <a:spLocks xmlns:a="http://schemas.openxmlformats.org/drawingml/2006/main" noGrp="1"/>
          </p:cNvSpPr>
          <p:nvPr/>
        </p:nvSpPr>
        <p:spPr>
          <a:xfrm xmlns:a="http://schemas.openxmlformats.org/drawingml/2006/main">
            <a:off x="685800" y="4362450"/>
            <a:ext cx="105727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0">
                <a:solidFill>
                  <a:srgbClr val="151515"/>
                </a:solidFill>
                <a:latin typeface="Arial"/>
                <a:ea typeface="Arial"/>
                <a:cs typeface="Arial"/>
              </a:defRPr>
            </a:defPPr>
          </a:lstStyle>
          <a:p xmlns:a="http://schemas.openxmlformats.org/drawingml/2006/main">
            <a:pPr>
              <a:lnSpc>
                <a:spcPct val="112000"/>
              </a:lnSpc>
              <a:buNone/>
              <a:defRPr sz="2325" b="0">
                <a:solidFill>
                  <a:srgbClr val="151515"/>
                </a:solidFill>
                <a:latin typeface="Arial"/>
                <a:ea typeface="Arial"/>
                <a:cs typeface="Arial"/>
              </a:defRPr>
            </a:pPr>
            <a:r>
              <a:rPr sz="2325" b="0">
                <a:solidFill>
                  <a:srgbClr val="151515"/>
                </a:solidFill>
                <a:latin typeface="Arial"/>
                <a:ea typeface="Arial"/>
                <a:cs typeface="Arial"/>
              </a:rPr>
              <a:t>Datos, configuraciones y aceptación</a:t>
            </a:r>
          </a:p>
          <a:p xmlns:a="http://schemas.openxmlformats.org/drawingml/2006/main">
            <a:pPr>
              <a:lnSpc>
                <a:spcPct val="112000"/>
              </a:lnSpc>
              <a:buNone/>
              <a:defRPr sz="2325" b="0">
                <a:solidFill>
                  <a:srgbClr val="151515"/>
                </a:solidFill>
                <a:latin typeface="Arial"/>
                <a:ea typeface="Arial"/>
                <a:cs typeface="Arial"/>
              </a:defRPr>
            </a:pPr>
            <a:r>
              <a:rPr sz="2325" b="0">
                <a:solidFill>
                  <a:srgbClr val="151515"/>
                </a:solidFill>
                <a:latin typeface="Arial"/>
                <a:ea typeface="Arial"/>
                <a:cs typeface="Arial"/>
              </a:rPr>
              <a:t>Campañas local, Morris y rejilla complementaria del proyecto</a:t>
            </a:r>
          </a:p>
        </p:txBody>
      </p:sp>
    </p:spTree>
    <p:extLst>
      <p:ext uri="{BB962C8B-B14F-4D97-AF65-F5344CB8AC3E}">
        <p14:creationId xmlns:p14="http://schemas.microsoft.com/office/powerpoint/2010/main" val="91964137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2026-10-14T13:40:18.4050000Z</dcterms:created>
  <dcterms:modified xsi:type="dcterms:W3CDTF">2026-10-14T13:40:18.4050000Z</dcterms:modified>
</coreProperties>
</file>